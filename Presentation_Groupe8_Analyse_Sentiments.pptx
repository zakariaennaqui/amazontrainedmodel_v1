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handoutMasterIdLst>
    <p:handoutMasterId r:id="rId17"/>
  </p:handoutMasterIdLst>
  <p:sldIdLst>
    <p:sldId id="268" r:id="rId2"/>
    <p:sldId id="257" r:id="rId3"/>
    <p:sldId id="258" r:id="rId4"/>
    <p:sldId id="259" r:id="rId5"/>
    <p:sldId id="260" r:id="rId6"/>
    <p:sldId id="261" r:id="rId7"/>
    <p:sldId id="262" r:id="rId8"/>
    <p:sldId id="263" r:id="rId9"/>
    <p:sldId id="264" r:id="rId10"/>
    <p:sldId id="265" r:id="rId11"/>
    <p:sldId id="266" r:id="rId12"/>
    <p:sldId id="270" r:id="rId13"/>
    <p:sldId id="267"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680" autoAdjust="0"/>
  </p:normalViewPr>
  <p:slideViewPr>
    <p:cSldViewPr snapToGrid="0" snapToObjects="1">
      <p:cViewPr varScale="1">
        <p:scale>
          <a:sx n="101" d="100"/>
          <a:sy n="101" d="100"/>
        </p:scale>
        <p:origin x="922" y="58"/>
      </p:cViewPr>
      <p:guideLst/>
    </p:cSldViewPr>
  </p:slideViewPr>
  <p:notesTextViewPr>
    <p:cViewPr>
      <p:scale>
        <a:sx n="1" d="1"/>
        <a:sy n="1" d="1"/>
      </p:scale>
      <p:origin x="0" y="-581"/>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A1B35D-CB9C-B3C2-D209-02125AF7D8DA}"/>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8E9EE6-F99A-32DF-A07B-64C2B3F4872C}"/>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ECB20C27-FC9F-4DFA-843E-4A6D267B1F5B}" type="datetimeFigureOut">
              <a:rPr lang="en-US" smtClean="0"/>
              <a:t>5/11/2026</a:t>
            </a:fld>
            <a:endParaRPr lang="en-US"/>
          </a:p>
        </p:txBody>
      </p:sp>
      <p:sp>
        <p:nvSpPr>
          <p:cNvPr id="4" name="Footer Placeholder 3">
            <a:extLst>
              <a:ext uri="{FF2B5EF4-FFF2-40B4-BE49-F238E27FC236}">
                <a16:creationId xmlns:a16="http://schemas.microsoft.com/office/drawing/2014/main" id="{68CB89B0-2412-4C4E-E4C4-94BF76F7264B}"/>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E95B138-D8AD-F585-A14A-5422B659023F}"/>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FD11185F-2249-472C-80AD-A94C4E7EB96E}" type="slidenum">
              <a:rPr lang="en-US" smtClean="0"/>
              <a:t>‹#›</a:t>
            </a:fld>
            <a:endParaRPr lang="en-US"/>
          </a:p>
        </p:txBody>
      </p:sp>
    </p:spTree>
    <p:extLst>
      <p:ext uri="{BB962C8B-B14F-4D97-AF65-F5344CB8AC3E}">
        <p14:creationId xmlns:p14="http://schemas.microsoft.com/office/powerpoint/2010/main" val="44666576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698903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fr-FR" dirty="0"/>
              <a:t>Bonjour à tous.</a:t>
            </a:r>
          </a:p>
          <a:p>
            <a:endParaRPr lang="fr-FR" dirty="0"/>
          </a:p>
          <a:p>
            <a:r>
              <a:rPr lang="fr-FR" dirty="0"/>
              <a:t>Nous avons vous présenter notre projet de Data Mining intitulé : Analyse de sentiments des avis clients.</a:t>
            </a:r>
          </a:p>
          <a:p>
            <a:endParaRPr lang="fr-FR" dirty="0"/>
          </a:p>
          <a:p>
            <a:r>
              <a:rPr lang="fr-FR" dirty="0"/>
              <a:t>Ce projet a été réalisé dans le cadre du module Fouille de données, encadré par Madame le Professeur Wijdane Kaiss. Je suis Abderrahmane Khbabez, et avec moi Riad Sabti, Abderrahmane Chiguer et Zakaria Ennaqui.</a:t>
            </a:r>
          </a:p>
          <a:p>
            <a:endParaRPr lang="fr-FR" dirty="0"/>
          </a:p>
          <a:p>
            <a:r>
              <a:rPr lang="fr-FR" dirty="0" err="1"/>
              <a:t>commenceons</a:t>
            </a:r>
            <a:r>
              <a:rPr lang="fr-FR" dirty="0"/>
              <a:t> par vous présenter le plan de notre exposé.</a:t>
            </a:r>
          </a:p>
        </p:txBody>
      </p:sp>
    </p:spTree>
    <p:extLst>
      <p:ext uri="{BB962C8B-B14F-4D97-AF65-F5344CB8AC3E}">
        <p14:creationId xmlns:p14="http://schemas.microsoft.com/office/powerpoint/2010/main" val="874125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Notre présentation suit le processus classique du Data Mining en sept étapes.</a:t>
            </a:r>
          </a:p>
          <a:p>
            <a:endParaRPr lang="fr-FR" dirty="0"/>
          </a:p>
          <a:p>
            <a:r>
              <a:rPr lang="fr-FR" dirty="0"/>
              <a:t>Nous commencerons par la compréhension du problème, puis la collecte des données. Ensuite, Abderrahmane Chiguer vous présentera le prétraitement et l'exploration des données. *...* abordera la modélisation. Et enfin, *...* présentera les résultats et la conclusion.</a:t>
            </a:r>
          </a:p>
          <a:p>
            <a:endParaRPr lang="fr-FR" dirty="0"/>
          </a:p>
          <a:p>
            <a:r>
              <a:rPr lang="fr-FR" dirty="0"/>
              <a:t>Passons maintenant à la première étape.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Aujourd'hui, les entreprises reçoivent des millions d'avis clients chaque jour — sur Amazon, </a:t>
            </a:r>
            <a:r>
              <a:rPr lang="fr-FR" dirty="0" err="1"/>
              <a:t>Booking</a:t>
            </a:r>
            <a:r>
              <a:rPr lang="fr-FR" dirty="0"/>
              <a:t>, Google </a:t>
            </a:r>
            <a:r>
              <a:rPr lang="fr-FR" dirty="0" err="1"/>
              <a:t>Maps</a:t>
            </a:r>
            <a:r>
              <a:rPr lang="fr-FR" dirty="0"/>
              <a:t> — et il est humainement impossible de les lire tous.</a:t>
            </a:r>
          </a:p>
          <a:p>
            <a:endParaRPr lang="fr-FR" dirty="0"/>
          </a:p>
          <a:p>
            <a:r>
              <a:rPr lang="fr-FR" dirty="0"/>
              <a:t>Notre objectif est d'automatiser cette analyse : à partir du texte d'un avis, notre système doit déterminer si ce dernier est positif ou négatif.</a:t>
            </a:r>
          </a:p>
          <a:p>
            <a:endParaRPr lang="fr-FR" dirty="0"/>
          </a:p>
          <a:p>
            <a:r>
              <a:rPr lang="fr-FR" dirty="0"/>
              <a:t>Il s'agit donc d'une tâche de classification binaire supervisée, qui s'inscrit parfaitement dans le cadre du Data Mining. Le modèle ne comprend pas le texte comme un humain — il apprend des patterns statistiques à partir d'exemples labellisés, et prédit ensuite la classe d'un nouvel avis.</a:t>
            </a:r>
          </a:p>
          <a:p>
            <a:endParaRPr lang="fr-FR" dirty="0"/>
          </a:p>
          <a:p>
            <a:r>
              <a:rPr lang="fr-FR" dirty="0"/>
              <a:t>Les applications sont nombreuses : e-commerce, hôtellerie, restauration, marketing... Toute entreprise qui reçoit des retours clients peut bénéficier de cette technologie.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ce projet, nous avons utilisé le </a:t>
            </a:r>
            <a:r>
              <a:rPr lang="fr-FR" dirty="0" err="1"/>
              <a:t>dataset</a:t>
            </a:r>
            <a:r>
              <a:rPr lang="fr-FR" dirty="0"/>
              <a:t> Amazon </a:t>
            </a:r>
            <a:r>
              <a:rPr lang="fr-FR" dirty="0" err="1"/>
              <a:t>Reviews</a:t>
            </a:r>
            <a:r>
              <a:rPr lang="fr-FR" dirty="0"/>
              <a:t>, disponible sur la plateforme </a:t>
            </a:r>
            <a:r>
              <a:rPr lang="fr-FR" dirty="0" err="1"/>
              <a:t>Kaggle</a:t>
            </a:r>
            <a:r>
              <a:rPr lang="fr-FR" dirty="0"/>
              <a:t>.</a:t>
            </a:r>
          </a:p>
          <a:p>
            <a:endParaRPr lang="fr-FR" dirty="0"/>
          </a:p>
          <a:p>
            <a:r>
              <a:rPr lang="fr-FR" dirty="0"/>
              <a:t>Ce </a:t>
            </a:r>
            <a:r>
              <a:rPr lang="fr-FR" dirty="0" err="1"/>
              <a:t>dataset</a:t>
            </a:r>
            <a:r>
              <a:rPr lang="fr-FR" dirty="0"/>
              <a:t> contient 3 600 000 avis d'entraînement et 400 000 avis de test, soit 4 millions d'avis au total. Chaque avis est accompagné de son étiquette : 0 pour négatif, 1 pour positif.</a:t>
            </a:r>
          </a:p>
          <a:p>
            <a:endParaRPr lang="fr-FR" dirty="0"/>
          </a:p>
          <a:p>
            <a:r>
              <a:rPr lang="fr-FR" dirty="0"/>
              <a:t>Un point particulièrement favorable : le </a:t>
            </a:r>
            <a:r>
              <a:rPr lang="fr-FR" dirty="0" err="1"/>
              <a:t>dataset</a:t>
            </a:r>
            <a:r>
              <a:rPr lang="fr-FR" dirty="0"/>
              <a:t> est parfaitement équilibré — exactement 50% d'avis positifs et 50% d'avis négatifs. Cela signifie qu'on n'a pas besoin de recourir à des techniques de rééquilibrage comme le sur-échantillonnage.</a:t>
            </a:r>
          </a:p>
          <a:p>
            <a:endParaRPr lang="fr-FR" dirty="0"/>
          </a:p>
          <a:p>
            <a:r>
              <a:rPr lang="fr-FR" dirty="0"/>
              <a:t>Le format original des données est le format </a:t>
            </a:r>
            <a:r>
              <a:rPr lang="fr-FR" dirty="0" err="1"/>
              <a:t>FastText</a:t>
            </a:r>
            <a:r>
              <a:rPr lang="fr-FR" dirty="0"/>
              <a:t> compressé en .bz2. Chaque ligne commence par la balise __label__1 ou __label__2, suivie du texte de l'avis. Nous avons converti ce format en CSV classique pour faciliter le traitement sous Python.</a:t>
            </a:r>
          </a:p>
          <a:p>
            <a:endParaRPr lang="fr-FR" dirty="0"/>
          </a:p>
          <a:p>
            <a:r>
              <a:rPr lang="fr-FR" dirty="0"/>
              <a:t>Je laisse maintenant la parole à Abderrahmane Chiguer, qui vous expliquera comment nous avons préparé ces données.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Avant d'entraîner un modèle de Machine Learning sur du texte, il est indispensable de le nettoyer et le transformer. Un modèle ne peut pas traiter directement des chaînes de caractères — il a besoin de données numériques.</a:t>
            </a:r>
          </a:p>
          <a:p>
            <a:endParaRPr lang="fr-FR" dirty="0"/>
          </a:p>
          <a:p>
            <a:r>
              <a:rPr lang="fr-FR" dirty="0"/>
              <a:t>Notre pipeline de prétraitement se déroule en six étapes. D'abord, on convertit tout le texte en minuscules, pour que "Amazing" et "</a:t>
            </a:r>
            <a:r>
              <a:rPr lang="fr-FR" dirty="0" err="1"/>
              <a:t>amazing</a:t>
            </a:r>
            <a:r>
              <a:rPr lang="fr-FR" dirty="0"/>
              <a:t>" soient traités comme le même mot. Ensuite, on supprime la ponctuation — les virgules, points d'exclamation et autres symboles n'apportent pas d'information sémantique.</a:t>
            </a:r>
          </a:p>
          <a:p>
            <a:endParaRPr lang="fr-FR" dirty="0"/>
          </a:p>
          <a:p>
            <a:r>
              <a:rPr lang="fr-FR" dirty="0"/>
              <a:t>On procède ensuite à la tokenisation : on découpe chaque avis en une liste de mots individuels. Puis on retire les stop </a:t>
            </a:r>
            <a:r>
              <a:rPr lang="fr-FR" dirty="0" err="1"/>
              <a:t>words</a:t>
            </a:r>
            <a:r>
              <a:rPr lang="fr-FR" dirty="0"/>
              <a:t> — ce sont les mots très fréquents comme "the", "</a:t>
            </a:r>
            <a:r>
              <a:rPr lang="fr-FR" dirty="0" err="1"/>
              <a:t>is</a:t>
            </a:r>
            <a:r>
              <a:rPr lang="fr-FR" dirty="0"/>
              <a:t>", "a", "and" — qui n'ont aucune valeur discriminante pour la classification.</a:t>
            </a:r>
          </a:p>
          <a:p>
            <a:endParaRPr lang="fr-FR" dirty="0"/>
          </a:p>
          <a:p>
            <a:r>
              <a:rPr lang="fr-FR" dirty="0"/>
              <a:t>Enfin, on applique le </a:t>
            </a:r>
            <a:r>
              <a:rPr lang="fr-FR" dirty="0" err="1"/>
              <a:t>stemming</a:t>
            </a:r>
            <a:r>
              <a:rPr lang="fr-FR" dirty="0"/>
              <a:t> avec l'algorithme de Porter : il réduit chaque mot à sa racine. Par exemple, "running" devient "run", "</a:t>
            </a:r>
            <a:r>
              <a:rPr lang="fr-FR" dirty="0" err="1"/>
              <a:t>beautiful</a:t>
            </a:r>
            <a:r>
              <a:rPr lang="fr-FR" dirty="0"/>
              <a:t>" devient "</a:t>
            </a:r>
            <a:r>
              <a:rPr lang="fr-FR" dirty="0" err="1"/>
              <a:t>beauti</a:t>
            </a:r>
            <a:r>
              <a:rPr lang="fr-FR" dirty="0"/>
              <a:t>". Cela permet de regrouper les variantes d'un même mot.</a:t>
            </a:r>
          </a:p>
          <a:p>
            <a:endParaRPr lang="fr-FR" dirty="0"/>
          </a:p>
          <a:p>
            <a:r>
              <a:rPr lang="fr-FR" dirty="0"/>
              <a:t>Sur le slide, vous pouvez voir un exemple concret : l'avis "This </a:t>
            </a:r>
            <a:r>
              <a:rPr lang="fr-FR" dirty="0" err="1"/>
              <a:t>sound</a:t>
            </a:r>
            <a:r>
              <a:rPr lang="fr-FR" dirty="0"/>
              <a:t> </a:t>
            </a:r>
            <a:r>
              <a:rPr lang="fr-FR" dirty="0" err="1"/>
              <a:t>track</a:t>
            </a:r>
            <a:r>
              <a:rPr lang="fr-FR" dirty="0"/>
              <a:t> </a:t>
            </a:r>
            <a:r>
              <a:rPr lang="fr-FR" dirty="0" err="1"/>
              <a:t>was</a:t>
            </a:r>
            <a:r>
              <a:rPr lang="fr-FR" dirty="0"/>
              <a:t> </a:t>
            </a:r>
            <a:r>
              <a:rPr lang="fr-FR" dirty="0" err="1"/>
              <a:t>beautiful</a:t>
            </a:r>
            <a:r>
              <a:rPr lang="fr-FR" dirty="0"/>
              <a:t>!" se transforme en "</a:t>
            </a:r>
            <a:r>
              <a:rPr lang="fr-FR" dirty="0" err="1"/>
              <a:t>sound</a:t>
            </a:r>
            <a:r>
              <a:rPr lang="fr-FR" dirty="0"/>
              <a:t> </a:t>
            </a:r>
            <a:r>
              <a:rPr lang="fr-FR" dirty="0" err="1"/>
              <a:t>track</a:t>
            </a:r>
            <a:r>
              <a:rPr lang="fr-FR" dirty="0"/>
              <a:t> </a:t>
            </a:r>
            <a:r>
              <a:rPr lang="fr-FR" dirty="0" err="1"/>
              <a:t>beauti</a:t>
            </a:r>
            <a:r>
              <a:rPr lang="fr-FR" dirty="0"/>
              <a:t>".</a:t>
            </a:r>
          </a:p>
          <a:p>
            <a:endParaRPr lang="fr-FR" dirty="0"/>
          </a:p>
          <a:p>
            <a:r>
              <a:rPr lang="fr-FR" dirty="0"/>
              <a:t>Ce traitement a été appliqué sur l'intégralité des 3 600 000 avis d'entraînement. Cela a pris 70.9 minutes, et les données nettoyées ont été sauvegardées pour éviter de refaire ce calcul à chaque fois.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Une fois le texte nettoyé, il faut le convertir en vecteurs numériques. Pour cela, nous avons utilisé TF-IDF — </a:t>
            </a:r>
            <a:r>
              <a:rPr lang="fr-FR" dirty="0" err="1"/>
              <a:t>Term</a:t>
            </a:r>
            <a:r>
              <a:rPr lang="fr-FR" dirty="0"/>
              <a:t> Frequency – Inverse Document Frequency.</a:t>
            </a:r>
          </a:p>
          <a:p>
            <a:endParaRPr lang="fr-FR" dirty="0"/>
          </a:p>
          <a:p>
            <a:r>
              <a:rPr lang="fr-FR" dirty="0"/>
              <a:t>Le principe est le suivant : TF mesure à quelle fréquence un mot apparaît dans un document donné, et IDF pénalise les mots qui apparaissent dans trop de documents — car ils sont moins informatifs.</a:t>
            </a:r>
          </a:p>
          <a:p>
            <a:endParaRPr lang="fr-FR" dirty="0"/>
          </a:p>
          <a:p>
            <a:r>
              <a:rPr lang="fr-FR" dirty="0"/>
              <a:t>Nous avons configuré notre </a:t>
            </a:r>
            <a:r>
              <a:rPr lang="fr-FR" dirty="0" err="1"/>
              <a:t>vectoriseur</a:t>
            </a:r>
            <a:r>
              <a:rPr lang="fr-FR" dirty="0"/>
              <a:t> avec 50 000 </a:t>
            </a:r>
            <a:r>
              <a:rPr lang="fr-FR" dirty="0" err="1"/>
              <a:t>features</a:t>
            </a:r>
            <a:r>
              <a:rPr lang="fr-FR" dirty="0"/>
              <a:t>, en gardant les 50 000 mots les plus importants. On utilise uniquement les </a:t>
            </a:r>
            <a:r>
              <a:rPr lang="fr-FR" dirty="0" err="1"/>
              <a:t>unigrammes</a:t>
            </a:r>
            <a:r>
              <a:rPr lang="fr-FR" dirty="0"/>
              <a:t> — des mots individuels — et on exclut les mots trop rares ou trop fréquents.</a:t>
            </a:r>
          </a:p>
          <a:p>
            <a:endParaRPr lang="fr-FR" dirty="0"/>
          </a:p>
          <a:p>
            <a:r>
              <a:rPr lang="fr-FR" dirty="0"/>
              <a:t>Le résultat est une matrice de 3 600 000 lignes — une par avis — et 50 000 colonnes — une par mot. Cette matrice est très creuse, ce qui nous a permis de la stocker efficacement au format NPZ et de la réutiliser sans recalcul.</a:t>
            </a:r>
          </a:p>
          <a:p>
            <a:endParaRPr lang="fr-FR" dirty="0"/>
          </a:p>
          <a:p>
            <a:r>
              <a:rPr lang="fr-FR" dirty="0"/>
              <a:t>La vectorisation complète a pris seulement 2.4 minutes pour le fit, et 2 minutes supplémentaires pour la transformation, grâce à un traitement par lots.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Avant de passer à la modélisation, nous avons exploré les données pour mieux les comprendre.</a:t>
            </a:r>
          </a:p>
          <a:p>
            <a:endParaRPr lang="fr-FR" dirty="0"/>
          </a:p>
          <a:p>
            <a:r>
              <a:rPr lang="fr-FR" dirty="0"/>
              <a:t>Comme vous le voyez sur le graphique à gauche, le </a:t>
            </a:r>
            <a:r>
              <a:rPr lang="fr-FR" dirty="0" err="1"/>
              <a:t>dataset</a:t>
            </a:r>
            <a:r>
              <a:rPr lang="fr-FR" dirty="0"/>
              <a:t> est parfaitement équilibré : exactement 1 800 000 avis positifs et 1 800 000 avis négatifs. C'est idéal pour l'entraînement d'un classificateur.</a:t>
            </a:r>
          </a:p>
          <a:p>
            <a:endParaRPr lang="fr-FR" dirty="0"/>
          </a:p>
          <a:p>
            <a:r>
              <a:rPr lang="fr-FR" dirty="0"/>
              <a:t>Le graphique à droite montre la distribution de la longueur des avis. On observe que les avis négatifs ont une longueur moyenne légèrement supérieure : 447 caractères contre 416 pour les positifs. La médiane est de 383 caractères. Cela suggère que les utilisateurs insatisfaits ont tendance à écrire plus pour expliquer leur mécontentement.</a:t>
            </a:r>
          </a:p>
          <a:p>
            <a:endParaRPr lang="fr-FR" dirty="0"/>
          </a:p>
          <a:p>
            <a:r>
              <a:rPr lang="fr-FR" dirty="0"/>
              <a:t>Ces deux visualisations confirment que notre </a:t>
            </a:r>
            <a:r>
              <a:rPr lang="fr-FR" dirty="0" err="1"/>
              <a:t>dataset</a:t>
            </a:r>
            <a:r>
              <a:rPr lang="fr-FR" dirty="0"/>
              <a:t> est de bonne qualité et prêt pour l'entraînement des modèles. Je passe maintenant la parole à *...* pour la partie modélisation.</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la modélisation, nous avons comparé trois algorithmes de classification, tous adaptés au traitement de données textuelles.</a:t>
            </a:r>
          </a:p>
          <a:p>
            <a:endParaRPr lang="fr-FR" dirty="0"/>
          </a:p>
          <a:p>
            <a:r>
              <a:rPr lang="fr-FR" dirty="0"/>
              <a:t>Le premier est le Naïve Bayes. Il suppose que les mots sont conditionnellement indépendants entre eux, qui fonctionne en pratique sur des données textuelles. l'entraînement n'a pris que 12.7 secondes sur 3.6 millions d'avis.</a:t>
            </a:r>
          </a:p>
          <a:p>
            <a:endParaRPr lang="fr-FR" dirty="0"/>
          </a:p>
          <a:p>
            <a:r>
              <a:rPr lang="fr-FR" dirty="0"/>
              <a:t>Le deuxième est la Régression Logistique. Il estime la probabilité qu'un avis soit positif via une fonction appliquée à une combinaison linéaire des </a:t>
            </a:r>
            <a:r>
              <a:rPr lang="fr-FR" dirty="0" err="1"/>
              <a:t>features</a:t>
            </a:r>
            <a:r>
              <a:rPr lang="fr-FR" dirty="0"/>
              <a:t> TF-IDF. L'entraînement a pris 40.5 secondes.</a:t>
            </a:r>
          </a:p>
          <a:p>
            <a:endParaRPr lang="fr-FR" dirty="0"/>
          </a:p>
          <a:p>
            <a:r>
              <a:rPr lang="fr-FR" dirty="0"/>
              <a:t>Le troisième est l'Arbre de Décision. Il partitionne récursivement l'espace des </a:t>
            </a:r>
            <a:r>
              <a:rPr lang="fr-FR" dirty="0" err="1"/>
              <a:t>features</a:t>
            </a:r>
            <a:r>
              <a:rPr lang="fr-FR" dirty="0"/>
              <a:t> pour créer des règles de décision. Nous avons limité la profondeur à 10 niveaux pour éviter le sur-apprentissage. Il est le plus lent des trois — 774 secondes — en raison de la complexité de construction de l'arbre sur une grande quantité de données.</a:t>
            </a:r>
          </a:p>
          <a:p>
            <a:endParaRPr lang="fr-FR" dirty="0"/>
          </a:p>
          <a:p>
            <a:r>
              <a:rPr lang="fr-FR" dirty="0"/>
              <a:t>Ces trois modèles ont été entraînés sur la totalité des 3.6 millions d'avis, et évalués sur les 400 000 avis de test. Voyons maintenant leurs performances.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Le graphique en barres résume la comparaison des trois modèles sur quatre métriques : </a:t>
            </a:r>
            <a:r>
              <a:rPr lang="fr-FR" dirty="0" err="1"/>
              <a:t>Accuracy</a:t>
            </a:r>
            <a:r>
              <a:rPr lang="fr-FR" dirty="0"/>
              <a:t>, </a:t>
            </a:r>
            <a:r>
              <a:rPr lang="fr-FR" dirty="0" err="1"/>
              <a:t>Precision</a:t>
            </a:r>
            <a:r>
              <a:rPr lang="fr-FR" dirty="0"/>
              <a:t>, </a:t>
            </a:r>
            <a:r>
              <a:rPr lang="fr-FR" dirty="0" err="1"/>
              <a:t>Recall</a:t>
            </a:r>
            <a:r>
              <a:rPr lang="fr-FR" dirty="0"/>
              <a:t> et F1-Score.</a:t>
            </a:r>
          </a:p>
          <a:p>
            <a:endParaRPr lang="fr-FR" dirty="0"/>
          </a:p>
          <a:p>
            <a:r>
              <a:rPr lang="fr-FR" dirty="0"/>
              <a:t>Pour Naïve Bayes, on obtient une </a:t>
            </a:r>
            <a:r>
              <a:rPr lang="fr-FR" dirty="0" err="1"/>
              <a:t>accuracy</a:t>
            </a:r>
            <a:r>
              <a:rPr lang="fr-FR" dirty="0"/>
              <a:t> de 83.5% et un F1-Score de 83.4%. </a:t>
            </a:r>
          </a:p>
          <a:p>
            <a:r>
              <a:rPr lang="fr-FR" dirty="0"/>
              <a:t>L'Arbre de Décision affiche une </a:t>
            </a:r>
            <a:r>
              <a:rPr lang="fr-FR" dirty="0" err="1"/>
              <a:t>accuracy</a:t>
            </a:r>
            <a:r>
              <a:rPr lang="fr-FR" dirty="0"/>
              <a:t> de 73.3%, ce qui est le moins bon des trois. On voit sur la matrice de confusion un déséquilibre : le modèle reconnaît bien les négatifs, mais rate beaucoup de positifs. Cela traduit probablement un certain </a:t>
            </a:r>
            <a:r>
              <a:rPr lang="fr-FR" dirty="0" err="1"/>
              <a:t>overfitting</a:t>
            </a:r>
            <a:r>
              <a:rPr lang="fr-FR" dirty="0"/>
              <a:t> malgré la limitation de profondeur.</a:t>
            </a:r>
          </a:p>
          <a:p>
            <a:endParaRPr lang="fr-FR" dirty="0"/>
          </a:p>
          <a:p>
            <a:r>
              <a:rPr lang="fr-FR" dirty="0"/>
              <a:t>Enfin, la Régression Logistique se démarque avec une </a:t>
            </a:r>
            <a:r>
              <a:rPr lang="fr-FR" dirty="0" err="1"/>
              <a:t>accuracy</a:t>
            </a:r>
            <a:r>
              <a:rPr lang="fr-FR" dirty="0"/>
              <a:t> de 89.1% et un F1-Score de 89.1% également. Sa matrice de confusion montre un résultat très équilibré : 177 000 vrais négatifs et 179 000 vrais positifs, avec seulement 22 000 faux positifs et 21 000 faux négatifs.</a:t>
            </a:r>
          </a:p>
          <a:p>
            <a:endParaRPr lang="fr-FR" dirty="0"/>
          </a:p>
          <a:p>
            <a:r>
              <a:rPr lang="fr-FR" dirty="0"/>
              <a:t>en conclusion: la Régression Logistique est le meilleur modèle pour ce problème. Je laisse maintenant la parole à *...* pour la présentation des résultats et la conclusion.</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Explorons les performances du meilleur modèle : la Régression Logistique, entraînée sur 3 600 000 avis Amazon.</a:t>
            </a:r>
          </a:p>
          <a:p>
            <a:endParaRPr lang="fr-FR" dirty="0"/>
          </a:p>
          <a:p>
            <a:r>
              <a:rPr lang="fr-FR" dirty="0"/>
              <a:t>On obtient une </a:t>
            </a:r>
            <a:r>
              <a:rPr lang="fr-FR" dirty="0" err="1"/>
              <a:t>Accuracy</a:t>
            </a:r>
            <a:r>
              <a:rPr lang="fr-FR" dirty="0"/>
              <a:t> de 89.05%, ce qui signifie que le modèle classe correctement 9 avis sur 10. La </a:t>
            </a:r>
            <a:r>
              <a:rPr lang="fr-FR" dirty="0" err="1"/>
              <a:t>Precision</a:t>
            </a:r>
            <a:r>
              <a:rPr lang="fr-FR" dirty="0"/>
              <a:t> est de 88.71% — quand le modèle prédit "positif", il a raison dans presque 89% des cas. Le </a:t>
            </a:r>
            <a:r>
              <a:rPr lang="fr-FR" dirty="0" err="1"/>
              <a:t>Recall</a:t>
            </a:r>
            <a:r>
              <a:rPr lang="fr-FR" dirty="0"/>
              <a:t> est de 89.49% — le modèle détecte 89% des avis positifs réels. Le F1-Score, qui est la moyenne harmonique de ces deux métriques, est de 89.10%.</a:t>
            </a:r>
          </a:p>
          <a:p>
            <a:endParaRPr lang="fr-FR" dirty="0"/>
          </a:p>
          <a:p>
            <a:r>
              <a:rPr lang="fr-FR" dirty="0"/>
              <a:t>Ce qui est particulièrement intéressant, c'est que ces performances sont symétriques pour les deux classes — Négatif et Positif obtiennent tous deux 0.89 en précision, rappel et F1-Score. Cela confirme que le modèle ne favorise ni l'une ni l'autre classe, ce qui est essentiel pour une application équitable.</a:t>
            </a:r>
          </a:p>
          <a:p>
            <a:endParaRPr lang="fr-FR" dirty="0"/>
          </a:p>
          <a:p>
            <a:r>
              <a:rPr lang="fr-FR" dirty="0"/>
              <a:t>Sur les 400 000 avis de test, on compte 177 230 vrais négatifs et 178 987 vrais positifs, avec respectivement 22 770 faux positifs et 21 013 faux négatifs. Ces erreurs sont inévitables, surtout pour les avis nuancés ou ambigus.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valider concrètement notre modèle, nous l'avons testé sur des exemples réels.</a:t>
            </a:r>
          </a:p>
          <a:p>
            <a:endParaRPr lang="fr-FR" dirty="0"/>
          </a:p>
          <a:p>
            <a:r>
              <a:rPr lang="fr-FR" dirty="0"/>
              <a:t>Des avis clairement positifs comme "This </a:t>
            </a:r>
            <a:r>
              <a:rPr lang="fr-FR" dirty="0" err="1"/>
              <a:t>product</a:t>
            </a:r>
            <a:r>
              <a:rPr lang="fr-FR" dirty="0"/>
              <a:t> </a:t>
            </a:r>
            <a:r>
              <a:rPr lang="fr-FR" dirty="0" err="1"/>
              <a:t>is</a:t>
            </a:r>
            <a:r>
              <a:rPr lang="fr-FR" dirty="0"/>
              <a:t> </a:t>
            </a:r>
            <a:r>
              <a:rPr lang="fr-FR" dirty="0" err="1"/>
              <a:t>absolutely</a:t>
            </a:r>
            <a:r>
              <a:rPr lang="fr-FR" dirty="0"/>
              <a:t> </a:t>
            </a:r>
            <a:r>
              <a:rPr lang="fr-FR" dirty="0" err="1"/>
              <a:t>amazing</a:t>
            </a:r>
            <a:r>
              <a:rPr lang="fr-FR" dirty="0"/>
              <a:t>! Best </a:t>
            </a:r>
            <a:r>
              <a:rPr lang="fr-FR" dirty="0" err="1"/>
              <a:t>purchase</a:t>
            </a:r>
            <a:r>
              <a:rPr lang="fr-FR" dirty="0"/>
              <a:t> I </a:t>
            </a:r>
            <a:r>
              <a:rPr lang="fr-FR" dirty="0" err="1"/>
              <a:t>ever</a:t>
            </a:r>
            <a:r>
              <a:rPr lang="fr-FR" dirty="0"/>
              <a:t> made" sont classés POSITIF avec une confiance de 100%. De même, des avis clairement négatifs comme "Terrible </a:t>
            </a:r>
            <a:r>
              <a:rPr lang="fr-FR" dirty="0" err="1"/>
              <a:t>quality</a:t>
            </a:r>
            <a:r>
              <a:rPr lang="fr-FR" dirty="0"/>
              <a:t>, </a:t>
            </a:r>
            <a:r>
              <a:rPr lang="fr-FR" dirty="0" err="1"/>
              <a:t>broke</a:t>
            </a:r>
            <a:r>
              <a:rPr lang="fr-FR" dirty="0"/>
              <a:t> </a:t>
            </a:r>
            <a:r>
              <a:rPr lang="fr-FR" dirty="0" err="1"/>
              <a:t>after</a:t>
            </a:r>
            <a:r>
              <a:rPr lang="fr-FR" dirty="0"/>
              <a:t> one </a:t>
            </a:r>
            <a:r>
              <a:rPr lang="fr-FR" dirty="0" err="1"/>
              <a:t>day</a:t>
            </a:r>
            <a:r>
              <a:rPr lang="fr-FR" dirty="0"/>
              <a:t>" sont classés NÉGATIF avec 100% de confiance.</a:t>
            </a:r>
          </a:p>
          <a:p>
            <a:endParaRPr lang="fr-FR" dirty="0"/>
          </a:p>
          <a:p>
            <a:r>
              <a:rPr lang="fr-FR" dirty="0"/>
              <a:t>Le cas le plus intéressant est le dernier : nous avons saisi un avis ambigu — "</a:t>
            </a:r>
            <a:r>
              <a:rPr lang="fr-FR" dirty="0" err="1"/>
              <a:t>mmmmm</a:t>
            </a:r>
            <a:r>
              <a:rPr lang="fr-FR" dirty="0"/>
              <a:t> </a:t>
            </a:r>
            <a:r>
              <a:rPr lang="fr-FR" dirty="0" err="1"/>
              <a:t>it's</a:t>
            </a:r>
            <a:r>
              <a:rPr lang="fr-FR" dirty="0"/>
              <a:t> </a:t>
            </a:r>
            <a:r>
              <a:rPr lang="fr-FR" dirty="0" err="1"/>
              <a:t>usual</a:t>
            </a:r>
            <a:r>
              <a:rPr lang="fr-FR" dirty="0"/>
              <a:t>" — et le modèle l'a classé négatif avec une confiance de seulement 50.5%. Cela montre que le modèle est honnête : quand il n'est pas sûr, il l'indique par une faible confiance. Un avis neutre ou peu expressif est difficile à classer, ce qui est tout à fait cohérent.</a:t>
            </a:r>
          </a:p>
          <a:p>
            <a:endParaRPr lang="fr-FR" dirty="0"/>
          </a:p>
          <a:p>
            <a:r>
              <a:rPr lang="fr-FR" dirty="0"/>
              <a:t>Le modèle final a été sauvegardé avec </a:t>
            </a:r>
            <a:r>
              <a:rPr lang="fr-FR" dirty="0" err="1"/>
              <a:t>joblib</a:t>
            </a:r>
            <a:r>
              <a:rPr lang="fr-FR" dirty="0"/>
              <a:t> sous le nom </a:t>
            </a:r>
            <a:r>
              <a:rPr lang="fr-FR" dirty="0" err="1"/>
              <a:t>best_model.pkl</a:t>
            </a:r>
            <a:r>
              <a:rPr lang="fr-FR" dirty="0"/>
              <a:t>, accompagné du </a:t>
            </a:r>
            <a:r>
              <a:rPr lang="fr-FR" dirty="0" err="1"/>
              <a:t>vectoriseur</a:t>
            </a:r>
            <a:r>
              <a:rPr lang="fr-FR" dirty="0"/>
              <a:t> TF-IDF, afin de pouvoir prédire directement sur de nouveaux avis sans réentraînement.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conclure, ce projet nous a permis de mettre en œuvre un pipeline complet de Data Mining, de l'acquisition des données jusqu'au déploiement d'un modèle opérationnel.</a:t>
            </a:r>
          </a:p>
          <a:p>
            <a:endParaRPr lang="fr-FR" dirty="0"/>
          </a:p>
          <a:p>
            <a:r>
              <a:rPr lang="fr-FR" dirty="0"/>
              <a:t>Nous avons traité 4 millions d'avis Amazon, appliqué un prétraitement textuel rigoureux, vectorisé les données avec TF-IDF, et comparé trois algorithmes de classification. La Régression Logistique s'est imposée comme le meilleur modèle avec 89% de précision en seulement 40 secondes d'entraînement.</a:t>
            </a:r>
          </a:p>
          <a:p>
            <a:endParaRPr lang="fr-FR" dirty="0"/>
          </a:p>
          <a:p>
            <a:r>
              <a:rPr lang="fr-FR" dirty="0"/>
              <a:t>En termes de perspectives, plusieurs améliorations sont envisageables. Sur le plan technique, on pourrait expérimenter des modèles de Deep Learning comme LSTM ou BERT, qui capturent mieux le contexte sémantique. On pourrait aussi étendre l'analyse à plusieurs langues, notamment l'arabe et le français, ou passer à une classification multi-classes avec 1 à 5 étoiles.</a:t>
            </a:r>
          </a:p>
          <a:p>
            <a:endParaRPr lang="fr-FR" dirty="0"/>
          </a:p>
          <a:p>
            <a:r>
              <a:rPr lang="fr-FR" dirty="0"/>
              <a:t>Sur le plan applicatif, nous envisageons de déployer ce modèle via une interface </a:t>
            </a:r>
            <a:r>
              <a:rPr lang="fr-FR" dirty="0" err="1"/>
              <a:t>Streamlit</a:t>
            </a:r>
            <a:r>
              <a:rPr lang="fr-FR" dirty="0"/>
              <a:t>, ce qui permettrait à n'importe quel utilisateur de saisir un avis et d'obtenir instantanément une prédiction. Une API </a:t>
            </a:r>
            <a:r>
              <a:rPr lang="fr-FR" dirty="0" err="1"/>
              <a:t>FastAPI</a:t>
            </a:r>
            <a:r>
              <a:rPr lang="fr-FR" dirty="0"/>
              <a:t> pourrait également être intégrée directement dans des plateformes e-commerce.</a:t>
            </a:r>
          </a:p>
          <a:p>
            <a:endParaRPr lang="fr-FR" dirty="0"/>
          </a:p>
          <a:p>
            <a:r>
              <a:rPr lang="fr-FR" dirty="0"/>
              <a:t>Nous espérons avoir démontré que les techniques de Data Mining permettent de transformer des millions d'avis textuels en informations exploitables. Nous restons disponibles pour répondre à vos questions.</a:t>
            </a:r>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E4D01-7978-E9DE-CD8D-EB85E467FF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D8246-1626-73E1-7B3A-73894BA95854}"/>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4EE449D-F181-4125-A0CF-DF54BB5744A5}"/>
              </a:ext>
            </a:extLst>
          </p:cNvPr>
          <p:cNvSpPr>
            <a:spLocks noGrp="1"/>
          </p:cNvSpPr>
          <p:nvPr>
            <p:ph type="body" idx="1"/>
          </p:nvPr>
        </p:nvSpPr>
        <p:spPr>
          <a:xfrm>
            <a:off x="514350" y="4400550"/>
            <a:ext cx="4114800" cy="3600450"/>
          </a:xfrm>
          <a:prstGeom prst="rect">
            <a:avLst/>
          </a:prstGeom>
        </p:spPr>
        <p:txBody>
          <a:bodyPr/>
          <a:lstStyle/>
          <a:p>
            <a:endParaRPr lang="fr-FR" dirty="0"/>
          </a:p>
        </p:txBody>
      </p:sp>
    </p:spTree>
    <p:extLst>
      <p:ext uri="{BB962C8B-B14F-4D97-AF65-F5344CB8AC3E}">
        <p14:creationId xmlns:p14="http://schemas.microsoft.com/office/powerpoint/2010/main" val="2758816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E1EB7F5-F23B-65C3-E8F0-E853EF16B314}"/>
              </a:ext>
            </a:extLst>
          </p:cNvPr>
          <p:cNvSpPr/>
          <p:nvPr/>
        </p:nvSpPr>
        <p:spPr>
          <a:xfrm>
            <a:off x="0" y="0"/>
            <a:ext cx="164592" cy="5143500"/>
          </a:xfrm>
          <a:prstGeom prst="rect">
            <a:avLst/>
          </a:prstGeom>
          <a:solidFill>
            <a:srgbClr val="0D9488"/>
          </a:solidFill>
          <a:ln/>
        </p:spPr>
        <p:txBody>
          <a:bodyPr/>
          <a:lstStyle/>
          <a:p>
            <a:endParaRPr lang="en-US"/>
          </a:p>
        </p:txBody>
      </p:sp>
      <p:pic>
        <p:nvPicPr>
          <p:cNvPr id="3" name="Image 0">
            <a:extLst>
              <a:ext uri="{FF2B5EF4-FFF2-40B4-BE49-F238E27FC236}">
                <a16:creationId xmlns:a16="http://schemas.microsoft.com/office/drawing/2014/main" id="{BF20D251-AFC7-9416-1DC8-158D5EBBA6FE}"/>
              </a:ext>
            </a:extLst>
          </p:cNvPr>
          <p:cNvPicPr>
            <a:picLocks noChangeAspect="1"/>
          </p:cNvPicPr>
          <p:nvPr/>
        </p:nvPicPr>
        <p:blipFill>
          <a:blip r:embed="rId3"/>
          <a:srcRect/>
          <a:stretch/>
        </p:blipFill>
        <p:spPr>
          <a:xfrm>
            <a:off x="365759" y="414904"/>
            <a:ext cx="1590363" cy="581498"/>
          </a:xfrm>
          <a:prstGeom prst="rect">
            <a:avLst/>
          </a:prstGeom>
        </p:spPr>
      </p:pic>
      <p:pic>
        <p:nvPicPr>
          <p:cNvPr id="4" name="Image 1">
            <a:extLst>
              <a:ext uri="{FF2B5EF4-FFF2-40B4-BE49-F238E27FC236}">
                <a16:creationId xmlns:a16="http://schemas.microsoft.com/office/drawing/2014/main" id="{4D5F8CD9-606A-86D2-9ABF-248253E01610}"/>
              </a:ext>
            </a:extLst>
          </p:cNvPr>
          <p:cNvPicPr>
            <a:picLocks noChangeAspect="1"/>
          </p:cNvPicPr>
          <p:nvPr/>
        </p:nvPicPr>
        <p:blipFill>
          <a:blip r:embed="rId4"/>
          <a:srcRect/>
          <a:stretch/>
        </p:blipFill>
        <p:spPr>
          <a:xfrm>
            <a:off x="7039734" y="387994"/>
            <a:ext cx="1921386" cy="526406"/>
          </a:xfrm>
          <a:prstGeom prst="rect">
            <a:avLst/>
          </a:prstGeom>
        </p:spPr>
      </p:pic>
      <p:sp>
        <p:nvSpPr>
          <p:cNvPr id="5" name="Text 3">
            <a:extLst>
              <a:ext uri="{FF2B5EF4-FFF2-40B4-BE49-F238E27FC236}">
                <a16:creationId xmlns:a16="http://schemas.microsoft.com/office/drawing/2014/main" id="{1B0C82DA-9776-4976-6C2E-C84BBF94E803}"/>
              </a:ext>
            </a:extLst>
          </p:cNvPr>
          <p:cNvSpPr/>
          <p:nvPr/>
        </p:nvSpPr>
        <p:spPr>
          <a:xfrm>
            <a:off x="1280160" y="274320"/>
            <a:ext cx="6583680" cy="320040"/>
          </a:xfrm>
          <a:prstGeom prst="rect">
            <a:avLst/>
          </a:prstGeom>
          <a:noFill/>
          <a:ln/>
        </p:spPr>
        <p:txBody>
          <a:bodyPr wrap="square" rtlCol="0" anchor="ctr"/>
          <a:lstStyle/>
          <a:p>
            <a:pPr marL="0" indent="0" algn="ctr">
              <a:buNone/>
            </a:pPr>
            <a:r>
              <a:rPr lang="en-US" sz="1000" dirty="0">
                <a:solidFill>
                  <a:srgbClr val="A5B4FC"/>
                </a:solidFill>
                <a:latin typeface="Calibri" pitchFamily="34" charset="0"/>
                <a:ea typeface="Calibri" pitchFamily="34" charset="-122"/>
                <a:cs typeface="Calibri" pitchFamily="34" charset="-120"/>
              </a:rPr>
              <a:t>Université Hassan 1er  |  ENSA Berrechid</a:t>
            </a:r>
            <a:endParaRPr lang="en-US" sz="1000" dirty="0"/>
          </a:p>
        </p:txBody>
      </p:sp>
      <p:sp>
        <p:nvSpPr>
          <p:cNvPr id="6" name="Text 4">
            <a:extLst>
              <a:ext uri="{FF2B5EF4-FFF2-40B4-BE49-F238E27FC236}">
                <a16:creationId xmlns:a16="http://schemas.microsoft.com/office/drawing/2014/main" id="{44B36B8F-BAD5-5EFF-C642-4F61ECE111F8}"/>
              </a:ext>
            </a:extLst>
          </p:cNvPr>
          <p:cNvSpPr/>
          <p:nvPr/>
        </p:nvSpPr>
        <p:spPr>
          <a:xfrm>
            <a:off x="1280160" y="566928"/>
            <a:ext cx="6583680" cy="256032"/>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Filière Génie Informatique  —  Fouille de Données  —  S8</a:t>
            </a:r>
            <a:endParaRPr lang="en-US" sz="900" dirty="0"/>
          </a:p>
        </p:txBody>
      </p:sp>
      <p:sp>
        <p:nvSpPr>
          <p:cNvPr id="7" name="Text 5">
            <a:extLst>
              <a:ext uri="{FF2B5EF4-FFF2-40B4-BE49-F238E27FC236}">
                <a16:creationId xmlns:a16="http://schemas.microsoft.com/office/drawing/2014/main" id="{306BBE1F-C943-BF6E-7DCE-2E4AE1D13B9F}"/>
              </a:ext>
            </a:extLst>
          </p:cNvPr>
          <p:cNvSpPr/>
          <p:nvPr/>
        </p:nvSpPr>
        <p:spPr>
          <a:xfrm>
            <a:off x="457200" y="1143000"/>
            <a:ext cx="8229600" cy="822960"/>
          </a:xfrm>
          <a:prstGeom prst="rect">
            <a:avLst/>
          </a:prstGeom>
          <a:noFill/>
          <a:ln/>
        </p:spPr>
        <p:txBody>
          <a:bodyPr wrap="square" rtlCol="0" anchor="ctr"/>
          <a:lstStyle/>
          <a:p>
            <a:pPr marL="0" indent="0" algn="ctr">
              <a:buNone/>
            </a:pPr>
            <a:r>
              <a:rPr lang="en-US" sz="4200" b="1" dirty="0">
                <a:latin typeface="Calibri" pitchFamily="34" charset="0"/>
                <a:ea typeface="Calibri" pitchFamily="34" charset="-122"/>
                <a:cs typeface="Calibri" pitchFamily="34" charset="-120"/>
              </a:rPr>
              <a:t>Analyse de Sentiments</a:t>
            </a:r>
            <a:endParaRPr lang="en-US" sz="4200" dirty="0"/>
          </a:p>
        </p:txBody>
      </p:sp>
      <p:sp>
        <p:nvSpPr>
          <p:cNvPr id="8" name="Text 6">
            <a:extLst>
              <a:ext uri="{FF2B5EF4-FFF2-40B4-BE49-F238E27FC236}">
                <a16:creationId xmlns:a16="http://schemas.microsoft.com/office/drawing/2014/main" id="{0D1EFD4F-00A9-55EE-BCA1-7B23E52C26F0}"/>
              </a:ext>
            </a:extLst>
          </p:cNvPr>
          <p:cNvSpPr/>
          <p:nvPr/>
        </p:nvSpPr>
        <p:spPr>
          <a:xfrm>
            <a:off x="457200" y="1920240"/>
            <a:ext cx="8229600" cy="685800"/>
          </a:xfrm>
          <a:prstGeom prst="rect">
            <a:avLst/>
          </a:prstGeom>
          <a:noFill/>
          <a:ln/>
        </p:spPr>
        <p:txBody>
          <a:bodyPr wrap="square" rtlCol="0" anchor="ctr"/>
          <a:lstStyle/>
          <a:p>
            <a:pPr marL="0" indent="0" algn="ctr">
              <a:buNone/>
            </a:pPr>
            <a:r>
              <a:rPr lang="en-US" sz="3600" b="1" dirty="0">
                <a:solidFill>
                  <a:srgbClr val="93C5FD"/>
                </a:solidFill>
                <a:latin typeface="Calibri" pitchFamily="34" charset="0"/>
                <a:ea typeface="Calibri" pitchFamily="34" charset="-122"/>
                <a:cs typeface="Calibri" pitchFamily="34" charset="-120"/>
              </a:rPr>
              <a:t>des Avis Clients</a:t>
            </a:r>
            <a:endParaRPr lang="en-US" sz="3600" dirty="0"/>
          </a:p>
        </p:txBody>
      </p:sp>
      <p:sp>
        <p:nvSpPr>
          <p:cNvPr id="9" name="Text 7">
            <a:extLst>
              <a:ext uri="{FF2B5EF4-FFF2-40B4-BE49-F238E27FC236}">
                <a16:creationId xmlns:a16="http://schemas.microsoft.com/office/drawing/2014/main" id="{6C4E4528-DF1B-B82A-EE52-C2399A17C7D9}"/>
              </a:ext>
            </a:extLst>
          </p:cNvPr>
          <p:cNvSpPr/>
          <p:nvPr/>
        </p:nvSpPr>
        <p:spPr>
          <a:xfrm>
            <a:off x="1371600" y="2651760"/>
            <a:ext cx="6400800" cy="365760"/>
          </a:xfrm>
          <a:prstGeom prst="rect">
            <a:avLst/>
          </a:prstGeom>
          <a:noFill/>
          <a:ln/>
        </p:spPr>
        <p:txBody>
          <a:bodyPr wrap="square" rtlCol="0" anchor="ctr"/>
          <a:lstStyle/>
          <a:p>
            <a:pPr marL="0" indent="0" algn="ctr">
              <a:buNone/>
            </a:pPr>
            <a:r>
              <a:rPr lang="en-US" sz="1400" i="1" dirty="0">
                <a:solidFill>
                  <a:srgbClr val="0D9488"/>
                </a:solidFill>
                <a:latin typeface="Calibri" pitchFamily="34" charset="0"/>
                <a:ea typeface="Calibri" pitchFamily="34" charset="-122"/>
                <a:cs typeface="Calibri" pitchFamily="34" charset="-120"/>
              </a:rPr>
              <a:t>E-commerce · Hôtels · Restaurants</a:t>
            </a:r>
            <a:endParaRPr lang="en-US" sz="1400" dirty="0"/>
          </a:p>
        </p:txBody>
      </p:sp>
      <p:sp>
        <p:nvSpPr>
          <p:cNvPr id="10" name="Shape 8">
            <a:extLst>
              <a:ext uri="{FF2B5EF4-FFF2-40B4-BE49-F238E27FC236}">
                <a16:creationId xmlns:a16="http://schemas.microsoft.com/office/drawing/2014/main" id="{0B536ADE-3ACD-F7FD-AB3C-FED1FA7CA0BF}"/>
              </a:ext>
            </a:extLst>
          </p:cNvPr>
          <p:cNvSpPr/>
          <p:nvPr/>
        </p:nvSpPr>
        <p:spPr>
          <a:xfrm>
            <a:off x="2286000" y="3090672"/>
            <a:ext cx="4572000" cy="36576"/>
          </a:xfrm>
          <a:prstGeom prst="rect">
            <a:avLst/>
          </a:prstGeom>
          <a:solidFill>
            <a:srgbClr val="0D9488"/>
          </a:solidFill>
          <a:ln/>
        </p:spPr>
        <p:txBody>
          <a:bodyPr/>
          <a:lstStyle/>
          <a:p>
            <a:endParaRPr lang="en-US"/>
          </a:p>
        </p:txBody>
      </p:sp>
      <p:sp>
        <p:nvSpPr>
          <p:cNvPr id="11" name="Shape 9">
            <a:extLst>
              <a:ext uri="{FF2B5EF4-FFF2-40B4-BE49-F238E27FC236}">
                <a16:creationId xmlns:a16="http://schemas.microsoft.com/office/drawing/2014/main" id="{2D6E7998-CCB2-D13E-95D4-D9DAC231E0E6}"/>
              </a:ext>
            </a:extLst>
          </p:cNvPr>
          <p:cNvSpPr/>
          <p:nvPr/>
        </p:nvSpPr>
        <p:spPr>
          <a:xfrm>
            <a:off x="3017520" y="3246120"/>
            <a:ext cx="3108960" cy="384048"/>
          </a:xfrm>
          <a:prstGeom prst="roundRect">
            <a:avLst>
              <a:gd name="adj" fmla="val 19048"/>
            </a:avLst>
          </a:prstGeom>
          <a:solidFill>
            <a:srgbClr val="1565C0"/>
          </a:solidFill>
          <a:ln/>
        </p:spPr>
        <p:txBody>
          <a:bodyPr/>
          <a:lstStyle/>
          <a:p>
            <a:endParaRPr lang="en-US"/>
          </a:p>
        </p:txBody>
      </p:sp>
      <p:sp>
        <p:nvSpPr>
          <p:cNvPr id="12" name="Text 10">
            <a:extLst>
              <a:ext uri="{FF2B5EF4-FFF2-40B4-BE49-F238E27FC236}">
                <a16:creationId xmlns:a16="http://schemas.microsoft.com/office/drawing/2014/main" id="{942C2D37-693E-E757-FC2D-480C149A5123}"/>
              </a:ext>
            </a:extLst>
          </p:cNvPr>
          <p:cNvSpPr/>
          <p:nvPr/>
        </p:nvSpPr>
        <p:spPr>
          <a:xfrm>
            <a:off x="3017520" y="3246120"/>
            <a:ext cx="3108960"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Dataset  Amazon Reviews  —  4 000 000 avis</a:t>
            </a:r>
            <a:endParaRPr lang="en-US" sz="900" dirty="0"/>
          </a:p>
        </p:txBody>
      </p:sp>
      <p:sp>
        <p:nvSpPr>
          <p:cNvPr id="13" name="Text 11">
            <a:extLst>
              <a:ext uri="{FF2B5EF4-FFF2-40B4-BE49-F238E27FC236}">
                <a16:creationId xmlns:a16="http://schemas.microsoft.com/office/drawing/2014/main" id="{0208B784-9A50-0139-10E6-378845A77000}"/>
              </a:ext>
            </a:extLst>
          </p:cNvPr>
          <p:cNvSpPr/>
          <p:nvPr/>
        </p:nvSpPr>
        <p:spPr>
          <a:xfrm>
            <a:off x="457200" y="3886200"/>
            <a:ext cx="8229600" cy="292608"/>
          </a:xfrm>
          <a:prstGeom prst="rect">
            <a:avLst/>
          </a:prstGeom>
          <a:noFill/>
          <a:ln/>
        </p:spPr>
        <p:txBody>
          <a:bodyPr wrap="square" rtlCol="0" anchor="ctr"/>
          <a:lstStyle/>
          <a:p>
            <a:pPr marL="0" indent="0" algn="ctr">
              <a:buNone/>
            </a:pPr>
            <a:r>
              <a:rPr lang="en-US" sz="1000" dirty="0">
                <a:solidFill>
                  <a:schemeClr val="bg1">
                    <a:lumMod val="50000"/>
                  </a:schemeClr>
                </a:solidFill>
                <a:latin typeface="Calibri" pitchFamily="34" charset="0"/>
                <a:ea typeface="Calibri" pitchFamily="34" charset="-122"/>
                <a:cs typeface="Calibri" pitchFamily="34" charset="-120"/>
              </a:rPr>
              <a:t>Réalisé par  :  Abderrahmane Khbabez  ·  Riad Sabti  ·  Abderrahmane Chiguer  ·  Zakaria Ennaqui</a:t>
            </a:r>
            <a:endParaRPr lang="en-US" sz="1000" dirty="0">
              <a:solidFill>
                <a:schemeClr val="bg1">
                  <a:lumMod val="50000"/>
                </a:schemeClr>
              </a:solidFill>
            </a:endParaRPr>
          </a:p>
        </p:txBody>
      </p:sp>
      <p:sp>
        <p:nvSpPr>
          <p:cNvPr id="14" name="Text 12">
            <a:extLst>
              <a:ext uri="{FF2B5EF4-FFF2-40B4-BE49-F238E27FC236}">
                <a16:creationId xmlns:a16="http://schemas.microsoft.com/office/drawing/2014/main" id="{716744D8-B2AE-07EB-25D3-44B30111DAB7}"/>
              </a:ext>
            </a:extLst>
          </p:cNvPr>
          <p:cNvSpPr/>
          <p:nvPr/>
        </p:nvSpPr>
        <p:spPr>
          <a:xfrm>
            <a:off x="457200" y="4206240"/>
            <a:ext cx="8229600" cy="256032"/>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Encadrant  :  Pr. Wijdane Kaiss          Année Universitaire 2025–2026          Groupe 8</a:t>
            </a:r>
            <a:endParaRPr lang="en-US" sz="900" dirty="0"/>
          </a:p>
        </p:txBody>
      </p:sp>
    </p:spTree>
    <p:extLst>
      <p:ext uri="{BB962C8B-B14F-4D97-AF65-F5344CB8AC3E}">
        <p14:creationId xmlns:p14="http://schemas.microsoft.com/office/powerpoint/2010/main" val="413289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chemeClr val="bg2"/>
          </a:solidFill>
          <a:ln/>
        </p:spPr>
        <p:txBody>
          <a:bodyPr/>
          <a:lstStyle/>
          <a:p>
            <a:endParaRPr lang="en-US"/>
          </a:p>
        </p:txBody>
      </p:sp>
      <p:pic>
        <p:nvPicPr>
          <p:cNvPr id="3" name="Image 0"/>
          <p:cNvPicPr>
            <a:picLocks noChangeAspect="1"/>
          </p:cNvPicPr>
          <p:nvPr/>
        </p:nvPicPr>
        <p:blipFill>
          <a:blip r:embed="rId3"/>
          <a:srcRect/>
          <a:stretch/>
        </p:blipFill>
        <p:spPr>
          <a:xfrm>
            <a:off x="7618272" y="141047"/>
            <a:ext cx="1159968" cy="424129"/>
          </a:xfrm>
          <a:prstGeom prst="rect">
            <a:avLst/>
          </a:prstGeom>
        </p:spPr>
      </p:pic>
      <p:sp>
        <p:nvSpPr>
          <p:cNvPr id="4" name="Text 1"/>
          <p:cNvSpPr/>
          <p:nvPr/>
        </p:nvSpPr>
        <p:spPr>
          <a:xfrm>
            <a:off x="914400" y="137160"/>
            <a:ext cx="8046720" cy="548640"/>
          </a:xfrm>
          <a:prstGeom prst="rect">
            <a:avLst/>
          </a:prstGeom>
          <a:noFill/>
          <a:ln/>
        </p:spPr>
        <p:txBody>
          <a:bodyPr wrap="square" rtlCol="0" anchor="ctr"/>
          <a:lstStyle/>
          <a:p>
            <a:pPr marL="0" indent="0">
              <a:buNone/>
            </a:pPr>
            <a:r>
              <a:rPr lang="en-US" sz="2200" b="1" dirty="0">
                <a:latin typeface="Calibri" pitchFamily="34" charset="0"/>
                <a:ea typeface="Calibri" pitchFamily="34" charset="-122"/>
                <a:cs typeface="Calibri" pitchFamily="34" charset="-120"/>
              </a:rPr>
              <a:t>Plan de la Présentation</a:t>
            </a:r>
            <a:endParaRPr lang="en-US" sz="2200" dirty="0"/>
          </a:p>
        </p:txBody>
      </p:sp>
      <p:sp>
        <p:nvSpPr>
          <p:cNvPr id="5" name="Shape 2"/>
          <p:cNvSpPr/>
          <p:nvPr/>
        </p:nvSpPr>
        <p:spPr>
          <a:xfrm>
            <a:off x="274320" y="1005840"/>
            <a:ext cx="4251960" cy="621792"/>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3"/>
          <p:cNvSpPr/>
          <p:nvPr/>
        </p:nvSpPr>
        <p:spPr>
          <a:xfrm>
            <a:off x="274320" y="1005840"/>
            <a:ext cx="502920" cy="621792"/>
          </a:xfrm>
          <a:prstGeom prst="rect">
            <a:avLst/>
          </a:prstGeom>
          <a:solidFill>
            <a:srgbClr val="1565C0"/>
          </a:solidFill>
          <a:ln/>
        </p:spPr>
        <p:txBody>
          <a:bodyPr/>
          <a:lstStyle/>
          <a:p>
            <a:endParaRPr lang="en-US"/>
          </a:p>
        </p:txBody>
      </p:sp>
      <p:sp>
        <p:nvSpPr>
          <p:cNvPr id="7" name="Text 4"/>
          <p:cNvSpPr/>
          <p:nvPr/>
        </p:nvSpPr>
        <p:spPr>
          <a:xfrm>
            <a:off x="274320" y="1005840"/>
            <a:ext cx="502920"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8" name="Text 5"/>
          <p:cNvSpPr/>
          <p:nvPr/>
        </p:nvSpPr>
        <p:spPr>
          <a:xfrm>
            <a:off x="868680" y="1051560"/>
            <a:ext cx="3566160" cy="274320"/>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Compréhension du problème</a:t>
            </a:r>
            <a:endParaRPr lang="en-US" sz="1100" dirty="0"/>
          </a:p>
        </p:txBody>
      </p:sp>
      <p:sp>
        <p:nvSpPr>
          <p:cNvPr id="9" name="Text 6"/>
          <p:cNvSpPr/>
          <p:nvPr/>
        </p:nvSpPr>
        <p:spPr>
          <a:xfrm>
            <a:off x="868680" y="1316736"/>
            <a:ext cx="3566160" cy="25603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Objectif, contexte, enjeux</a:t>
            </a:r>
            <a:endParaRPr lang="en-US" sz="900" dirty="0"/>
          </a:p>
        </p:txBody>
      </p:sp>
      <p:sp>
        <p:nvSpPr>
          <p:cNvPr id="10" name="Shape 7"/>
          <p:cNvSpPr/>
          <p:nvPr/>
        </p:nvSpPr>
        <p:spPr>
          <a:xfrm>
            <a:off x="274320" y="1737360"/>
            <a:ext cx="4251960" cy="621792"/>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1" name="Shape 8"/>
          <p:cNvSpPr/>
          <p:nvPr/>
        </p:nvSpPr>
        <p:spPr>
          <a:xfrm>
            <a:off x="274320" y="1737360"/>
            <a:ext cx="502920" cy="621792"/>
          </a:xfrm>
          <a:prstGeom prst="rect">
            <a:avLst/>
          </a:prstGeom>
          <a:solidFill>
            <a:srgbClr val="1565C0"/>
          </a:solidFill>
          <a:ln/>
        </p:spPr>
        <p:txBody>
          <a:bodyPr/>
          <a:lstStyle/>
          <a:p>
            <a:endParaRPr lang="en-US"/>
          </a:p>
        </p:txBody>
      </p:sp>
      <p:sp>
        <p:nvSpPr>
          <p:cNvPr id="12" name="Text 9"/>
          <p:cNvSpPr/>
          <p:nvPr/>
        </p:nvSpPr>
        <p:spPr>
          <a:xfrm>
            <a:off x="274320" y="1737360"/>
            <a:ext cx="502920"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3" name="Text 10"/>
          <p:cNvSpPr/>
          <p:nvPr/>
        </p:nvSpPr>
        <p:spPr>
          <a:xfrm>
            <a:off x="868680" y="1783080"/>
            <a:ext cx="3566160" cy="274320"/>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Collecte des données</a:t>
            </a:r>
            <a:endParaRPr lang="en-US" sz="1100" dirty="0"/>
          </a:p>
        </p:txBody>
      </p:sp>
      <p:sp>
        <p:nvSpPr>
          <p:cNvPr id="14" name="Text 11"/>
          <p:cNvSpPr/>
          <p:nvPr/>
        </p:nvSpPr>
        <p:spPr>
          <a:xfrm>
            <a:off x="868680" y="2048256"/>
            <a:ext cx="3566160" cy="25603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Dataset Amazon Reviews — 4M avis</a:t>
            </a:r>
            <a:endParaRPr lang="en-US" sz="900" dirty="0"/>
          </a:p>
        </p:txBody>
      </p:sp>
      <p:sp>
        <p:nvSpPr>
          <p:cNvPr id="15" name="Shape 12"/>
          <p:cNvSpPr/>
          <p:nvPr/>
        </p:nvSpPr>
        <p:spPr>
          <a:xfrm>
            <a:off x="274320" y="2468880"/>
            <a:ext cx="4251960" cy="621792"/>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6" name="Shape 13"/>
          <p:cNvSpPr/>
          <p:nvPr/>
        </p:nvSpPr>
        <p:spPr>
          <a:xfrm>
            <a:off x="274320" y="2468880"/>
            <a:ext cx="502920" cy="621792"/>
          </a:xfrm>
          <a:prstGeom prst="rect">
            <a:avLst/>
          </a:prstGeom>
          <a:solidFill>
            <a:srgbClr val="1565C0"/>
          </a:solidFill>
          <a:ln/>
        </p:spPr>
        <p:txBody>
          <a:bodyPr/>
          <a:lstStyle/>
          <a:p>
            <a:endParaRPr lang="en-US"/>
          </a:p>
        </p:txBody>
      </p:sp>
      <p:sp>
        <p:nvSpPr>
          <p:cNvPr id="17" name="Text 14"/>
          <p:cNvSpPr/>
          <p:nvPr/>
        </p:nvSpPr>
        <p:spPr>
          <a:xfrm>
            <a:off x="274320" y="2468880"/>
            <a:ext cx="502920"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8" name="Text 15"/>
          <p:cNvSpPr/>
          <p:nvPr/>
        </p:nvSpPr>
        <p:spPr>
          <a:xfrm>
            <a:off x="868680" y="2514600"/>
            <a:ext cx="3566160" cy="274320"/>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Prétraitement des données</a:t>
            </a:r>
            <a:endParaRPr lang="en-US" sz="1100" dirty="0"/>
          </a:p>
        </p:txBody>
      </p:sp>
      <p:sp>
        <p:nvSpPr>
          <p:cNvPr id="19" name="Text 16"/>
          <p:cNvSpPr/>
          <p:nvPr/>
        </p:nvSpPr>
        <p:spPr>
          <a:xfrm>
            <a:off x="868680" y="2779776"/>
            <a:ext cx="3566160" cy="25603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Nettoyage, tokenisation, stemming, TF-IDF</a:t>
            </a:r>
            <a:endParaRPr lang="en-US" sz="900" dirty="0"/>
          </a:p>
        </p:txBody>
      </p:sp>
      <p:sp>
        <p:nvSpPr>
          <p:cNvPr id="20" name="Shape 17"/>
          <p:cNvSpPr/>
          <p:nvPr/>
        </p:nvSpPr>
        <p:spPr>
          <a:xfrm>
            <a:off x="274320" y="3200400"/>
            <a:ext cx="4251960" cy="621792"/>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21" name="Shape 18"/>
          <p:cNvSpPr/>
          <p:nvPr/>
        </p:nvSpPr>
        <p:spPr>
          <a:xfrm>
            <a:off x="274320" y="3200400"/>
            <a:ext cx="502920" cy="621792"/>
          </a:xfrm>
          <a:prstGeom prst="rect">
            <a:avLst/>
          </a:prstGeom>
          <a:solidFill>
            <a:srgbClr val="1565C0"/>
          </a:solidFill>
          <a:ln/>
        </p:spPr>
        <p:txBody>
          <a:bodyPr/>
          <a:lstStyle/>
          <a:p>
            <a:endParaRPr lang="en-US"/>
          </a:p>
        </p:txBody>
      </p:sp>
      <p:sp>
        <p:nvSpPr>
          <p:cNvPr id="22" name="Text 19"/>
          <p:cNvSpPr/>
          <p:nvPr/>
        </p:nvSpPr>
        <p:spPr>
          <a:xfrm>
            <a:off x="274320" y="3200400"/>
            <a:ext cx="502920"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3" name="Text 20"/>
          <p:cNvSpPr/>
          <p:nvPr/>
        </p:nvSpPr>
        <p:spPr>
          <a:xfrm>
            <a:off x="868680" y="3246120"/>
            <a:ext cx="3566160" cy="274320"/>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Exploration &amp; Visualisation</a:t>
            </a:r>
            <a:endParaRPr lang="en-US" sz="1100" dirty="0"/>
          </a:p>
        </p:txBody>
      </p:sp>
      <p:sp>
        <p:nvSpPr>
          <p:cNvPr id="24" name="Text 21"/>
          <p:cNvSpPr/>
          <p:nvPr/>
        </p:nvSpPr>
        <p:spPr>
          <a:xfrm>
            <a:off x="868680" y="3511296"/>
            <a:ext cx="3566160" cy="25603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Distribution, longueur, statistiques descriptives</a:t>
            </a:r>
            <a:endParaRPr lang="en-US" sz="900" dirty="0"/>
          </a:p>
        </p:txBody>
      </p:sp>
      <p:sp>
        <p:nvSpPr>
          <p:cNvPr id="25" name="Shape 22"/>
          <p:cNvSpPr/>
          <p:nvPr/>
        </p:nvSpPr>
        <p:spPr>
          <a:xfrm>
            <a:off x="4800600" y="1005840"/>
            <a:ext cx="4069080" cy="621792"/>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26" name="Shape 23"/>
          <p:cNvSpPr/>
          <p:nvPr/>
        </p:nvSpPr>
        <p:spPr>
          <a:xfrm>
            <a:off x="4800600" y="1005840"/>
            <a:ext cx="502920" cy="621792"/>
          </a:xfrm>
          <a:prstGeom prst="rect">
            <a:avLst/>
          </a:prstGeom>
          <a:solidFill>
            <a:srgbClr val="1565C0"/>
          </a:solidFill>
          <a:ln/>
        </p:spPr>
        <p:txBody>
          <a:bodyPr/>
          <a:lstStyle/>
          <a:p>
            <a:endParaRPr lang="en-US"/>
          </a:p>
        </p:txBody>
      </p:sp>
      <p:sp>
        <p:nvSpPr>
          <p:cNvPr id="27" name="Text 24"/>
          <p:cNvSpPr/>
          <p:nvPr/>
        </p:nvSpPr>
        <p:spPr>
          <a:xfrm>
            <a:off x="4800600" y="1005840"/>
            <a:ext cx="502920"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8" name="Text 25"/>
          <p:cNvSpPr/>
          <p:nvPr/>
        </p:nvSpPr>
        <p:spPr>
          <a:xfrm>
            <a:off x="5394960" y="1051560"/>
            <a:ext cx="3383280" cy="274320"/>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Modélisation</a:t>
            </a:r>
            <a:endParaRPr lang="en-US" sz="1100" dirty="0"/>
          </a:p>
        </p:txBody>
      </p:sp>
      <p:sp>
        <p:nvSpPr>
          <p:cNvPr id="29" name="Text 26"/>
          <p:cNvSpPr/>
          <p:nvPr/>
        </p:nvSpPr>
        <p:spPr>
          <a:xfrm>
            <a:off x="5394960" y="1316736"/>
            <a:ext cx="3383280" cy="25603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Naïve Bayes · Régression Logistique · Decision Tree</a:t>
            </a:r>
            <a:endParaRPr lang="en-US" sz="900" dirty="0"/>
          </a:p>
        </p:txBody>
      </p:sp>
      <p:sp>
        <p:nvSpPr>
          <p:cNvPr id="30" name="Shape 27"/>
          <p:cNvSpPr/>
          <p:nvPr/>
        </p:nvSpPr>
        <p:spPr>
          <a:xfrm>
            <a:off x="4800600" y="1737360"/>
            <a:ext cx="4069080" cy="621792"/>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31" name="Shape 28"/>
          <p:cNvSpPr/>
          <p:nvPr/>
        </p:nvSpPr>
        <p:spPr>
          <a:xfrm>
            <a:off x="4800600" y="1737360"/>
            <a:ext cx="502920" cy="621792"/>
          </a:xfrm>
          <a:prstGeom prst="rect">
            <a:avLst/>
          </a:prstGeom>
          <a:solidFill>
            <a:srgbClr val="1565C0"/>
          </a:solidFill>
          <a:ln/>
        </p:spPr>
        <p:txBody>
          <a:bodyPr/>
          <a:lstStyle/>
          <a:p>
            <a:endParaRPr lang="en-US"/>
          </a:p>
        </p:txBody>
      </p:sp>
      <p:sp>
        <p:nvSpPr>
          <p:cNvPr id="32" name="Text 29"/>
          <p:cNvSpPr/>
          <p:nvPr/>
        </p:nvSpPr>
        <p:spPr>
          <a:xfrm>
            <a:off x="4800600" y="1737360"/>
            <a:ext cx="502920"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33" name="Text 30"/>
          <p:cNvSpPr/>
          <p:nvPr/>
        </p:nvSpPr>
        <p:spPr>
          <a:xfrm>
            <a:off x="5394960" y="1783080"/>
            <a:ext cx="3383280" cy="274320"/>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Évaluation des modèles</a:t>
            </a:r>
            <a:endParaRPr lang="en-US" sz="1100" dirty="0"/>
          </a:p>
        </p:txBody>
      </p:sp>
      <p:sp>
        <p:nvSpPr>
          <p:cNvPr id="34" name="Text 31"/>
          <p:cNvSpPr/>
          <p:nvPr/>
        </p:nvSpPr>
        <p:spPr>
          <a:xfrm>
            <a:off x="5394960" y="2048256"/>
            <a:ext cx="3383280" cy="25603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Accuracy, F1-Score, Matrice de confusion</a:t>
            </a:r>
            <a:endParaRPr lang="en-US" sz="900" dirty="0"/>
          </a:p>
        </p:txBody>
      </p:sp>
      <p:sp>
        <p:nvSpPr>
          <p:cNvPr id="35" name="Shape 32"/>
          <p:cNvSpPr/>
          <p:nvPr/>
        </p:nvSpPr>
        <p:spPr>
          <a:xfrm>
            <a:off x="4800600" y="2468880"/>
            <a:ext cx="4069080" cy="621792"/>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36" name="Shape 33"/>
          <p:cNvSpPr/>
          <p:nvPr/>
        </p:nvSpPr>
        <p:spPr>
          <a:xfrm>
            <a:off x="4800600" y="2468880"/>
            <a:ext cx="502920" cy="621792"/>
          </a:xfrm>
          <a:prstGeom prst="rect">
            <a:avLst/>
          </a:prstGeom>
          <a:solidFill>
            <a:srgbClr val="1565C0"/>
          </a:solidFill>
          <a:ln/>
        </p:spPr>
        <p:txBody>
          <a:bodyPr/>
          <a:lstStyle/>
          <a:p>
            <a:endParaRPr lang="en-US"/>
          </a:p>
        </p:txBody>
      </p:sp>
      <p:sp>
        <p:nvSpPr>
          <p:cNvPr id="37" name="Text 34"/>
          <p:cNvSpPr/>
          <p:nvPr/>
        </p:nvSpPr>
        <p:spPr>
          <a:xfrm>
            <a:off x="4800600" y="2468880"/>
            <a:ext cx="502920"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07</a:t>
            </a:r>
            <a:endParaRPr lang="en-US" sz="1600" dirty="0"/>
          </a:p>
        </p:txBody>
      </p:sp>
      <p:sp>
        <p:nvSpPr>
          <p:cNvPr id="38" name="Text 35"/>
          <p:cNvSpPr/>
          <p:nvPr/>
        </p:nvSpPr>
        <p:spPr>
          <a:xfrm>
            <a:off x="5394960" y="2514600"/>
            <a:ext cx="3383280" cy="274320"/>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Interprétation &amp; Conclusion</a:t>
            </a:r>
            <a:endParaRPr lang="en-US" sz="1100" dirty="0"/>
          </a:p>
        </p:txBody>
      </p:sp>
      <p:sp>
        <p:nvSpPr>
          <p:cNvPr id="39" name="Text 36"/>
          <p:cNvSpPr/>
          <p:nvPr/>
        </p:nvSpPr>
        <p:spPr>
          <a:xfrm>
            <a:off x="5394960" y="2779776"/>
            <a:ext cx="3383280" cy="25603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Meilleur modèle, déploiement potentiel</a:t>
            </a:r>
            <a:endParaRPr lang="en-US" sz="900" dirty="0"/>
          </a:p>
        </p:txBody>
      </p:sp>
      <p:sp>
        <p:nvSpPr>
          <p:cNvPr id="41" name="TextBox 40">
            <a:extLst>
              <a:ext uri="{FF2B5EF4-FFF2-40B4-BE49-F238E27FC236}">
                <a16:creationId xmlns:a16="http://schemas.microsoft.com/office/drawing/2014/main" id="{77EF187C-839F-A081-3017-00FBFA62D7F0}"/>
              </a:ext>
            </a:extLst>
          </p:cNvPr>
          <p:cNvSpPr txBox="1"/>
          <p:nvPr/>
        </p:nvSpPr>
        <p:spPr>
          <a:xfrm>
            <a:off x="8842314" y="4774168"/>
            <a:ext cx="301686" cy="369332"/>
          </a:xfrm>
          <a:prstGeom prst="rect">
            <a:avLst/>
          </a:prstGeom>
          <a:noFill/>
        </p:spPr>
        <p:txBody>
          <a:bodyPr wrap="none" rtlCol="0">
            <a:spAutoFit/>
          </a:bodyPr>
          <a:lstStyle/>
          <a:p>
            <a:r>
              <a:rPr lang="en-US"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a:p>
        </p:txBody>
      </p:sp>
      <p:sp>
        <p:nvSpPr>
          <p:cNvPr id="3" name="Text 1"/>
          <p:cNvSpPr/>
          <p:nvPr/>
        </p:nvSpPr>
        <p:spPr>
          <a:xfrm>
            <a:off x="457200" y="137160"/>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01 · Compréhension du Problème</a:t>
            </a:r>
            <a:endParaRPr lang="en-US" sz="2200" dirty="0"/>
          </a:p>
        </p:txBody>
      </p:sp>
      <p:sp>
        <p:nvSpPr>
          <p:cNvPr id="4" name="Shape 2"/>
          <p:cNvSpPr/>
          <p:nvPr/>
        </p:nvSpPr>
        <p:spPr>
          <a:xfrm>
            <a:off x="274320" y="914400"/>
            <a:ext cx="4114800" cy="3520440"/>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274320" y="914400"/>
            <a:ext cx="4114800" cy="384048"/>
          </a:xfrm>
          <a:prstGeom prst="rect">
            <a:avLst/>
          </a:prstGeom>
          <a:solidFill>
            <a:srgbClr val="1565C0"/>
          </a:solidFill>
          <a:ln/>
        </p:spPr>
        <p:txBody>
          <a:bodyPr/>
          <a:lstStyle/>
          <a:p>
            <a:endParaRPr lang="en-US"/>
          </a:p>
        </p:txBody>
      </p:sp>
      <p:sp>
        <p:nvSpPr>
          <p:cNvPr id="6" name="Text 4"/>
          <p:cNvSpPr/>
          <p:nvPr/>
        </p:nvSpPr>
        <p:spPr>
          <a:xfrm>
            <a:off x="365760" y="914400"/>
            <a:ext cx="3931920" cy="38404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Problème à résoudre</a:t>
            </a:r>
            <a:endParaRPr lang="en-US" sz="1300" dirty="0"/>
          </a:p>
        </p:txBody>
      </p:sp>
      <p:sp>
        <p:nvSpPr>
          <p:cNvPr id="7" name="Shape 5"/>
          <p:cNvSpPr/>
          <p:nvPr/>
        </p:nvSpPr>
        <p:spPr>
          <a:xfrm>
            <a:off x="411480" y="1417320"/>
            <a:ext cx="164592" cy="164592"/>
          </a:xfrm>
          <a:prstGeom prst="ellipse">
            <a:avLst/>
          </a:prstGeom>
          <a:solidFill>
            <a:srgbClr val="0D9488"/>
          </a:solidFill>
          <a:ln/>
        </p:spPr>
        <p:txBody>
          <a:bodyPr/>
          <a:lstStyle/>
          <a:p>
            <a:endParaRPr lang="en-US"/>
          </a:p>
        </p:txBody>
      </p:sp>
      <p:sp>
        <p:nvSpPr>
          <p:cNvPr id="8" name="Text 6"/>
          <p:cNvSpPr/>
          <p:nvPr/>
        </p:nvSpPr>
        <p:spPr>
          <a:xfrm>
            <a:off x="658368" y="1353312"/>
            <a:ext cx="3566160" cy="41148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Les entreprises reçoivent des millions d'avis clients</a:t>
            </a:r>
            <a:endParaRPr lang="en-US" sz="1100" dirty="0"/>
          </a:p>
        </p:txBody>
      </p:sp>
      <p:sp>
        <p:nvSpPr>
          <p:cNvPr id="9" name="Shape 7"/>
          <p:cNvSpPr/>
          <p:nvPr/>
        </p:nvSpPr>
        <p:spPr>
          <a:xfrm>
            <a:off x="411480" y="1947672"/>
            <a:ext cx="164592" cy="164592"/>
          </a:xfrm>
          <a:prstGeom prst="ellipse">
            <a:avLst/>
          </a:prstGeom>
          <a:solidFill>
            <a:srgbClr val="0D9488"/>
          </a:solidFill>
          <a:ln/>
        </p:spPr>
        <p:txBody>
          <a:bodyPr/>
          <a:lstStyle/>
          <a:p>
            <a:endParaRPr lang="en-US"/>
          </a:p>
        </p:txBody>
      </p:sp>
      <p:sp>
        <p:nvSpPr>
          <p:cNvPr id="10" name="Text 8"/>
          <p:cNvSpPr/>
          <p:nvPr/>
        </p:nvSpPr>
        <p:spPr>
          <a:xfrm>
            <a:off x="658368" y="1883664"/>
            <a:ext cx="3566160" cy="41148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Lire manuellement est impossible à grande échelle</a:t>
            </a:r>
            <a:endParaRPr lang="en-US" sz="1100" dirty="0"/>
          </a:p>
        </p:txBody>
      </p:sp>
      <p:sp>
        <p:nvSpPr>
          <p:cNvPr id="11" name="Shape 9"/>
          <p:cNvSpPr/>
          <p:nvPr/>
        </p:nvSpPr>
        <p:spPr>
          <a:xfrm>
            <a:off x="411480" y="2478024"/>
            <a:ext cx="164592" cy="164592"/>
          </a:xfrm>
          <a:prstGeom prst="ellipse">
            <a:avLst/>
          </a:prstGeom>
          <a:solidFill>
            <a:srgbClr val="0D9488"/>
          </a:solidFill>
          <a:ln/>
        </p:spPr>
        <p:txBody>
          <a:bodyPr/>
          <a:lstStyle/>
          <a:p>
            <a:endParaRPr lang="en-US"/>
          </a:p>
        </p:txBody>
      </p:sp>
      <p:sp>
        <p:nvSpPr>
          <p:cNvPr id="12" name="Text 10"/>
          <p:cNvSpPr/>
          <p:nvPr/>
        </p:nvSpPr>
        <p:spPr>
          <a:xfrm>
            <a:off x="658368" y="2414016"/>
            <a:ext cx="3566160" cy="41148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Besoin d'automatiser l'analyse de sentiment</a:t>
            </a:r>
            <a:endParaRPr lang="en-US" sz="1100" dirty="0"/>
          </a:p>
        </p:txBody>
      </p:sp>
      <p:sp>
        <p:nvSpPr>
          <p:cNvPr id="13" name="Shape 11"/>
          <p:cNvSpPr/>
          <p:nvPr/>
        </p:nvSpPr>
        <p:spPr>
          <a:xfrm>
            <a:off x="411480" y="3008376"/>
            <a:ext cx="164592" cy="164592"/>
          </a:xfrm>
          <a:prstGeom prst="ellipse">
            <a:avLst/>
          </a:prstGeom>
          <a:solidFill>
            <a:srgbClr val="0D9488"/>
          </a:solidFill>
          <a:ln/>
        </p:spPr>
        <p:txBody>
          <a:bodyPr/>
          <a:lstStyle/>
          <a:p>
            <a:endParaRPr lang="en-US"/>
          </a:p>
        </p:txBody>
      </p:sp>
      <p:sp>
        <p:nvSpPr>
          <p:cNvPr id="14" name="Text 12"/>
          <p:cNvSpPr/>
          <p:nvPr/>
        </p:nvSpPr>
        <p:spPr>
          <a:xfrm>
            <a:off x="658368" y="2944368"/>
            <a:ext cx="3566160" cy="41148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Objectif : classer chaque avis en Positif (1) ou Négatif (0)</a:t>
            </a:r>
            <a:endParaRPr lang="en-US" sz="1100" dirty="0"/>
          </a:p>
        </p:txBody>
      </p:sp>
      <p:sp>
        <p:nvSpPr>
          <p:cNvPr id="15" name="Shape 13"/>
          <p:cNvSpPr/>
          <p:nvPr/>
        </p:nvSpPr>
        <p:spPr>
          <a:xfrm>
            <a:off x="4663440" y="914400"/>
            <a:ext cx="4114800" cy="3520440"/>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6" name="Shape 14"/>
          <p:cNvSpPr/>
          <p:nvPr/>
        </p:nvSpPr>
        <p:spPr>
          <a:xfrm>
            <a:off x="4663440" y="914400"/>
            <a:ext cx="4114800" cy="384048"/>
          </a:xfrm>
          <a:prstGeom prst="rect">
            <a:avLst/>
          </a:prstGeom>
          <a:solidFill>
            <a:srgbClr val="0D9488"/>
          </a:solidFill>
          <a:ln/>
        </p:spPr>
        <p:txBody>
          <a:bodyPr/>
          <a:lstStyle/>
          <a:p>
            <a:endParaRPr lang="en-US"/>
          </a:p>
        </p:txBody>
      </p:sp>
      <p:sp>
        <p:nvSpPr>
          <p:cNvPr id="17" name="Text 15"/>
          <p:cNvSpPr/>
          <p:nvPr/>
        </p:nvSpPr>
        <p:spPr>
          <a:xfrm>
            <a:off x="4754880" y="914400"/>
            <a:ext cx="3931920" cy="38404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Approche Data Mining</a:t>
            </a:r>
            <a:endParaRPr lang="en-US" sz="1300" dirty="0"/>
          </a:p>
        </p:txBody>
      </p:sp>
      <p:sp>
        <p:nvSpPr>
          <p:cNvPr id="18" name="Shape 16"/>
          <p:cNvSpPr/>
          <p:nvPr/>
        </p:nvSpPr>
        <p:spPr>
          <a:xfrm>
            <a:off x="4754880" y="1417320"/>
            <a:ext cx="713232" cy="502920"/>
          </a:xfrm>
          <a:prstGeom prst="roundRect">
            <a:avLst>
              <a:gd name="adj" fmla="val 10909"/>
            </a:avLst>
          </a:prstGeom>
          <a:solidFill>
            <a:srgbClr val="64748B"/>
          </a:solidFill>
          <a:ln/>
        </p:spPr>
        <p:txBody>
          <a:bodyPr/>
          <a:lstStyle/>
          <a:p>
            <a:endParaRPr lang="en-US"/>
          </a:p>
        </p:txBody>
      </p:sp>
      <p:sp>
        <p:nvSpPr>
          <p:cNvPr id="19" name="Text 17"/>
          <p:cNvSpPr/>
          <p:nvPr/>
        </p:nvSpPr>
        <p:spPr>
          <a:xfrm>
            <a:off x="4754880" y="1417320"/>
            <a:ext cx="713232" cy="5029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Texte brut</a:t>
            </a:r>
            <a:endParaRPr lang="en-US" sz="750" dirty="0"/>
          </a:p>
        </p:txBody>
      </p:sp>
      <p:sp>
        <p:nvSpPr>
          <p:cNvPr id="20" name="Shape 18"/>
          <p:cNvSpPr/>
          <p:nvPr/>
        </p:nvSpPr>
        <p:spPr>
          <a:xfrm>
            <a:off x="5468112" y="1600200"/>
            <a:ext cx="64008" cy="137160"/>
          </a:xfrm>
          <a:prstGeom prst="rect">
            <a:avLst/>
          </a:prstGeom>
          <a:solidFill>
            <a:srgbClr val="64748B"/>
          </a:solidFill>
          <a:ln/>
        </p:spPr>
        <p:txBody>
          <a:bodyPr/>
          <a:lstStyle/>
          <a:p>
            <a:endParaRPr lang="en-US"/>
          </a:p>
        </p:txBody>
      </p:sp>
      <p:sp>
        <p:nvSpPr>
          <p:cNvPr id="21" name="Shape 19"/>
          <p:cNvSpPr/>
          <p:nvPr/>
        </p:nvSpPr>
        <p:spPr>
          <a:xfrm>
            <a:off x="5532120" y="1417320"/>
            <a:ext cx="713232" cy="502920"/>
          </a:xfrm>
          <a:prstGeom prst="roundRect">
            <a:avLst>
              <a:gd name="adj" fmla="val 10909"/>
            </a:avLst>
          </a:prstGeom>
          <a:solidFill>
            <a:srgbClr val="1565C0"/>
          </a:solidFill>
          <a:ln/>
        </p:spPr>
        <p:txBody>
          <a:bodyPr/>
          <a:lstStyle/>
          <a:p>
            <a:endParaRPr lang="en-US"/>
          </a:p>
        </p:txBody>
      </p:sp>
      <p:sp>
        <p:nvSpPr>
          <p:cNvPr id="22" name="Text 20"/>
          <p:cNvSpPr/>
          <p:nvPr/>
        </p:nvSpPr>
        <p:spPr>
          <a:xfrm>
            <a:off x="5532120" y="1417320"/>
            <a:ext cx="713232" cy="5029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Prétraitement</a:t>
            </a:r>
            <a:endParaRPr lang="en-US" sz="750" dirty="0"/>
          </a:p>
        </p:txBody>
      </p:sp>
      <p:sp>
        <p:nvSpPr>
          <p:cNvPr id="23" name="Shape 21"/>
          <p:cNvSpPr/>
          <p:nvPr/>
        </p:nvSpPr>
        <p:spPr>
          <a:xfrm>
            <a:off x="6245352" y="1600200"/>
            <a:ext cx="64008" cy="137160"/>
          </a:xfrm>
          <a:prstGeom prst="rect">
            <a:avLst/>
          </a:prstGeom>
          <a:solidFill>
            <a:srgbClr val="64748B"/>
          </a:solidFill>
          <a:ln/>
        </p:spPr>
        <p:txBody>
          <a:bodyPr/>
          <a:lstStyle/>
          <a:p>
            <a:endParaRPr lang="en-US"/>
          </a:p>
        </p:txBody>
      </p:sp>
      <p:sp>
        <p:nvSpPr>
          <p:cNvPr id="24" name="Shape 22"/>
          <p:cNvSpPr/>
          <p:nvPr/>
        </p:nvSpPr>
        <p:spPr>
          <a:xfrm>
            <a:off x="6309360" y="1417320"/>
            <a:ext cx="713232" cy="502920"/>
          </a:xfrm>
          <a:prstGeom prst="roundRect">
            <a:avLst>
              <a:gd name="adj" fmla="val 10909"/>
            </a:avLst>
          </a:prstGeom>
          <a:solidFill>
            <a:srgbClr val="1565C0"/>
          </a:solidFill>
          <a:ln/>
        </p:spPr>
        <p:txBody>
          <a:bodyPr/>
          <a:lstStyle/>
          <a:p>
            <a:endParaRPr lang="en-US"/>
          </a:p>
        </p:txBody>
      </p:sp>
      <p:sp>
        <p:nvSpPr>
          <p:cNvPr id="25" name="Text 23"/>
          <p:cNvSpPr/>
          <p:nvPr/>
        </p:nvSpPr>
        <p:spPr>
          <a:xfrm>
            <a:off x="6309360" y="1417320"/>
            <a:ext cx="713232" cy="5029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TF-IDF</a:t>
            </a:r>
            <a:endParaRPr lang="en-US" sz="750" dirty="0"/>
          </a:p>
        </p:txBody>
      </p:sp>
      <p:sp>
        <p:nvSpPr>
          <p:cNvPr id="26" name="Shape 24"/>
          <p:cNvSpPr/>
          <p:nvPr/>
        </p:nvSpPr>
        <p:spPr>
          <a:xfrm>
            <a:off x="7022592" y="1600200"/>
            <a:ext cx="64008" cy="137160"/>
          </a:xfrm>
          <a:prstGeom prst="rect">
            <a:avLst/>
          </a:prstGeom>
          <a:solidFill>
            <a:srgbClr val="64748B"/>
          </a:solidFill>
          <a:ln/>
        </p:spPr>
        <p:txBody>
          <a:bodyPr/>
          <a:lstStyle/>
          <a:p>
            <a:endParaRPr lang="en-US"/>
          </a:p>
        </p:txBody>
      </p:sp>
      <p:sp>
        <p:nvSpPr>
          <p:cNvPr id="27" name="Shape 25"/>
          <p:cNvSpPr/>
          <p:nvPr/>
        </p:nvSpPr>
        <p:spPr>
          <a:xfrm>
            <a:off x="7086600" y="1417320"/>
            <a:ext cx="713232" cy="502920"/>
          </a:xfrm>
          <a:prstGeom prst="roundRect">
            <a:avLst>
              <a:gd name="adj" fmla="val 10909"/>
            </a:avLst>
          </a:prstGeom>
          <a:solidFill>
            <a:srgbClr val="1565C0"/>
          </a:solidFill>
          <a:ln/>
        </p:spPr>
        <p:txBody>
          <a:bodyPr/>
          <a:lstStyle/>
          <a:p>
            <a:endParaRPr lang="en-US"/>
          </a:p>
        </p:txBody>
      </p:sp>
      <p:sp>
        <p:nvSpPr>
          <p:cNvPr id="28" name="Text 26"/>
          <p:cNvSpPr/>
          <p:nvPr/>
        </p:nvSpPr>
        <p:spPr>
          <a:xfrm>
            <a:off x="7086600" y="1417320"/>
            <a:ext cx="713232" cy="5029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Modèle ML</a:t>
            </a:r>
            <a:endParaRPr lang="en-US" sz="750" dirty="0"/>
          </a:p>
        </p:txBody>
      </p:sp>
      <p:sp>
        <p:nvSpPr>
          <p:cNvPr id="29" name="Shape 27"/>
          <p:cNvSpPr/>
          <p:nvPr/>
        </p:nvSpPr>
        <p:spPr>
          <a:xfrm>
            <a:off x="7799832" y="1600200"/>
            <a:ext cx="64008" cy="137160"/>
          </a:xfrm>
          <a:prstGeom prst="rect">
            <a:avLst/>
          </a:prstGeom>
          <a:solidFill>
            <a:srgbClr val="64748B"/>
          </a:solidFill>
          <a:ln/>
        </p:spPr>
        <p:txBody>
          <a:bodyPr/>
          <a:lstStyle/>
          <a:p>
            <a:endParaRPr lang="en-US"/>
          </a:p>
        </p:txBody>
      </p:sp>
      <p:sp>
        <p:nvSpPr>
          <p:cNvPr id="30" name="Shape 28"/>
          <p:cNvSpPr/>
          <p:nvPr/>
        </p:nvSpPr>
        <p:spPr>
          <a:xfrm>
            <a:off x="7863840" y="1417320"/>
            <a:ext cx="713232" cy="502920"/>
          </a:xfrm>
          <a:prstGeom prst="roundRect">
            <a:avLst>
              <a:gd name="adj" fmla="val 10909"/>
            </a:avLst>
          </a:prstGeom>
          <a:solidFill>
            <a:srgbClr val="0D9488"/>
          </a:solidFill>
          <a:ln/>
        </p:spPr>
        <p:txBody>
          <a:bodyPr/>
          <a:lstStyle/>
          <a:p>
            <a:endParaRPr lang="en-US"/>
          </a:p>
        </p:txBody>
      </p:sp>
      <p:sp>
        <p:nvSpPr>
          <p:cNvPr id="31" name="Text 29"/>
          <p:cNvSpPr/>
          <p:nvPr/>
        </p:nvSpPr>
        <p:spPr>
          <a:xfrm>
            <a:off x="7863840" y="1417320"/>
            <a:ext cx="713232" cy="5029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Positif / Négatif</a:t>
            </a:r>
            <a:endParaRPr lang="en-US" sz="750" dirty="0"/>
          </a:p>
        </p:txBody>
      </p:sp>
      <p:sp>
        <p:nvSpPr>
          <p:cNvPr id="32" name="Shape 30"/>
          <p:cNvSpPr/>
          <p:nvPr/>
        </p:nvSpPr>
        <p:spPr>
          <a:xfrm>
            <a:off x="4754880" y="2103120"/>
            <a:ext cx="1828800" cy="9144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33" name="Text 31"/>
          <p:cNvSpPr/>
          <p:nvPr/>
        </p:nvSpPr>
        <p:spPr>
          <a:xfrm>
            <a:off x="4754880" y="2176272"/>
            <a:ext cx="1828800" cy="3200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34" name="Text 32"/>
          <p:cNvSpPr/>
          <p:nvPr/>
        </p:nvSpPr>
        <p:spPr>
          <a:xfrm>
            <a:off x="4754880" y="2487168"/>
            <a:ext cx="1828800" cy="256032"/>
          </a:xfrm>
          <a:prstGeom prst="rect">
            <a:avLst/>
          </a:prstGeom>
          <a:noFill/>
          <a:ln/>
        </p:spPr>
        <p:txBody>
          <a:bodyPr wrap="square" rtlCol="0" anchor="ctr"/>
          <a:lstStyle/>
          <a:p>
            <a:pPr marL="0" indent="0" algn="ctr">
              <a:buNone/>
            </a:pPr>
            <a:r>
              <a:rPr lang="en-US" sz="1000" b="1" dirty="0">
                <a:solidFill>
                  <a:srgbClr val="1E293B"/>
                </a:solidFill>
              </a:rPr>
              <a:t>E-commerce</a:t>
            </a:r>
            <a:endParaRPr lang="en-US" sz="1000" dirty="0"/>
          </a:p>
        </p:txBody>
      </p:sp>
      <p:sp>
        <p:nvSpPr>
          <p:cNvPr id="35" name="Text 33"/>
          <p:cNvSpPr/>
          <p:nvPr/>
        </p:nvSpPr>
        <p:spPr>
          <a:xfrm>
            <a:off x="4754880" y="2724912"/>
            <a:ext cx="1828800" cy="201168"/>
          </a:xfrm>
          <a:prstGeom prst="rect">
            <a:avLst/>
          </a:prstGeom>
          <a:noFill/>
          <a:ln/>
        </p:spPr>
        <p:txBody>
          <a:bodyPr wrap="square" rtlCol="0" anchor="ctr"/>
          <a:lstStyle/>
          <a:p>
            <a:pPr marL="0" indent="0" algn="ctr">
              <a:buNone/>
            </a:pPr>
            <a:r>
              <a:rPr lang="en-US" sz="800" dirty="0">
                <a:solidFill>
                  <a:srgbClr val="64748B"/>
                </a:solidFill>
              </a:rPr>
              <a:t>Amazon, Jumia...</a:t>
            </a:r>
            <a:endParaRPr lang="en-US" sz="800" dirty="0"/>
          </a:p>
        </p:txBody>
      </p:sp>
      <p:sp>
        <p:nvSpPr>
          <p:cNvPr id="36" name="Shape 34"/>
          <p:cNvSpPr/>
          <p:nvPr/>
        </p:nvSpPr>
        <p:spPr>
          <a:xfrm>
            <a:off x="6720840" y="2103120"/>
            <a:ext cx="1828800" cy="9144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37" name="Text 35"/>
          <p:cNvSpPr/>
          <p:nvPr/>
        </p:nvSpPr>
        <p:spPr>
          <a:xfrm>
            <a:off x="6720840" y="2176272"/>
            <a:ext cx="1828800" cy="3200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38" name="Text 36"/>
          <p:cNvSpPr/>
          <p:nvPr/>
        </p:nvSpPr>
        <p:spPr>
          <a:xfrm>
            <a:off x="6720840" y="2487168"/>
            <a:ext cx="1828800" cy="256032"/>
          </a:xfrm>
          <a:prstGeom prst="rect">
            <a:avLst/>
          </a:prstGeom>
          <a:noFill/>
          <a:ln/>
        </p:spPr>
        <p:txBody>
          <a:bodyPr wrap="square" rtlCol="0" anchor="ctr"/>
          <a:lstStyle/>
          <a:p>
            <a:pPr marL="0" indent="0" algn="ctr">
              <a:buNone/>
            </a:pPr>
            <a:r>
              <a:rPr lang="en-US" sz="1000" b="1" dirty="0">
                <a:solidFill>
                  <a:srgbClr val="1E293B"/>
                </a:solidFill>
              </a:rPr>
              <a:t>Hôtellerie</a:t>
            </a:r>
            <a:endParaRPr lang="en-US" sz="1000" dirty="0"/>
          </a:p>
        </p:txBody>
      </p:sp>
      <p:sp>
        <p:nvSpPr>
          <p:cNvPr id="39" name="Text 37"/>
          <p:cNvSpPr/>
          <p:nvPr/>
        </p:nvSpPr>
        <p:spPr>
          <a:xfrm>
            <a:off x="6720840" y="2724912"/>
            <a:ext cx="1828800" cy="201168"/>
          </a:xfrm>
          <a:prstGeom prst="rect">
            <a:avLst/>
          </a:prstGeom>
          <a:noFill/>
          <a:ln/>
        </p:spPr>
        <p:txBody>
          <a:bodyPr wrap="square" rtlCol="0" anchor="ctr"/>
          <a:lstStyle/>
          <a:p>
            <a:pPr marL="0" indent="0" algn="ctr">
              <a:buNone/>
            </a:pPr>
            <a:r>
              <a:rPr lang="en-US" sz="800" dirty="0">
                <a:solidFill>
                  <a:srgbClr val="64748B"/>
                </a:solidFill>
              </a:rPr>
              <a:t>Booking, Tripadvisor...</a:t>
            </a:r>
            <a:endParaRPr lang="en-US" sz="800" dirty="0"/>
          </a:p>
        </p:txBody>
      </p:sp>
      <p:sp>
        <p:nvSpPr>
          <p:cNvPr id="40" name="Shape 38"/>
          <p:cNvSpPr/>
          <p:nvPr/>
        </p:nvSpPr>
        <p:spPr>
          <a:xfrm>
            <a:off x="4754880" y="3154680"/>
            <a:ext cx="1828800" cy="9144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41" name="Text 39"/>
          <p:cNvSpPr/>
          <p:nvPr/>
        </p:nvSpPr>
        <p:spPr>
          <a:xfrm>
            <a:off x="4754880" y="3227832"/>
            <a:ext cx="1828800" cy="3200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42" name="Text 40"/>
          <p:cNvSpPr/>
          <p:nvPr/>
        </p:nvSpPr>
        <p:spPr>
          <a:xfrm>
            <a:off x="4754880" y="3538728"/>
            <a:ext cx="1828800" cy="256032"/>
          </a:xfrm>
          <a:prstGeom prst="rect">
            <a:avLst/>
          </a:prstGeom>
          <a:noFill/>
          <a:ln/>
        </p:spPr>
        <p:txBody>
          <a:bodyPr wrap="square" rtlCol="0" anchor="ctr"/>
          <a:lstStyle/>
          <a:p>
            <a:pPr marL="0" indent="0" algn="ctr">
              <a:buNone/>
            </a:pPr>
            <a:r>
              <a:rPr lang="en-US" sz="1000" b="1" dirty="0">
                <a:solidFill>
                  <a:srgbClr val="1E293B"/>
                </a:solidFill>
              </a:rPr>
              <a:t>Restauration</a:t>
            </a:r>
            <a:endParaRPr lang="en-US" sz="1000" dirty="0"/>
          </a:p>
        </p:txBody>
      </p:sp>
      <p:sp>
        <p:nvSpPr>
          <p:cNvPr id="43" name="Text 41"/>
          <p:cNvSpPr/>
          <p:nvPr/>
        </p:nvSpPr>
        <p:spPr>
          <a:xfrm>
            <a:off x="4754880" y="3776472"/>
            <a:ext cx="1828800" cy="201168"/>
          </a:xfrm>
          <a:prstGeom prst="rect">
            <a:avLst/>
          </a:prstGeom>
          <a:noFill/>
          <a:ln/>
        </p:spPr>
        <p:txBody>
          <a:bodyPr wrap="square" rtlCol="0" anchor="ctr"/>
          <a:lstStyle/>
          <a:p>
            <a:pPr marL="0" indent="0" algn="ctr">
              <a:buNone/>
            </a:pPr>
            <a:r>
              <a:rPr lang="en-US" sz="800" dirty="0">
                <a:solidFill>
                  <a:srgbClr val="64748B"/>
                </a:solidFill>
              </a:rPr>
              <a:t>Yelp, Google Maps...</a:t>
            </a:r>
            <a:endParaRPr lang="en-US" sz="800" dirty="0"/>
          </a:p>
        </p:txBody>
      </p:sp>
      <p:sp>
        <p:nvSpPr>
          <p:cNvPr id="44" name="Shape 42"/>
          <p:cNvSpPr/>
          <p:nvPr/>
        </p:nvSpPr>
        <p:spPr>
          <a:xfrm>
            <a:off x="6720840" y="3154680"/>
            <a:ext cx="1828800" cy="914400"/>
          </a:xfrm>
          <a:prstGeom prst="rect">
            <a:avLst/>
          </a:prstGeom>
          <a:solidFill>
            <a:srgbClr val="FFFFFF"/>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45" name="Text 43"/>
          <p:cNvSpPr/>
          <p:nvPr/>
        </p:nvSpPr>
        <p:spPr>
          <a:xfrm>
            <a:off x="6720840" y="3227832"/>
            <a:ext cx="1828800" cy="320040"/>
          </a:xfrm>
          <a:prstGeom prst="rect">
            <a:avLst/>
          </a:prstGeom>
          <a:noFill/>
          <a:ln/>
        </p:spPr>
        <p:txBody>
          <a:bodyPr wrap="square" rtlCol="0" anchor="ctr"/>
          <a:lstStyle/>
          <a:p>
            <a:pPr marL="0" indent="0" algn="ctr">
              <a:buNone/>
            </a:pPr>
            <a:r>
              <a:rPr lang="en-US" sz="1800" dirty="0">
                <a:solidFill>
                  <a:srgbClr val="000000"/>
                </a:solidFill>
              </a:rPr>
              <a:t>📊</a:t>
            </a:r>
            <a:endParaRPr lang="en-US" sz="1800" dirty="0"/>
          </a:p>
        </p:txBody>
      </p:sp>
      <p:sp>
        <p:nvSpPr>
          <p:cNvPr id="46" name="Text 44"/>
          <p:cNvSpPr/>
          <p:nvPr/>
        </p:nvSpPr>
        <p:spPr>
          <a:xfrm>
            <a:off x="6720840" y="3538728"/>
            <a:ext cx="1828800" cy="256032"/>
          </a:xfrm>
          <a:prstGeom prst="rect">
            <a:avLst/>
          </a:prstGeom>
          <a:noFill/>
          <a:ln/>
        </p:spPr>
        <p:txBody>
          <a:bodyPr wrap="square" rtlCol="0" anchor="ctr"/>
          <a:lstStyle/>
          <a:p>
            <a:pPr marL="0" indent="0" algn="ctr">
              <a:buNone/>
            </a:pPr>
            <a:r>
              <a:rPr lang="en-US" sz="1000" b="1" dirty="0">
                <a:solidFill>
                  <a:srgbClr val="1E293B"/>
                </a:solidFill>
              </a:rPr>
              <a:t>Marketing</a:t>
            </a:r>
            <a:endParaRPr lang="en-US" sz="1000" dirty="0"/>
          </a:p>
        </p:txBody>
      </p:sp>
      <p:sp>
        <p:nvSpPr>
          <p:cNvPr id="47" name="Text 45"/>
          <p:cNvSpPr/>
          <p:nvPr/>
        </p:nvSpPr>
        <p:spPr>
          <a:xfrm>
            <a:off x="6720840" y="3776472"/>
            <a:ext cx="1828800" cy="201168"/>
          </a:xfrm>
          <a:prstGeom prst="rect">
            <a:avLst/>
          </a:prstGeom>
          <a:noFill/>
          <a:ln/>
        </p:spPr>
        <p:txBody>
          <a:bodyPr wrap="square" rtlCol="0" anchor="ctr"/>
          <a:lstStyle/>
          <a:p>
            <a:pPr marL="0" indent="0" algn="ctr">
              <a:buNone/>
            </a:pPr>
            <a:r>
              <a:rPr lang="en-US" sz="800" dirty="0">
                <a:solidFill>
                  <a:srgbClr val="64748B"/>
                </a:solidFill>
              </a:rPr>
              <a:t>Veille concurrentielle</a:t>
            </a:r>
            <a:endParaRPr lang="en-US" sz="800" dirty="0"/>
          </a:p>
        </p:txBody>
      </p:sp>
      <p:sp>
        <p:nvSpPr>
          <p:cNvPr id="49" name="TextBox 48">
            <a:extLst>
              <a:ext uri="{FF2B5EF4-FFF2-40B4-BE49-F238E27FC236}">
                <a16:creationId xmlns:a16="http://schemas.microsoft.com/office/drawing/2014/main" id="{33C7D488-EBC1-ACDD-E494-D5A3EFA73F0E}"/>
              </a:ext>
            </a:extLst>
          </p:cNvPr>
          <p:cNvSpPr txBox="1"/>
          <p:nvPr/>
        </p:nvSpPr>
        <p:spPr>
          <a:xfrm>
            <a:off x="8842314" y="4774168"/>
            <a:ext cx="301686" cy="369332"/>
          </a:xfrm>
          <a:prstGeom prst="rect">
            <a:avLst/>
          </a:prstGeom>
          <a:noFill/>
        </p:spPr>
        <p:txBody>
          <a:bodyPr wrap="none" rtlCol="0">
            <a:spAutoFit/>
          </a:bodyPr>
          <a:lstStyle/>
          <a:p>
            <a:r>
              <a:rPr lang="en-US" dirty="0"/>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a:p>
        </p:txBody>
      </p:sp>
      <p:sp>
        <p:nvSpPr>
          <p:cNvPr id="3" name="Text 1"/>
          <p:cNvSpPr/>
          <p:nvPr/>
        </p:nvSpPr>
        <p:spPr>
          <a:xfrm>
            <a:off x="457200" y="137160"/>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02 · Collecte des Données</a:t>
            </a:r>
            <a:endParaRPr lang="en-US" sz="2200" dirty="0"/>
          </a:p>
        </p:txBody>
      </p:sp>
      <p:sp>
        <p:nvSpPr>
          <p:cNvPr id="4" name="Shape 2"/>
          <p:cNvSpPr/>
          <p:nvPr/>
        </p:nvSpPr>
        <p:spPr>
          <a:xfrm>
            <a:off x="228600" y="914400"/>
            <a:ext cx="2011680" cy="1188720"/>
          </a:xfrm>
          <a:prstGeom prst="rect">
            <a:avLst/>
          </a:prstGeom>
          <a:solidFill>
            <a:srgbClr val="1565C0"/>
          </a:solidFill>
          <a:ln/>
          <a:effectLst>
            <a:outerShdw blurRad="101600" dist="25400" dir="8100000" algn="bl" rotWithShape="0">
              <a:srgbClr val="000000">
                <a:alpha val="12000"/>
              </a:srgbClr>
            </a:outerShdw>
          </a:effectLst>
        </p:spPr>
        <p:txBody>
          <a:bodyPr/>
          <a:lstStyle/>
          <a:p>
            <a:endParaRPr lang="en-US"/>
          </a:p>
        </p:txBody>
      </p:sp>
      <p:sp>
        <p:nvSpPr>
          <p:cNvPr id="5" name="Text 3"/>
          <p:cNvSpPr/>
          <p:nvPr/>
        </p:nvSpPr>
        <p:spPr>
          <a:xfrm>
            <a:off x="228600" y="960120"/>
            <a:ext cx="20116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3 600 000</a:t>
            </a:r>
            <a:endParaRPr lang="en-US" sz="2200" dirty="0"/>
          </a:p>
        </p:txBody>
      </p:sp>
      <p:sp>
        <p:nvSpPr>
          <p:cNvPr id="6" name="Text 4"/>
          <p:cNvSpPr/>
          <p:nvPr/>
        </p:nvSpPr>
        <p:spPr>
          <a:xfrm>
            <a:off x="228600" y="1572768"/>
            <a:ext cx="2011680" cy="36576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Avis d'entraînement</a:t>
            </a:r>
            <a:endParaRPr lang="en-US" sz="1000" dirty="0"/>
          </a:p>
        </p:txBody>
      </p:sp>
      <p:sp>
        <p:nvSpPr>
          <p:cNvPr id="7" name="Shape 5"/>
          <p:cNvSpPr/>
          <p:nvPr/>
        </p:nvSpPr>
        <p:spPr>
          <a:xfrm>
            <a:off x="2404872" y="914400"/>
            <a:ext cx="2011680" cy="1188720"/>
          </a:xfrm>
          <a:prstGeom prst="rect">
            <a:avLst/>
          </a:prstGeom>
          <a:solidFill>
            <a:srgbClr val="0D9488"/>
          </a:solidFill>
          <a:ln/>
          <a:effectLst>
            <a:outerShdw blurRad="101600" dist="25400" dir="8100000" algn="bl" rotWithShape="0">
              <a:srgbClr val="000000">
                <a:alpha val="12000"/>
              </a:srgbClr>
            </a:outerShdw>
          </a:effectLst>
        </p:spPr>
        <p:txBody>
          <a:bodyPr/>
          <a:lstStyle/>
          <a:p>
            <a:endParaRPr lang="en-US"/>
          </a:p>
        </p:txBody>
      </p:sp>
      <p:sp>
        <p:nvSpPr>
          <p:cNvPr id="8" name="Text 6"/>
          <p:cNvSpPr/>
          <p:nvPr/>
        </p:nvSpPr>
        <p:spPr>
          <a:xfrm>
            <a:off x="2404872" y="960120"/>
            <a:ext cx="20116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400 000</a:t>
            </a:r>
            <a:endParaRPr lang="en-US" sz="2200" dirty="0"/>
          </a:p>
        </p:txBody>
      </p:sp>
      <p:sp>
        <p:nvSpPr>
          <p:cNvPr id="9" name="Text 7"/>
          <p:cNvSpPr/>
          <p:nvPr/>
        </p:nvSpPr>
        <p:spPr>
          <a:xfrm>
            <a:off x="2404872" y="1572768"/>
            <a:ext cx="2011680" cy="36576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Avis de test</a:t>
            </a:r>
            <a:endParaRPr lang="en-US" sz="1000" dirty="0"/>
          </a:p>
        </p:txBody>
      </p:sp>
      <p:sp>
        <p:nvSpPr>
          <p:cNvPr id="10" name="Shape 8"/>
          <p:cNvSpPr/>
          <p:nvPr/>
        </p:nvSpPr>
        <p:spPr>
          <a:xfrm>
            <a:off x="4581144" y="914400"/>
            <a:ext cx="2011680" cy="1188720"/>
          </a:xfrm>
          <a:prstGeom prst="rect">
            <a:avLst/>
          </a:prstGeom>
          <a:solidFill>
            <a:srgbClr val="15803D"/>
          </a:solidFill>
          <a:ln/>
          <a:effectLst>
            <a:outerShdw blurRad="101600" dist="25400" dir="8100000" algn="bl" rotWithShape="0">
              <a:srgbClr val="000000">
                <a:alpha val="12000"/>
              </a:srgbClr>
            </a:outerShdw>
          </a:effectLst>
        </p:spPr>
        <p:txBody>
          <a:bodyPr/>
          <a:lstStyle/>
          <a:p>
            <a:endParaRPr lang="en-US"/>
          </a:p>
        </p:txBody>
      </p:sp>
      <p:sp>
        <p:nvSpPr>
          <p:cNvPr id="11" name="Text 9"/>
          <p:cNvSpPr/>
          <p:nvPr/>
        </p:nvSpPr>
        <p:spPr>
          <a:xfrm>
            <a:off x="4581144" y="960120"/>
            <a:ext cx="20116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50 / 50 %</a:t>
            </a:r>
            <a:endParaRPr lang="en-US" sz="2200" dirty="0"/>
          </a:p>
        </p:txBody>
      </p:sp>
      <p:sp>
        <p:nvSpPr>
          <p:cNvPr id="12" name="Text 10"/>
          <p:cNvSpPr/>
          <p:nvPr/>
        </p:nvSpPr>
        <p:spPr>
          <a:xfrm>
            <a:off x="4581144" y="1572768"/>
            <a:ext cx="2011680" cy="36576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Positif / Négatif</a:t>
            </a:r>
            <a:endParaRPr lang="en-US" sz="1000" dirty="0"/>
          </a:p>
        </p:txBody>
      </p:sp>
      <p:sp>
        <p:nvSpPr>
          <p:cNvPr id="13" name="Shape 11"/>
          <p:cNvSpPr/>
          <p:nvPr/>
        </p:nvSpPr>
        <p:spPr>
          <a:xfrm>
            <a:off x="6757416" y="914400"/>
            <a:ext cx="2011680" cy="1188720"/>
          </a:xfrm>
          <a:prstGeom prst="rect">
            <a:avLst/>
          </a:prstGeom>
          <a:solidFill>
            <a:srgbClr val="7C3AED"/>
          </a:solidFill>
          <a:ln/>
          <a:effectLst>
            <a:outerShdw blurRad="101600" dist="25400" dir="8100000" algn="bl" rotWithShape="0">
              <a:srgbClr val="000000">
                <a:alpha val="12000"/>
              </a:srgbClr>
            </a:outerShdw>
          </a:effectLst>
        </p:spPr>
        <p:txBody>
          <a:bodyPr/>
          <a:lstStyle/>
          <a:p>
            <a:endParaRPr lang="en-US"/>
          </a:p>
        </p:txBody>
      </p:sp>
      <p:sp>
        <p:nvSpPr>
          <p:cNvPr id="14" name="Text 12"/>
          <p:cNvSpPr/>
          <p:nvPr/>
        </p:nvSpPr>
        <p:spPr>
          <a:xfrm>
            <a:off x="6757416" y="960120"/>
            <a:ext cx="20116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Kaggle</a:t>
            </a:r>
            <a:endParaRPr lang="en-US" sz="2200" dirty="0"/>
          </a:p>
        </p:txBody>
      </p:sp>
      <p:sp>
        <p:nvSpPr>
          <p:cNvPr id="15" name="Text 13"/>
          <p:cNvSpPr/>
          <p:nvPr/>
        </p:nvSpPr>
        <p:spPr>
          <a:xfrm>
            <a:off x="6757416" y="1572768"/>
            <a:ext cx="2011680" cy="36576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Source du dataset</a:t>
            </a:r>
            <a:endParaRPr lang="en-US" sz="1000" dirty="0"/>
          </a:p>
        </p:txBody>
      </p:sp>
      <p:sp>
        <p:nvSpPr>
          <p:cNvPr id="16" name="Shape 14"/>
          <p:cNvSpPr/>
          <p:nvPr/>
        </p:nvSpPr>
        <p:spPr>
          <a:xfrm>
            <a:off x="228600" y="2286000"/>
            <a:ext cx="4023360" cy="2560320"/>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7" name="Shape 15"/>
          <p:cNvSpPr/>
          <p:nvPr/>
        </p:nvSpPr>
        <p:spPr>
          <a:xfrm>
            <a:off x="228600" y="2286000"/>
            <a:ext cx="4023360" cy="347472"/>
          </a:xfrm>
          <a:prstGeom prst="rect">
            <a:avLst/>
          </a:prstGeom>
          <a:solidFill>
            <a:srgbClr val="1565C0"/>
          </a:solidFill>
          <a:ln/>
        </p:spPr>
        <p:txBody>
          <a:bodyPr/>
          <a:lstStyle/>
          <a:p>
            <a:endParaRPr lang="en-US"/>
          </a:p>
        </p:txBody>
      </p:sp>
      <p:sp>
        <p:nvSpPr>
          <p:cNvPr id="18" name="Text 16"/>
          <p:cNvSpPr/>
          <p:nvPr/>
        </p:nvSpPr>
        <p:spPr>
          <a:xfrm>
            <a:off x="320040" y="2286000"/>
            <a:ext cx="384048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Détails du Dataset</a:t>
            </a:r>
            <a:endParaRPr lang="en-US" sz="1200" dirty="0"/>
          </a:p>
        </p:txBody>
      </p:sp>
      <p:sp>
        <p:nvSpPr>
          <p:cNvPr id="19" name="Shape 17"/>
          <p:cNvSpPr/>
          <p:nvPr/>
        </p:nvSpPr>
        <p:spPr>
          <a:xfrm>
            <a:off x="320040" y="2761488"/>
            <a:ext cx="1188720" cy="274320"/>
          </a:xfrm>
          <a:prstGeom prst="rect">
            <a:avLst/>
          </a:prstGeom>
          <a:solidFill>
            <a:srgbClr val="E8F0FE"/>
          </a:solidFill>
          <a:ln/>
        </p:spPr>
        <p:txBody>
          <a:bodyPr/>
          <a:lstStyle/>
          <a:p>
            <a:endParaRPr lang="en-US"/>
          </a:p>
        </p:txBody>
      </p:sp>
      <p:sp>
        <p:nvSpPr>
          <p:cNvPr id="20" name="Text 18"/>
          <p:cNvSpPr/>
          <p:nvPr/>
        </p:nvSpPr>
        <p:spPr>
          <a:xfrm>
            <a:off x="320040" y="2761488"/>
            <a:ext cx="1188720" cy="274320"/>
          </a:xfrm>
          <a:prstGeom prst="rect">
            <a:avLst/>
          </a:prstGeom>
          <a:noFill/>
          <a:ln/>
        </p:spPr>
        <p:txBody>
          <a:bodyPr wrap="square" lIns="0" tIns="0" rIns="0" bIns="0" rtlCol="0" anchor="ctr"/>
          <a:lstStyle/>
          <a:p>
            <a:pPr marL="0" indent="0" algn="ctr">
              <a:buNone/>
            </a:pPr>
            <a:r>
              <a:rPr lang="en-US" sz="900" b="1" dirty="0">
                <a:solidFill>
                  <a:srgbClr val="1565C0"/>
                </a:solidFill>
                <a:latin typeface="Calibri" pitchFamily="34" charset="0"/>
                <a:ea typeface="Calibri" pitchFamily="34" charset="-122"/>
                <a:cs typeface="Calibri" pitchFamily="34" charset="-120"/>
              </a:rPr>
              <a:t>Source</a:t>
            </a:r>
            <a:endParaRPr lang="en-US" sz="900" dirty="0"/>
          </a:p>
        </p:txBody>
      </p:sp>
      <p:sp>
        <p:nvSpPr>
          <p:cNvPr id="21" name="Text 19"/>
          <p:cNvSpPr/>
          <p:nvPr/>
        </p:nvSpPr>
        <p:spPr>
          <a:xfrm>
            <a:off x="1600200" y="2761488"/>
            <a:ext cx="2514600" cy="274320"/>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Amazon Reviews (Kaggle / FastText)</a:t>
            </a:r>
            <a:endParaRPr lang="en-US" sz="900" dirty="0"/>
          </a:p>
        </p:txBody>
      </p:sp>
      <p:sp>
        <p:nvSpPr>
          <p:cNvPr id="22" name="Shape 20"/>
          <p:cNvSpPr/>
          <p:nvPr/>
        </p:nvSpPr>
        <p:spPr>
          <a:xfrm>
            <a:off x="320040" y="3108960"/>
            <a:ext cx="1188720" cy="274320"/>
          </a:xfrm>
          <a:prstGeom prst="rect">
            <a:avLst/>
          </a:prstGeom>
          <a:solidFill>
            <a:srgbClr val="E8F0FE"/>
          </a:solidFill>
          <a:ln/>
        </p:spPr>
        <p:txBody>
          <a:bodyPr/>
          <a:lstStyle/>
          <a:p>
            <a:endParaRPr lang="en-US"/>
          </a:p>
        </p:txBody>
      </p:sp>
      <p:sp>
        <p:nvSpPr>
          <p:cNvPr id="23" name="Text 21"/>
          <p:cNvSpPr/>
          <p:nvPr/>
        </p:nvSpPr>
        <p:spPr>
          <a:xfrm>
            <a:off x="320040" y="3108960"/>
            <a:ext cx="1188720" cy="274320"/>
          </a:xfrm>
          <a:prstGeom prst="rect">
            <a:avLst/>
          </a:prstGeom>
          <a:noFill/>
          <a:ln/>
        </p:spPr>
        <p:txBody>
          <a:bodyPr wrap="square" lIns="0" tIns="0" rIns="0" bIns="0" rtlCol="0" anchor="ctr"/>
          <a:lstStyle/>
          <a:p>
            <a:pPr marL="0" indent="0" algn="ctr">
              <a:buNone/>
            </a:pPr>
            <a:r>
              <a:rPr lang="en-US" sz="900" b="1" dirty="0">
                <a:solidFill>
                  <a:srgbClr val="1565C0"/>
                </a:solidFill>
                <a:latin typeface="Calibri" pitchFamily="34" charset="0"/>
                <a:ea typeface="Calibri" pitchFamily="34" charset="-122"/>
                <a:cs typeface="Calibri" pitchFamily="34" charset="-120"/>
              </a:rPr>
              <a:t>Format original</a:t>
            </a:r>
            <a:endParaRPr lang="en-US" sz="900" dirty="0"/>
          </a:p>
        </p:txBody>
      </p:sp>
      <p:sp>
        <p:nvSpPr>
          <p:cNvPr id="24" name="Text 22"/>
          <p:cNvSpPr/>
          <p:nvPr/>
        </p:nvSpPr>
        <p:spPr>
          <a:xfrm>
            <a:off x="1600200" y="3108960"/>
            <a:ext cx="2514600" cy="274320"/>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.bz2 FastText → converti en CSV</a:t>
            </a:r>
            <a:endParaRPr lang="en-US" sz="900" dirty="0"/>
          </a:p>
        </p:txBody>
      </p:sp>
      <p:sp>
        <p:nvSpPr>
          <p:cNvPr id="25" name="Shape 23"/>
          <p:cNvSpPr/>
          <p:nvPr/>
        </p:nvSpPr>
        <p:spPr>
          <a:xfrm>
            <a:off x="320040" y="3456432"/>
            <a:ext cx="1188720" cy="274320"/>
          </a:xfrm>
          <a:prstGeom prst="rect">
            <a:avLst/>
          </a:prstGeom>
          <a:solidFill>
            <a:srgbClr val="E8F0FE"/>
          </a:solidFill>
          <a:ln/>
        </p:spPr>
        <p:txBody>
          <a:bodyPr/>
          <a:lstStyle/>
          <a:p>
            <a:endParaRPr lang="en-US"/>
          </a:p>
        </p:txBody>
      </p:sp>
      <p:sp>
        <p:nvSpPr>
          <p:cNvPr id="26" name="Text 24"/>
          <p:cNvSpPr/>
          <p:nvPr/>
        </p:nvSpPr>
        <p:spPr>
          <a:xfrm>
            <a:off x="320040" y="3456432"/>
            <a:ext cx="1188720" cy="274320"/>
          </a:xfrm>
          <a:prstGeom prst="rect">
            <a:avLst/>
          </a:prstGeom>
          <a:noFill/>
          <a:ln/>
        </p:spPr>
        <p:txBody>
          <a:bodyPr wrap="square" lIns="0" tIns="0" rIns="0" bIns="0" rtlCol="0" anchor="ctr"/>
          <a:lstStyle/>
          <a:p>
            <a:pPr marL="0" indent="0" algn="ctr">
              <a:buNone/>
            </a:pPr>
            <a:r>
              <a:rPr lang="en-US" sz="900" b="1" dirty="0">
                <a:solidFill>
                  <a:srgbClr val="1565C0"/>
                </a:solidFill>
                <a:latin typeface="Calibri" pitchFamily="34" charset="0"/>
                <a:ea typeface="Calibri" pitchFamily="34" charset="-122"/>
                <a:cs typeface="Calibri" pitchFamily="34" charset="-120"/>
              </a:rPr>
              <a:t>Colonnes</a:t>
            </a:r>
            <a:endParaRPr lang="en-US" sz="900" dirty="0"/>
          </a:p>
        </p:txBody>
      </p:sp>
      <p:sp>
        <p:nvSpPr>
          <p:cNvPr id="27" name="Text 25"/>
          <p:cNvSpPr/>
          <p:nvPr/>
        </p:nvSpPr>
        <p:spPr>
          <a:xfrm>
            <a:off x="1600200" y="3456432"/>
            <a:ext cx="2514600" cy="274320"/>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label (0/1) + text (avis brut)</a:t>
            </a:r>
            <a:endParaRPr lang="en-US" sz="900" dirty="0"/>
          </a:p>
        </p:txBody>
      </p:sp>
      <p:sp>
        <p:nvSpPr>
          <p:cNvPr id="28" name="Shape 26"/>
          <p:cNvSpPr/>
          <p:nvPr/>
        </p:nvSpPr>
        <p:spPr>
          <a:xfrm>
            <a:off x="320040" y="3803904"/>
            <a:ext cx="1188720" cy="274320"/>
          </a:xfrm>
          <a:prstGeom prst="rect">
            <a:avLst/>
          </a:prstGeom>
          <a:solidFill>
            <a:srgbClr val="E8F0FE"/>
          </a:solidFill>
          <a:ln/>
        </p:spPr>
        <p:txBody>
          <a:bodyPr/>
          <a:lstStyle/>
          <a:p>
            <a:endParaRPr lang="en-US"/>
          </a:p>
        </p:txBody>
      </p:sp>
      <p:sp>
        <p:nvSpPr>
          <p:cNvPr id="29" name="Text 27"/>
          <p:cNvSpPr/>
          <p:nvPr/>
        </p:nvSpPr>
        <p:spPr>
          <a:xfrm>
            <a:off x="320040" y="3803904"/>
            <a:ext cx="1188720" cy="274320"/>
          </a:xfrm>
          <a:prstGeom prst="rect">
            <a:avLst/>
          </a:prstGeom>
          <a:noFill/>
          <a:ln/>
        </p:spPr>
        <p:txBody>
          <a:bodyPr wrap="square" lIns="0" tIns="0" rIns="0" bIns="0" rtlCol="0" anchor="ctr"/>
          <a:lstStyle/>
          <a:p>
            <a:pPr marL="0" indent="0" algn="ctr">
              <a:buNone/>
            </a:pPr>
            <a:r>
              <a:rPr lang="en-US" sz="900" b="1" dirty="0">
                <a:solidFill>
                  <a:srgbClr val="1565C0"/>
                </a:solidFill>
                <a:latin typeface="Calibri" pitchFamily="34" charset="0"/>
                <a:ea typeface="Calibri" pitchFamily="34" charset="-122"/>
                <a:cs typeface="Calibri" pitchFamily="34" charset="-120"/>
              </a:rPr>
              <a:t>Mémoire (CSV)</a:t>
            </a:r>
            <a:endParaRPr lang="en-US" sz="900" dirty="0"/>
          </a:p>
        </p:txBody>
      </p:sp>
      <p:sp>
        <p:nvSpPr>
          <p:cNvPr id="30" name="Text 28"/>
          <p:cNvSpPr/>
          <p:nvPr/>
        </p:nvSpPr>
        <p:spPr>
          <a:xfrm>
            <a:off x="1600200" y="3803904"/>
            <a:ext cx="2514600" cy="274320"/>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54.9 MB en RAM</a:t>
            </a:r>
            <a:endParaRPr lang="en-US" sz="900" dirty="0"/>
          </a:p>
        </p:txBody>
      </p:sp>
      <p:sp>
        <p:nvSpPr>
          <p:cNvPr id="31" name="Shape 29"/>
          <p:cNvSpPr/>
          <p:nvPr/>
        </p:nvSpPr>
        <p:spPr>
          <a:xfrm>
            <a:off x="320040" y="4151376"/>
            <a:ext cx="1188720" cy="274320"/>
          </a:xfrm>
          <a:prstGeom prst="rect">
            <a:avLst/>
          </a:prstGeom>
          <a:solidFill>
            <a:srgbClr val="E8F0FE"/>
          </a:solidFill>
          <a:ln/>
        </p:spPr>
        <p:txBody>
          <a:bodyPr/>
          <a:lstStyle/>
          <a:p>
            <a:endParaRPr lang="en-US"/>
          </a:p>
        </p:txBody>
      </p:sp>
      <p:sp>
        <p:nvSpPr>
          <p:cNvPr id="32" name="Text 30"/>
          <p:cNvSpPr/>
          <p:nvPr/>
        </p:nvSpPr>
        <p:spPr>
          <a:xfrm>
            <a:off x="320040" y="4151376"/>
            <a:ext cx="1188720" cy="274320"/>
          </a:xfrm>
          <a:prstGeom prst="rect">
            <a:avLst/>
          </a:prstGeom>
          <a:noFill/>
          <a:ln/>
        </p:spPr>
        <p:txBody>
          <a:bodyPr wrap="square" lIns="0" tIns="0" rIns="0" bIns="0" rtlCol="0" anchor="ctr"/>
          <a:lstStyle/>
          <a:p>
            <a:pPr marL="0" indent="0" algn="ctr">
              <a:buNone/>
            </a:pPr>
            <a:r>
              <a:rPr lang="en-US" sz="900" b="1" dirty="0">
                <a:solidFill>
                  <a:srgbClr val="1565C0"/>
                </a:solidFill>
                <a:latin typeface="Calibri" pitchFamily="34" charset="0"/>
                <a:ea typeface="Calibri" pitchFamily="34" charset="-122"/>
                <a:cs typeface="Calibri" pitchFamily="34" charset="-120"/>
              </a:rPr>
              <a:t>Équilibre</a:t>
            </a:r>
            <a:endParaRPr lang="en-US" sz="900" dirty="0"/>
          </a:p>
        </p:txBody>
      </p:sp>
      <p:sp>
        <p:nvSpPr>
          <p:cNvPr id="33" name="Text 31"/>
          <p:cNvSpPr/>
          <p:nvPr/>
        </p:nvSpPr>
        <p:spPr>
          <a:xfrm>
            <a:off x="1600200" y="4151376"/>
            <a:ext cx="2514600" cy="274320"/>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Parfaitement balancé (50/50)</a:t>
            </a:r>
            <a:endParaRPr lang="en-US" sz="900" dirty="0"/>
          </a:p>
        </p:txBody>
      </p:sp>
      <p:sp>
        <p:nvSpPr>
          <p:cNvPr id="34" name="Shape 32"/>
          <p:cNvSpPr/>
          <p:nvPr/>
        </p:nvSpPr>
        <p:spPr>
          <a:xfrm>
            <a:off x="320040" y="4498848"/>
            <a:ext cx="1188720" cy="274320"/>
          </a:xfrm>
          <a:prstGeom prst="rect">
            <a:avLst/>
          </a:prstGeom>
          <a:solidFill>
            <a:srgbClr val="E8F0FE"/>
          </a:solidFill>
          <a:ln/>
        </p:spPr>
        <p:txBody>
          <a:bodyPr/>
          <a:lstStyle/>
          <a:p>
            <a:endParaRPr lang="en-US"/>
          </a:p>
        </p:txBody>
      </p:sp>
      <p:sp>
        <p:nvSpPr>
          <p:cNvPr id="35" name="Text 33"/>
          <p:cNvSpPr/>
          <p:nvPr/>
        </p:nvSpPr>
        <p:spPr>
          <a:xfrm>
            <a:off x="320040" y="4498848"/>
            <a:ext cx="1188720" cy="274320"/>
          </a:xfrm>
          <a:prstGeom prst="rect">
            <a:avLst/>
          </a:prstGeom>
          <a:noFill/>
          <a:ln/>
        </p:spPr>
        <p:txBody>
          <a:bodyPr wrap="square" lIns="0" tIns="0" rIns="0" bIns="0" rtlCol="0" anchor="ctr"/>
          <a:lstStyle/>
          <a:p>
            <a:pPr marL="0" indent="0" algn="ctr">
              <a:buNone/>
            </a:pPr>
            <a:r>
              <a:rPr lang="en-US" sz="900" b="1" dirty="0">
                <a:solidFill>
                  <a:srgbClr val="1565C0"/>
                </a:solidFill>
                <a:latin typeface="Calibri" pitchFamily="34" charset="0"/>
                <a:ea typeface="Calibri" pitchFamily="34" charset="-122"/>
                <a:cs typeface="Calibri" pitchFamily="34" charset="-120"/>
              </a:rPr>
              <a:t>Langue</a:t>
            </a:r>
            <a:endParaRPr lang="en-US" sz="900" dirty="0"/>
          </a:p>
        </p:txBody>
      </p:sp>
      <p:sp>
        <p:nvSpPr>
          <p:cNvPr id="36" name="Text 34"/>
          <p:cNvSpPr/>
          <p:nvPr/>
        </p:nvSpPr>
        <p:spPr>
          <a:xfrm>
            <a:off x="1600200" y="4498848"/>
            <a:ext cx="2514600" cy="274320"/>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Anglais</a:t>
            </a:r>
            <a:endParaRPr lang="en-US" sz="900" dirty="0"/>
          </a:p>
        </p:txBody>
      </p:sp>
      <p:sp>
        <p:nvSpPr>
          <p:cNvPr id="37" name="Shape 35"/>
          <p:cNvSpPr/>
          <p:nvPr/>
        </p:nvSpPr>
        <p:spPr>
          <a:xfrm>
            <a:off x="4480560" y="2286000"/>
            <a:ext cx="4389120" cy="2560320"/>
          </a:xfrm>
          <a:prstGeom prst="rect">
            <a:avLst/>
          </a:prstGeom>
          <a:solidFill>
            <a:srgbClr val="1E2A3A"/>
          </a:solidFill>
          <a:ln/>
          <a:effectLst>
            <a:outerShdw blurRad="101600" dist="25400" dir="8100000" algn="bl" rotWithShape="0">
              <a:srgbClr val="000000">
                <a:alpha val="12000"/>
              </a:srgbClr>
            </a:outerShdw>
          </a:effectLst>
        </p:spPr>
        <p:txBody>
          <a:bodyPr/>
          <a:lstStyle/>
          <a:p>
            <a:endParaRPr lang="en-US"/>
          </a:p>
        </p:txBody>
      </p:sp>
      <p:sp>
        <p:nvSpPr>
          <p:cNvPr id="38" name="Shape 36"/>
          <p:cNvSpPr/>
          <p:nvPr/>
        </p:nvSpPr>
        <p:spPr>
          <a:xfrm>
            <a:off x="4480560" y="2286000"/>
            <a:ext cx="4389120" cy="347472"/>
          </a:xfrm>
          <a:prstGeom prst="rect">
            <a:avLst/>
          </a:prstGeom>
          <a:solidFill>
            <a:srgbClr val="0D9488"/>
          </a:solidFill>
          <a:ln/>
        </p:spPr>
        <p:txBody>
          <a:bodyPr/>
          <a:lstStyle/>
          <a:p>
            <a:endParaRPr lang="en-US"/>
          </a:p>
        </p:txBody>
      </p:sp>
      <p:sp>
        <p:nvSpPr>
          <p:cNvPr id="39" name="Text 37"/>
          <p:cNvSpPr/>
          <p:nvPr/>
        </p:nvSpPr>
        <p:spPr>
          <a:xfrm>
            <a:off x="4572000" y="2286000"/>
            <a:ext cx="420624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Format des données</a:t>
            </a:r>
            <a:endParaRPr lang="en-US" sz="1200" dirty="0"/>
          </a:p>
        </p:txBody>
      </p:sp>
      <p:sp>
        <p:nvSpPr>
          <p:cNvPr id="40" name="Text 38"/>
          <p:cNvSpPr/>
          <p:nvPr/>
        </p:nvSpPr>
        <p:spPr>
          <a:xfrm>
            <a:off x="4572000" y="2724912"/>
            <a:ext cx="4114800" cy="256032"/>
          </a:xfrm>
          <a:prstGeom prst="rect">
            <a:avLst/>
          </a:prstGeom>
          <a:noFill/>
          <a:ln/>
        </p:spPr>
        <p:txBody>
          <a:bodyPr wrap="square" rtlCol="0" anchor="ctr"/>
          <a:lstStyle/>
          <a:p>
            <a:pPr marL="0" indent="0">
              <a:buNone/>
            </a:pPr>
            <a:r>
              <a:rPr lang="en-US" sz="900" dirty="0">
                <a:solidFill>
                  <a:srgbClr val="94A3B8"/>
                </a:solidFill>
                <a:latin typeface="Consolas" pitchFamily="34" charset="0"/>
                <a:ea typeface="Consolas" pitchFamily="34" charset="-122"/>
                <a:cs typeface="Consolas" pitchFamily="34" charset="-120"/>
              </a:rPr>
              <a:t>Format brut (.bz2)</a:t>
            </a:r>
            <a:endParaRPr lang="en-US" sz="900" dirty="0"/>
          </a:p>
        </p:txBody>
      </p:sp>
      <p:sp>
        <p:nvSpPr>
          <p:cNvPr id="41" name="Text 39"/>
          <p:cNvSpPr/>
          <p:nvPr/>
        </p:nvSpPr>
        <p:spPr>
          <a:xfrm>
            <a:off x="4572000" y="2962656"/>
            <a:ext cx="4114800" cy="256032"/>
          </a:xfrm>
          <a:prstGeom prst="rect">
            <a:avLst/>
          </a:prstGeom>
          <a:noFill/>
          <a:ln/>
        </p:spPr>
        <p:txBody>
          <a:bodyPr wrap="square" rtlCol="0" anchor="ctr"/>
          <a:lstStyle/>
          <a:p>
            <a:pPr marL="0" indent="0">
              <a:buNone/>
            </a:pPr>
            <a:r>
              <a:rPr lang="en-US" sz="850" b="1" dirty="0">
                <a:solidFill>
                  <a:srgbClr val="F59E0B"/>
                </a:solidFill>
                <a:latin typeface="Consolas" pitchFamily="34" charset="0"/>
                <a:ea typeface="Consolas" pitchFamily="34" charset="-122"/>
                <a:cs typeface="Consolas" pitchFamily="34" charset="-120"/>
              </a:rPr>
              <a:t>__label__2 </a:t>
            </a:r>
            <a:r>
              <a:rPr lang="en-US" sz="850" dirty="0">
                <a:solidFill>
                  <a:srgbClr val="A5F3FC"/>
                </a:solidFill>
                <a:latin typeface="Consolas" pitchFamily="34" charset="0"/>
                <a:ea typeface="Consolas" pitchFamily="34" charset="-122"/>
                <a:cs typeface="Consolas" pitchFamily="34" charset="-120"/>
              </a:rPr>
              <a:t>This product is amazing...</a:t>
            </a:r>
            <a:endParaRPr lang="en-US" sz="850" dirty="0"/>
          </a:p>
        </p:txBody>
      </p:sp>
      <p:sp>
        <p:nvSpPr>
          <p:cNvPr id="42" name="Text 40"/>
          <p:cNvSpPr/>
          <p:nvPr/>
        </p:nvSpPr>
        <p:spPr>
          <a:xfrm>
            <a:off x="4572000" y="3200400"/>
            <a:ext cx="4114800" cy="256032"/>
          </a:xfrm>
          <a:prstGeom prst="rect">
            <a:avLst/>
          </a:prstGeom>
          <a:noFill/>
          <a:ln/>
        </p:spPr>
        <p:txBody>
          <a:bodyPr wrap="square" rtlCol="0" anchor="ctr"/>
          <a:lstStyle/>
          <a:p>
            <a:pPr marL="0" indent="0">
              <a:buNone/>
            </a:pPr>
            <a:r>
              <a:rPr lang="en-US" sz="850" b="1" dirty="0">
                <a:solidFill>
                  <a:srgbClr val="F87171"/>
                </a:solidFill>
                <a:latin typeface="Consolas" pitchFamily="34" charset="0"/>
                <a:ea typeface="Consolas" pitchFamily="34" charset="-122"/>
                <a:cs typeface="Consolas" pitchFamily="34" charset="-120"/>
              </a:rPr>
              <a:t>__label__1 </a:t>
            </a:r>
            <a:r>
              <a:rPr lang="en-US" sz="850" dirty="0">
                <a:solidFill>
                  <a:srgbClr val="A5F3FC"/>
                </a:solidFill>
                <a:latin typeface="Consolas" pitchFamily="34" charset="0"/>
                <a:ea typeface="Consolas" pitchFamily="34" charset="-122"/>
                <a:cs typeface="Consolas" pitchFamily="34" charset="-120"/>
              </a:rPr>
              <a:t>Terrible quality, broke...</a:t>
            </a:r>
            <a:endParaRPr lang="en-US" sz="850" dirty="0"/>
          </a:p>
        </p:txBody>
      </p:sp>
      <p:sp>
        <p:nvSpPr>
          <p:cNvPr id="43" name="Text 41"/>
          <p:cNvSpPr/>
          <p:nvPr/>
        </p:nvSpPr>
        <p:spPr>
          <a:xfrm>
            <a:off x="4572000" y="3566160"/>
            <a:ext cx="4114800" cy="256032"/>
          </a:xfrm>
          <a:prstGeom prst="rect">
            <a:avLst/>
          </a:prstGeom>
          <a:noFill/>
          <a:ln/>
        </p:spPr>
        <p:txBody>
          <a:bodyPr wrap="square" rtlCol="0" anchor="ctr"/>
          <a:lstStyle/>
          <a:p>
            <a:pPr marL="0" indent="0">
              <a:buNone/>
            </a:pPr>
            <a:r>
              <a:rPr lang="en-US" sz="900" dirty="0">
                <a:solidFill>
                  <a:srgbClr val="94A3B8"/>
                </a:solidFill>
                <a:latin typeface="Consolas" pitchFamily="34" charset="0"/>
                <a:ea typeface="Consolas" pitchFamily="34" charset="-122"/>
                <a:cs typeface="Consolas" pitchFamily="34" charset="-120"/>
              </a:rPr>
              <a:t>Après conversion CSV</a:t>
            </a:r>
            <a:endParaRPr lang="en-US" sz="9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0" y="3858768"/>
          <a:ext cx="4114800" cy="822960"/>
        </p:xfrm>
        <a:graphic>
          <a:graphicData uri="http://schemas.openxmlformats.org/drawingml/2006/table">
            <a:tbl>
              <a:tblPr/>
              <a:tblGrid>
                <a:gridCol w="6400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tblGrid>
              <a:tr h="274320">
                <a:tc>
                  <a:txBody>
                    <a:bodyPr/>
                    <a:lstStyle/>
                    <a:p>
                      <a:pPr marL="0" indent="0">
                        <a:buNone/>
                      </a:pPr>
                      <a:r>
                        <a:rPr lang="en-US" sz="850" b="1" dirty="0">
                          <a:solidFill>
                            <a:srgbClr val="F59E0B"/>
                          </a:solidFill>
                          <a:latin typeface="Consolas" pitchFamily="34" charset="0"/>
                          <a:ea typeface="Consolas" pitchFamily="34" charset="-122"/>
                          <a:cs typeface="Consolas" pitchFamily="34" charset="-120"/>
                        </a:rPr>
                        <a:t>label</a:t>
                      </a:r>
                      <a:endParaRPr lang="en-US" sz="850" dirty="0">
                        <a:latin typeface="Consolas" charset="0"/>
                        <a:ea typeface="Consolas" charset="0"/>
                        <a:cs typeface="Consolas" charset="0"/>
                      </a:endParaRPr>
                    </a:p>
                  </a:txBody>
                  <a:tcPr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263244"/>
                    </a:solidFill>
                  </a:tcPr>
                </a:tc>
                <a:tc>
                  <a:txBody>
                    <a:bodyPr/>
                    <a:lstStyle/>
                    <a:p>
                      <a:pPr marL="0" indent="0">
                        <a:buNone/>
                      </a:pPr>
                      <a:r>
                        <a:rPr lang="en-US" sz="850" b="1" dirty="0">
                          <a:solidFill>
                            <a:srgbClr val="F59E0B"/>
                          </a:solidFill>
                          <a:latin typeface="Consolas" pitchFamily="34" charset="0"/>
                          <a:ea typeface="Consolas" pitchFamily="34" charset="-122"/>
                          <a:cs typeface="Consolas" pitchFamily="34" charset="-120"/>
                        </a:rPr>
                        <a:t>text</a:t>
                      </a:r>
                      <a:endParaRPr lang="en-US" sz="850" dirty="0">
                        <a:latin typeface="Consolas" charset="0"/>
                        <a:ea typeface="Consolas" charset="0"/>
                        <a:cs typeface="Consolas" charset="0"/>
                      </a:endParaRPr>
                    </a:p>
                  </a:txBody>
                  <a:tcPr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263244"/>
                    </a:solidFill>
                  </a:tcPr>
                </a:tc>
                <a:extLst>
                  <a:ext uri="{0D108BD9-81ED-4DB2-BD59-A6C34878D82A}">
                    <a16:rowId xmlns:a16="http://schemas.microsoft.com/office/drawing/2014/main" val="10000"/>
                  </a:ext>
                </a:extLst>
              </a:tr>
              <a:tr h="274320">
                <a:tc>
                  <a:txBody>
                    <a:bodyPr/>
                    <a:lstStyle/>
                    <a:p>
                      <a:pPr marL="0" indent="0">
                        <a:buNone/>
                      </a:pPr>
                      <a:r>
                        <a:rPr lang="en-US" sz="850" dirty="0">
                          <a:solidFill>
                            <a:srgbClr val="86EFAC"/>
                          </a:solidFill>
                          <a:latin typeface="Consolas" pitchFamily="34" charset="0"/>
                          <a:ea typeface="Consolas" pitchFamily="34" charset="-122"/>
                          <a:cs typeface="Consolas" pitchFamily="34" charset="-120"/>
                        </a:rPr>
                        <a:t>1</a:t>
                      </a:r>
                      <a:endParaRPr lang="en-US" sz="850" dirty="0">
                        <a:latin typeface="Consolas" charset="0"/>
                        <a:ea typeface="Consolas" charset="0"/>
                        <a:cs typeface="Consolas" charset="0"/>
                      </a:endParaRPr>
                    </a:p>
                  </a:txBody>
                  <a:tcPr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A3A"/>
                    </a:solidFill>
                  </a:tcPr>
                </a:tc>
                <a:tc>
                  <a:txBody>
                    <a:bodyPr/>
                    <a:lstStyle/>
                    <a:p>
                      <a:pPr marL="0" indent="0">
                        <a:buNone/>
                      </a:pPr>
                      <a:r>
                        <a:rPr lang="en-US" sz="850" dirty="0">
                          <a:solidFill>
                            <a:srgbClr val="FFFFFF"/>
                          </a:solidFill>
                          <a:latin typeface="Consolas" pitchFamily="34" charset="0"/>
                          <a:ea typeface="Consolas" pitchFamily="34" charset="-122"/>
                          <a:cs typeface="Consolas" pitchFamily="34" charset="-120"/>
                        </a:rPr>
                        <a:t>This product is amazing...</a:t>
                      </a:r>
                      <a:endParaRPr lang="en-US" sz="850" dirty="0">
                        <a:latin typeface="Consolas" charset="0"/>
                        <a:ea typeface="Consolas" charset="0"/>
                        <a:cs typeface="Consolas" charset="0"/>
                      </a:endParaRPr>
                    </a:p>
                  </a:txBody>
                  <a:tcPr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A3A"/>
                    </a:solidFill>
                  </a:tcPr>
                </a:tc>
                <a:extLst>
                  <a:ext uri="{0D108BD9-81ED-4DB2-BD59-A6C34878D82A}">
                    <a16:rowId xmlns:a16="http://schemas.microsoft.com/office/drawing/2014/main" val="10001"/>
                  </a:ext>
                </a:extLst>
              </a:tr>
              <a:tr h="274320">
                <a:tc>
                  <a:txBody>
                    <a:bodyPr/>
                    <a:lstStyle/>
                    <a:p>
                      <a:pPr marL="0" indent="0">
                        <a:buNone/>
                      </a:pPr>
                      <a:r>
                        <a:rPr lang="en-US" sz="850" dirty="0">
                          <a:solidFill>
                            <a:srgbClr val="FCA5A5"/>
                          </a:solidFill>
                          <a:latin typeface="Consolas" pitchFamily="34" charset="0"/>
                          <a:ea typeface="Consolas" pitchFamily="34" charset="-122"/>
                          <a:cs typeface="Consolas" pitchFamily="34" charset="-120"/>
                        </a:rPr>
                        <a:t>0</a:t>
                      </a:r>
                      <a:endParaRPr lang="en-US" sz="850" dirty="0">
                        <a:latin typeface="Consolas" charset="0"/>
                        <a:ea typeface="Consolas" charset="0"/>
                        <a:cs typeface="Consolas" charset="0"/>
                      </a:endParaRPr>
                    </a:p>
                  </a:txBody>
                  <a:tcPr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A3A"/>
                    </a:solidFill>
                  </a:tcPr>
                </a:tc>
                <a:tc>
                  <a:txBody>
                    <a:bodyPr/>
                    <a:lstStyle/>
                    <a:p>
                      <a:pPr marL="0" indent="0">
                        <a:buNone/>
                      </a:pPr>
                      <a:r>
                        <a:rPr lang="en-US" sz="850" dirty="0">
                          <a:solidFill>
                            <a:srgbClr val="FFFFFF"/>
                          </a:solidFill>
                          <a:latin typeface="Consolas" pitchFamily="34" charset="0"/>
                          <a:ea typeface="Consolas" pitchFamily="34" charset="-122"/>
                          <a:cs typeface="Consolas" pitchFamily="34" charset="-120"/>
                        </a:rPr>
                        <a:t>Terrible quality, broke...</a:t>
                      </a:r>
                      <a:endParaRPr lang="en-US" sz="850" dirty="0">
                        <a:latin typeface="Consolas" charset="0"/>
                        <a:ea typeface="Consolas" charset="0"/>
                        <a:cs typeface="Consolas" charset="0"/>
                      </a:endParaRPr>
                    </a:p>
                  </a:txBody>
                  <a:tcPr anchor="ctr">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A3A"/>
                    </a:solidFill>
                  </a:tcPr>
                </a:tc>
                <a:extLst>
                  <a:ext uri="{0D108BD9-81ED-4DB2-BD59-A6C34878D82A}">
                    <a16:rowId xmlns:a16="http://schemas.microsoft.com/office/drawing/2014/main" val="10002"/>
                  </a:ext>
                </a:extLst>
              </a:tr>
            </a:tbl>
          </a:graphicData>
        </a:graphic>
      </p:graphicFrame>
      <p:sp>
        <p:nvSpPr>
          <p:cNvPr id="47" name="TextBox 46">
            <a:extLst>
              <a:ext uri="{FF2B5EF4-FFF2-40B4-BE49-F238E27FC236}">
                <a16:creationId xmlns:a16="http://schemas.microsoft.com/office/drawing/2014/main" id="{56506ECA-641C-D12D-355A-8CF6546C28CC}"/>
              </a:ext>
            </a:extLst>
          </p:cNvPr>
          <p:cNvSpPr txBox="1"/>
          <p:nvPr/>
        </p:nvSpPr>
        <p:spPr>
          <a:xfrm>
            <a:off x="8842314" y="4774168"/>
            <a:ext cx="301686" cy="369332"/>
          </a:xfrm>
          <a:prstGeom prst="rect">
            <a:avLst/>
          </a:prstGeom>
          <a:noFill/>
        </p:spPr>
        <p:txBody>
          <a:bodyPr wrap="none" rtlCol="0">
            <a:spAutoFit/>
          </a:bodyPr>
          <a:lstStyle/>
          <a:p>
            <a:r>
              <a:rPr lang="en-US" dirty="0"/>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a:p>
        </p:txBody>
      </p:sp>
      <p:sp>
        <p:nvSpPr>
          <p:cNvPr id="3" name="Text 1"/>
          <p:cNvSpPr/>
          <p:nvPr/>
        </p:nvSpPr>
        <p:spPr>
          <a:xfrm>
            <a:off x="457200" y="137160"/>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03 · Prétraitement des Données</a:t>
            </a:r>
            <a:endParaRPr lang="en-US" sz="2200" dirty="0"/>
          </a:p>
        </p:txBody>
      </p:sp>
      <p:sp>
        <p:nvSpPr>
          <p:cNvPr id="4" name="Shape 2"/>
          <p:cNvSpPr/>
          <p:nvPr/>
        </p:nvSpPr>
        <p:spPr>
          <a:xfrm>
            <a:off x="228600" y="868680"/>
            <a:ext cx="1325880" cy="1234440"/>
          </a:xfrm>
          <a:prstGeom prst="rect">
            <a:avLst/>
          </a:prstGeom>
          <a:solidFill>
            <a:srgbClr val="1565C0"/>
          </a:solidFill>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731520" y="983269"/>
            <a:ext cx="347472" cy="347472"/>
          </a:xfrm>
          <a:prstGeom prst="ellipse">
            <a:avLst/>
          </a:prstGeom>
          <a:solidFill>
            <a:srgbClr val="FFFFFF"/>
          </a:solidFill>
          <a:ln/>
        </p:spPr>
        <p:txBody>
          <a:bodyPr/>
          <a:lstStyle/>
          <a:p>
            <a:endParaRPr lang="en-US"/>
          </a:p>
        </p:txBody>
      </p:sp>
      <p:sp>
        <p:nvSpPr>
          <p:cNvPr id="6" name="Text 4"/>
          <p:cNvSpPr/>
          <p:nvPr/>
        </p:nvSpPr>
        <p:spPr>
          <a:xfrm>
            <a:off x="731520" y="968570"/>
            <a:ext cx="347472" cy="347472"/>
          </a:xfrm>
          <a:prstGeom prst="rect">
            <a:avLst/>
          </a:prstGeom>
          <a:noFill/>
          <a:ln/>
        </p:spPr>
        <p:txBody>
          <a:bodyPr wrap="square" lIns="0" tIns="0" rIns="0" bIns="0" rtlCol="0" anchor="ctr"/>
          <a:lstStyle/>
          <a:p>
            <a:pPr marL="0" indent="0" algn="ctr">
              <a:buNone/>
            </a:pPr>
            <a:r>
              <a:rPr lang="en-US" sz="1100" b="1" dirty="0">
                <a:solidFill>
                  <a:srgbClr val="1565C0"/>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228600" y="1272521"/>
            <a:ext cx="1325880" cy="411480"/>
          </a:xfrm>
          <a:prstGeom prst="rect">
            <a:avLst/>
          </a:prstGeom>
          <a:noFill/>
          <a:ln/>
        </p:spPr>
        <p:txBody>
          <a:bodyPr wrap="square"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Aa→aa</a:t>
            </a:r>
            <a:endParaRPr lang="en-US" sz="1100" dirty="0"/>
          </a:p>
        </p:txBody>
      </p:sp>
      <p:sp>
        <p:nvSpPr>
          <p:cNvPr id="8" name="Text 6"/>
          <p:cNvSpPr/>
          <p:nvPr/>
        </p:nvSpPr>
        <p:spPr>
          <a:xfrm>
            <a:off x="228600" y="1389888"/>
            <a:ext cx="1325880" cy="64008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Minuscules</a:t>
            </a:r>
            <a:endParaRPr lang="en-US" sz="1000" dirty="0"/>
          </a:p>
        </p:txBody>
      </p:sp>
      <p:sp>
        <p:nvSpPr>
          <p:cNvPr id="9" name="Shape 7"/>
          <p:cNvSpPr/>
          <p:nvPr/>
        </p:nvSpPr>
        <p:spPr>
          <a:xfrm>
            <a:off x="1554480" y="1417320"/>
            <a:ext cx="137160" cy="73152"/>
          </a:xfrm>
          <a:prstGeom prst="rect">
            <a:avLst/>
          </a:prstGeom>
          <a:solidFill>
            <a:srgbClr val="64748B"/>
          </a:solidFill>
          <a:ln/>
        </p:spPr>
        <p:txBody>
          <a:bodyPr/>
          <a:lstStyle/>
          <a:p>
            <a:endParaRPr lang="en-US"/>
          </a:p>
        </p:txBody>
      </p:sp>
      <p:sp>
        <p:nvSpPr>
          <p:cNvPr id="10" name="Shape 8"/>
          <p:cNvSpPr/>
          <p:nvPr/>
        </p:nvSpPr>
        <p:spPr>
          <a:xfrm>
            <a:off x="1691640" y="868680"/>
            <a:ext cx="1325880" cy="1234440"/>
          </a:xfrm>
          <a:prstGeom prst="rect">
            <a:avLst/>
          </a:prstGeom>
          <a:solidFill>
            <a:srgbClr val="7C3AED"/>
          </a:solidFill>
          <a:ln/>
          <a:effectLst>
            <a:outerShdw blurRad="101600" dist="25400" dir="8100000" algn="bl" rotWithShape="0">
              <a:srgbClr val="000000">
                <a:alpha val="12000"/>
              </a:srgbClr>
            </a:outerShdw>
          </a:effectLst>
        </p:spPr>
        <p:txBody>
          <a:bodyPr/>
          <a:lstStyle/>
          <a:p>
            <a:endParaRPr lang="en-US"/>
          </a:p>
        </p:txBody>
      </p:sp>
      <p:sp>
        <p:nvSpPr>
          <p:cNvPr id="11" name="Shape 9"/>
          <p:cNvSpPr/>
          <p:nvPr/>
        </p:nvSpPr>
        <p:spPr>
          <a:xfrm>
            <a:off x="2194560" y="950976"/>
            <a:ext cx="347472" cy="347472"/>
          </a:xfrm>
          <a:prstGeom prst="ellipse">
            <a:avLst/>
          </a:prstGeom>
          <a:solidFill>
            <a:srgbClr val="FFFFFF"/>
          </a:solidFill>
          <a:ln/>
        </p:spPr>
        <p:txBody>
          <a:bodyPr/>
          <a:lstStyle/>
          <a:p>
            <a:endParaRPr lang="en-US"/>
          </a:p>
        </p:txBody>
      </p:sp>
      <p:sp>
        <p:nvSpPr>
          <p:cNvPr id="12" name="Text 10"/>
          <p:cNvSpPr/>
          <p:nvPr/>
        </p:nvSpPr>
        <p:spPr>
          <a:xfrm>
            <a:off x="2194560" y="944841"/>
            <a:ext cx="347472" cy="347472"/>
          </a:xfrm>
          <a:prstGeom prst="rect">
            <a:avLst/>
          </a:prstGeom>
          <a:noFill/>
          <a:ln/>
        </p:spPr>
        <p:txBody>
          <a:bodyPr wrap="square" lIns="0" tIns="0" rIns="0" bIns="0"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1691640" y="1249371"/>
            <a:ext cx="1325880" cy="411480"/>
          </a:xfrm>
          <a:prstGeom prst="rect">
            <a:avLst/>
          </a:prstGeom>
          <a:noFill/>
          <a:ln/>
        </p:spPr>
        <p:txBody>
          <a:bodyPr wrap="square"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a:t>
            </a:r>
            <a:endParaRPr lang="en-US" sz="1100" dirty="0"/>
          </a:p>
        </p:txBody>
      </p:sp>
      <p:sp>
        <p:nvSpPr>
          <p:cNvPr id="14" name="Text 12"/>
          <p:cNvSpPr/>
          <p:nvPr/>
        </p:nvSpPr>
        <p:spPr>
          <a:xfrm>
            <a:off x="1691640" y="1389888"/>
            <a:ext cx="1325880" cy="64008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Ponctuation</a:t>
            </a:r>
            <a:endParaRPr lang="en-US" sz="1000" dirty="0"/>
          </a:p>
        </p:txBody>
      </p:sp>
      <p:sp>
        <p:nvSpPr>
          <p:cNvPr id="15" name="Shape 13"/>
          <p:cNvSpPr/>
          <p:nvPr/>
        </p:nvSpPr>
        <p:spPr>
          <a:xfrm>
            <a:off x="3017520" y="1417320"/>
            <a:ext cx="137160" cy="73152"/>
          </a:xfrm>
          <a:prstGeom prst="rect">
            <a:avLst/>
          </a:prstGeom>
          <a:solidFill>
            <a:srgbClr val="64748B"/>
          </a:solidFill>
          <a:ln/>
        </p:spPr>
        <p:txBody>
          <a:bodyPr/>
          <a:lstStyle/>
          <a:p>
            <a:endParaRPr lang="en-US"/>
          </a:p>
        </p:txBody>
      </p:sp>
      <p:sp>
        <p:nvSpPr>
          <p:cNvPr id="16" name="Shape 14"/>
          <p:cNvSpPr/>
          <p:nvPr/>
        </p:nvSpPr>
        <p:spPr>
          <a:xfrm>
            <a:off x="3154680" y="868680"/>
            <a:ext cx="1325880" cy="1234440"/>
          </a:xfrm>
          <a:prstGeom prst="rect">
            <a:avLst/>
          </a:prstGeom>
          <a:solidFill>
            <a:srgbClr val="0D9488"/>
          </a:solidFill>
          <a:ln/>
          <a:effectLst>
            <a:outerShdw blurRad="101600" dist="25400" dir="8100000" algn="bl" rotWithShape="0">
              <a:srgbClr val="000000">
                <a:alpha val="12000"/>
              </a:srgbClr>
            </a:outerShdw>
          </a:effectLst>
        </p:spPr>
        <p:txBody>
          <a:bodyPr/>
          <a:lstStyle/>
          <a:p>
            <a:endParaRPr lang="en-US"/>
          </a:p>
        </p:txBody>
      </p:sp>
      <p:sp>
        <p:nvSpPr>
          <p:cNvPr id="17" name="Shape 15"/>
          <p:cNvSpPr/>
          <p:nvPr/>
        </p:nvSpPr>
        <p:spPr>
          <a:xfrm>
            <a:off x="3657600" y="915500"/>
            <a:ext cx="347472" cy="347472"/>
          </a:xfrm>
          <a:prstGeom prst="ellipse">
            <a:avLst/>
          </a:prstGeom>
          <a:solidFill>
            <a:srgbClr val="FFFFFF"/>
          </a:solidFill>
          <a:ln/>
        </p:spPr>
        <p:txBody>
          <a:bodyPr/>
          <a:lstStyle/>
          <a:p>
            <a:endParaRPr lang="en-US"/>
          </a:p>
        </p:txBody>
      </p:sp>
      <p:sp>
        <p:nvSpPr>
          <p:cNvPr id="18" name="Text 16"/>
          <p:cNvSpPr/>
          <p:nvPr/>
        </p:nvSpPr>
        <p:spPr>
          <a:xfrm>
            <a:off x="3657600" y="917988"/>
            <a:ext cx="347472" cy="347472"/>
          </a:xfrm>
          <a:prstGeom prst="rect">
            <a:avLst/>
          </a:prstGeom>
          <a:noFill/>
          <a:ln/>
        </p:spPr>
        <p:txBody>
          <a:bodyPr wrap="square" lIns="0" tIns="0" rIns="0" bIns="0"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3154680" y="1248793"/>
            <a:ext cx="1325880" cy="411480"/>
          </a:xfrm>
          <a:prstGeom prst="rect">
            <a:avLst/>
          </a:prstGeom>
          <a:noFill/>
          <a:ln/>
        </p:spPr>
        <p:txBody>
          <a:bodyPr wrap="square"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mot→[tokens]</a:t>
            </a:r>
            <a:endParaRPr lang="en-US" sz="1100" dirty="0"/>
          </a:p>
        </p:txBody>
      </p:sp>
      <p:sp>
        <p:nvSpPr>
          <p:cNvPr id="20" name="Text 18"/>
          <p:cNvSpPr/>
          <p:nvPr/>
        </p:nvSpPr>
        <p:spPr>
          <a:xfrm>
            <a:off x="3154680" y="1389888"/>
            <a:ext cx="1325880" cy="64008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Tokenisation</a:t>
            </a:r>
            <a:endParaRPr lang="en-US" sz="1000" dirty="0"/>
          </a:p>
        </p:txBody>
      </p:sp>
      <p:sp>
        <p:nvSpPr>
          <p:cNvPr id="21" name="Shape 19"/>
          <p:cNvSpPr/>
          <p:nvPr/>
        </p:nvSpPr>
        <p:spPr>
          <a:xfrm>
            <a:off x="4480560" y="1417320"/>
            <a:ext cx="137160" cy="73152"/>
          </a:xfrm>
          <a:prstGeom prst="rect">
            <a:avLst/>
          </a:prstGeom>
          <a:solidFill>
            <a:srgbClr val="64748B"/>
          </a:solidFill>
          <a:ln/>
        </p:spPr>
        <p:txBody>
          <a:bodyPr/>
          <a:lstStyle/>
          <a:p>
            <a:endParaRPr lang="en-US"/>
          </a:p>
        </p:txBody>
      </p:sp>
      <p:sp>
        <p:nvSpPr>
          <p:cNvPr id="22" name="Shape 20"/>
          <p:cNvSpPr/>
          <p:nvPr/>
        </p:nvSpPr>
        <p:spPr>
          <a:xfrm>
            <a:off x="4617720" y="868680"/>
            <a:ext cx="1325880" cy="1234440"/>
          </a:xfrm>
          <a:prstGeom prst="rect">
            <a:avLst/>
          </a:prstGeom>
          <a:solidFill>
            <a:srgbClr val="15803D"/>
          </a:solidFill>
          <a:ln/>
          <a:effectLst>
            <a:outerShdw blurRad="101600" dist="25400" dir="8100000" algn="bl" rotWithShape="0">
              <a:srgbClr val="000000">
                <a:alpha val="12000"/>
              </a:srgbClr>
            </a:outerShdw>
          </a:effectLst>
        </p:spPr>
        <p:txBody>
          <a:bodyPr/>
          <a:lstStyle/>
          <a:p>
            <a:endParaRPr lang="en-US"/>
          </a:p>
        </p:txBody>
      </p:sp>
      <p:sp>
        <p:nvSpPr>
          <p:cNvPr id="23" name="Shape 21"/>
          <p:cNvSpPr/>
          <p:nvPr/>
        </p:nvSpPr>
        <p:spPr>
          <a:xfrm>
            <a:off x="5120640" y="893682"/>
            <a:ext cx="347472" cy="347472"/>
          </a:xfrm>
          <a:prstGeom prst="ellipse">
            <a:avLst/>
          </a:prstGeom>
          <a:solidFill>
            <a:srgbClr val="FFFFFF"/>
          </a:solidFill>
          <a:ln/>
        </p:spPr>
        <p:txBody>
          <a:bodyPr/>
          <a:lstStyle/>
          <a:p>
            <a:endParaRPr lang="en-US"/>
          </a:p>
        </p:txBody>
      </p:sp>
      <p:sp>
        <p:nvSpPr>
          <p:cNvPr id="24" name="Text 22"/>
          <p:cNvSpPr/>
          <p:nvPr/>
        </p:nvSpPr>
        <p:spPr>
          <a:xfrm>
            <a:off x="5120640" y="895418"/>
            <a:ext cx="347472" cy="347472"/>
          </a:xfrm>
          <a:prstGeom prst="rect">
            <a:avLst/>
          </a:prstGeom>
          <a:noFill/>
          <a:ln/>
        </p:spPr>
        <p:txBody>
          <a:bodyPr wrap="square" lIns="0" tIns="0" rIns="0" bIns="0" rtlCol="0" anchor="ctr"/>
          <a:lstStyle/>
          <a:p>
            <a:pPr marL="0" indent="0" algn="ctr">
              <a:buNone/>
            </a:pPr>
            <a:r>
              <a:rPr lang="en-US" sz="1100" b="1" dirty="0">
                <a:solidFill>
                  <a:srgbClr val="15803D"/>
                </a:solidFill>
                <a:latin typeface="Calibri" pitchFamily="34" charset="0"/>
                <a:ea typeface="Calibri" pitchFamily="34" charset="-122"/>
                <a:cs typeface="Calibri" pitchFamily="34" charset="-120"/>
              </a:rPr>
              <a:t>4</a:t>
            </a:r>
            <a:endParaRPr lang="en-US" sz="1100" dirty="0"/>
          </a:p>
        </p:txBody>
      </p:sp>
      <p:sp>
        <p:nvSpPr>
          <p:cNvPr id="25" name="Text 23"/>
          <p:cNvSpPr/>
          <p:nvPr/>
        </p:nvSpPr>
        <p:spPr>
          <a:xfrm>
            <a:off x="4617720" y="1183859"/>
            <a:ext cx="1325880" cy="411480"/>
          </a:xfrm>
          <a:prstGeom prst="rect">
            <a:avLst/>
          </a:prstGeom>
          <a:noFill/>
          <a:ln/>
        </p:spPr>
        <p:txBody>
          <a:bodyPr wrap="square"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the, is→∅</a:t>
            </a:r>
            <a:endParaRPr lang="en-US" sz="1100" dirty="0"/>
          </a:p>
        </p:txBody>
      </p:sp>
      <p:sp>
        <p:nvSpPr>
          <p:cNvPr id="26" name="Text 24"/>
          <p:cNvSpPr/>
          <p:nvPr/>
        </p:nvSpPr>
        <p:spPr>
          <a:xfrm>
            <a:off x="4617720" y="1389888"/>
            <a:ext cx="1325880" cy="64008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Stopwords</a:t>
            </a:r>
            <a:endParaRPr lang="en-US" sz="1000" dirty="0"/>
          </a:p>
        </p:txBody>
      </p:sp>
      <p:sp>
        <p:nvSpPr>
          <p:cNvPr id="27" name="Shape 25"/>
          <p:cNvSpPr/>
          <p:nvPr/>
        </p:nvSpPr>
        <p:spPr>
          <a:xfrm>
            <a:off x="5943600" y="1417320"/>
            <a:ext cx="137160" cy="73152"/>
          </a:xfrm>
          <a:prstGeom prst="rect">
            <a:avLst/>
          </a:prstGeom>
          <a:solidFill>
            <a:srgbClr val="64748B"/>
          </a:solidFill>
          <a:ln/>
        </p:spPr>
        <p:txBody>
          <a:bodyPr/>
          <a:lstStyle/>
          <a:p>
            <a:endParaRPr lang="en-US"/>
          </a:p>
        </p:txBody>
      </p:sp>
      <p:sp>
        <p:nvSpPr>
          <p:cNvPr id="28" name="Shape 26"/>
          <p:cNvSpPr/>
          <p:nvPr/>
        </p:nvSpPr>
        <p:spPr>
          <a:xfrm>
            <a:off x="6080760" y="868680"/>
            <a:ext cx="1325880" cy="1234440"/>
          </a:xfrm>
          <a:prstGeom prst="rect">
            <a:avLst/>
          </a:prstGeom>
          <a:solidFill>
            <a:srgbClr val="D97706"/>
          </a:solidFill>
          <a:ln/>
          <a:effectLst>
            <a:outerShdw blurRad="101600" dist="25400" dir="8100000" algn="bl" rotWithShape="0">
              <a:srgbClr val="000000">
                <a:alpha val="12000"/>
              </a:srgbClr>
            </a:outerShdw>
          </a:effectLst>
        </p:spPr>
        <p:txBody>
          <a:bodyPr/>
          <a:lstStyle/>
          <a:p>
            <a:endParaRPr lang="en-US"/>
          </a:p>
        </p:txBody>
      </p:sp>
      <p:sp>
        <p:nvSpPr>
          <p:cNvPr id="29" name="Shape 27"/>
          <p:cNvSpPr/>
          <p:nvPr/>
        </p:nvSpPr>
        <p:spPr>
          <a:xfrm>
            <a:off x="6583680" y="892293"/>
            <a:ext cx="347472" cy="347472"/>
          </a:xfrm>
          <a:prstGeom prst="ellipse">
            <a:avLst/>
          </a:prstGeom>
          <a:solidFill>
            <a:srgbClr val="FFFFFF"/>
          </a:solidFill>
          <a:ln/>
        </p:spPr>
        <p:txBody>
          <a:bodyPr/>
          <a:lstStyle/>
          <a:p>
            <a:endParaRPr lang="en-US"/>
          </a:p>
        </p:txBody>
      </p:sp>
      <p:sp>
        <p:nvSpPr>
          <p:cNvPr id="30" name="Text 28"/>
          <p:cNvSpPr/>
          <p:nvPr/>
        </p:nvSpPr>
        <p:spPr>
          <a:xfrm>
            <a:off x="6583680" y="875538"/>
            <a:ext cx="347472" cy="347472"/>
          </a:xfrm>
          <a:prstGeom prst="rect">
            <a:avLst/>
          </a:prstGeom>
          <a:noFill/>
          <a:ln/>
        </p:spPr>
        <p:txBody>
          <a:bodyPr wrap="square" lIns="0" tIns="0" rIns="0" bIns="0" rtlCol="0" anchor="ctr"/>
          <a:lstStyle/>
          <a:p>
            <a:pPr marL="0" indent="0" algn="ctr">
              <a:buNone/>
            </a:pPr>
            <a:r>
              <a:rPr lang="en-US" sz="1100" b="1" dirty="0">
                <a:solidFill>
                  <a:srgbClr val="D97706"/>
                </a:solidFill>
                <a:latin typeface="Calibri" pitchFamily="34" charset="0"/>
                <a:ea typeface="Calibri" pitchFamily="34" charset="-122"/>
                <a:cs typeface="Calibri" pitchFamily="34" charset="-120"/>
              </a:rPr>
              <a:t>5</a:t>
            </a:r>
            <a:endParaRPr lang="en-US" sz="1100" dirty="0"/>
          </a:p>
        </p:txBody>
      </p:sp>
      <p:sp>
        <p:nvSpPr>
          <p:cNvPr id="31" name="Text 29"/>
          <p:cNvSpPr/>
          <p:nvPr/>
        </p:nvSpPr>
        <p:spPr>
          <a:xfrm>
            <a:off x="6094476" y="1202436"/>
            <a:ext cx="1325880" cy="411480"/>
          </a:xfrm>
          <a:prstGeom prst="rect">
            <a:avLst/>
          </a:prstGeom>
          <a:noFill/>
          <a:ln/>
        </p:spPr>
        <p:txBody>
          <a:bodyPr wrap="square"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running→run</a:t>
            </a:r>
            <a:endParaRPr lang="en-US" sz="1100" dirty="0"/>
          </a:p>
        </p:txBody>
      </p:sp>
      <p:sp>
        <p:nvSpPr>
          <p:cNvPr id="32" name="Text 30"/>
          <p:cNvSpPr/>
          <p:nvPr/>
        </p:nvSpPr>
        <p:spPr>
          <a:xfrm>
            <a:off x="6080760" y="1389888"/>
            <a:ext cx="1325880" cy="64008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Stemming</a:t>
            </a:r>
            <a:endParaRPr lang="en-US" sz="1000" dirty="0"/>
          </a:p>
        </p:txBody>
      </p:sp>
      <p:sp>
        <p:nvSpPr>
          <p:cNvPr id="33" name="Shape 31"/>
          <p:cNvSpPr/>
          <p:nvPr/>
        </p:nvSpPr>
        <p:spPr>
          <a:xfrm>
            <a:off x="7406640" y="1417320"/>
            <a:ext cx="137160" cy="73152"/>
          </a:xfrm>
          <a:prstGeom prst="rect">
            <a:avLst/>
          </a:prstGeom>
          <a:solidFill>
            <a:srgbClr val="64748B"/>
          </a:solidFill>
          <a:ln/>
        </p:spPr>
        <p:txBody>
          <a:bodyPr/>
          <a:lstStyle/>
          <a:p>
            <a:endParaRPr lang="en-US"/>
          </a:p>
        </p:txBody>
      </p:sp>
      <p:sp>
        <p:nvSpPr>
          <p:cNvPr id="34" name="Shape 32"/>
          <p:cNvSpPr/>
          <p:nvPr/>
        </p:nvSpPr>
        <p:spPr>
          <a:xfrm>
            <a:off x="7543800" y="868680"/>
            <a:ext cx="1325880" cy="1234440"/>
          </a:xfrm>
          <a:prstGeom prst="rect">
            <a:avLst/>
          </a:prstGeom>
          <a:solidFill>
            <a:srgbClr val="DC2626"/>
          </a:solidFill>
          <a:ln/>
          <a:effectLst>
            <a:outerShdw blurRad="101600" dist="25400" dir="8100000" algn="bl" rotWithShape="0">
              <a:srgbClr val="000000">
                <a:alpha val="12000"/>
              </a:srgbClr>
            </a:outerShdw>
          </a:effectLst>
        </p:spPr>
        <p:txBody>
          <a:bodyPr/>
          <a:lstStyle/>
          <a:p>
            <a:endParaRPr lang="en-US"/>
          </a:p>
        </p:txBody>
      </p:sp>
      <p:sp>
        <p:nvSpPr>
          <p:cNvPr id="35" name="Shape 33"/>
          <p:cNvSpPr/>
          <p:nvPr/>
        </p:nvSpPr>
        <p:spPr>
          <a:xfrm>
            <a:off x="8046720" y="915500"/>
            <a:ext cx="347472" cy="347472"/>
          </a:xfrm>
          <a:prstGeom prst="ellipse">
            <a:avLst/>
          </a:prstGeom>
          <a:solidFill>
            <a:srgbClr val="FFFFFF"/>
          </a:solidFill>
          <a:ln/>
        </p:spPr>
        <p:txBody>
          <a:bodyPr/>
          <a:lstStyle/>
          <a:p>
            <a:endParaRPr lang="en-US"/>
          </a:p>
        </p:txBody>
      </p:sp>
      <p:sp>
        <p:nvSpPr>
          <p:cNvPr id="36" name="Text 34"/>
          <p:cNvSpPr/>
          <p:nvPr/>
        </p:nvSpPr>
        <p:spPr>
          <a:xfrm>
            <a:off x="8046720" y="920651"/>
            <a:ext cx="347472" cy="347472"/>
          </a:xfrm>
          <a:prstGeom prst="rect">
            <a:avLst/>
          </a:prstGeom>
          <a:noFill/>
          <a:ln/>
        </p:spPr>
        <p:txBody>
          <a:bodyPr wrap="square" lIns="0" tIns="0" rIns="0" bIns="0" rtlCol="0" anchor="ctr"/>
          <a:lstStyle/>
          <a:p>
            <a:pPr marL="0" indent="0" algn="ctr">
              <a:buNone/>
            </a:pPr>
            <a:r>
              <a:rPr lang="en-US" sz="1100" b="1" dirty="0">
                <a:solidFill>
                  <a:srgbClr val="DC2626"/>
                </a:solidFill>
                <a:latin typeface="Calibri" pitchFamily="34" charset="0"/>
                <a:ea typeface="Calibri" pitchFamily="34" charset="-122"/>
                <a:cs typeface="Calibri" pitchFamily="34" charset="-120"/>
              </a:rPr>
              <a:t>6</a:t>
            </a:r>
            <a:endParaRPr lang="en-US" sz="1100" dirty="0"/>
          </a:p>
        </p:txBody>
      </p:sp>
      <p:sp>
        <p:nvSpPr>
          <p:cNvPr id="37" name="Text 35"/>
          <p:cNvSpPr/>
          <p:nvPr/>
        </p:nvSpPr>
        <p:spPr>
          <a:xfrm>
            <a:off x="7543800" y="1216152"/>
            <a:ext cx="1325880" cy="411480"/>
          </a:xfrm>
          <a:prstGeom prst="rect">
            <a:avLst/>
          </a:prstGeom>
          <a:noFill/>
          <a:ln/>
        </p:spPr>
        <p:txBody>
          <a:bodyPr wrap="square" rtlCol="0" anchor="ctr"/>
          <a:lstStyle/>
          <a:p>
            <a:pPr marL="0" indent="0" algn="ctr">
              <a:buNone/>
            </a:pPr>
            <a:r>
              <a:rPr lang="en-US" sz="1100" b="1" dirty="0">
                <a:solidFill>
                  <a:srgbClr val="FFFFFF"/>
                </a:solidFill>
                <a:latin typeface="Consolas" pitchFamily="34" charset="0"/>
                <a:ea typeface="Consolas" pitchFamily="34" charset="-122"/>
                <a:cs typeface="Consolas" pitchFamily="34" charset="-120"/>
              </a:rPr>
              <a:t>texte→vecteur</a:t>
            </a:r>
            <a:endParaRPr lang="en-US" sz="1100" dirty="0"/>
          </a:p>
        </p:txBody>
      </p:sp>
      <p:sp>
        <p:nvSpPr>
          <p:cNvPr id="38" name="Text 36"/>
          <p:cNvSpPr/>
          <p:nvPr/>
        </p:nvSpPr>
        <p:spPr>
          <a:xfrm>
            <a:off x="7543800" y="1389888"/>
            <a:ext cx="1325880" cy="640080"/>
          </a:xfrm>
          <a:prstGeom prst="rect">
            <a:avLst/>
          </a:prstGeom>
          <a:noFill/>
          <a:ln/>
        </p:spPr>
        <p:txBody>
          <a:bodyPr wrap="square" rtlCol="0" anchor="ctr"/>
          <a:lstStyle/>
          <a:p>
            <a:pPr marL="0" indent="0" algn="ctr">
              <a:buNone/>
            </a:pPr>
            <a:r>
              <a:rPr lang="en-US" sz="1000" dirty="0">
                <a:solidFill>
                  <a:srgbClr val="E2E8F0"/>
                </a:solidFill>
                <a:latin typeface="Calibri" pitchFamily="34" charset="0"/>
                <a:ea typeface="Calibri" pitchFamily="34" charset="-122"/>
                <a:cs typeface="Calibri" pitchFamily="34" charset="-120"/>
              </a:rPr>
              <a:t>TF-IDF</a:t>
            </a:r>
            <a:endParaRPr lang="en-US" sz="1000" dirty="0"/>
          </a:p>
        </p:txBody>
      </p:sp>
      <p:sp>
        <p:nvSpPr>
          <p:cNvPr id="39" name="Shape 37"/>
          <p:cNvSpPr/>
          <p:nvPr/>
        </p:nvSpPr>
        <p:spPr>
          <a:xfrm>
            <a:off x="228600" y="2240280"/>
            <a:ext cx="8686800" cy="2606040"/>
          </a:xfrm>
          <a:prstGeom prst="rect">
            <a:avLst/>
          </a:prstGeom>
          <a:solidFill>
            <a:srgbClr val="1E2A3A"/>
          </a:solidFill>
          <a:ln/>
          <a:effectLst>
            <a:outerShdw blurRad="101600" dist="25400" dir="8100000" algn="bl" rotWithShape="0">
              <a:srgbClr val="000000">
                <a:alpha val="12000"/>
              </a:srgbClr>
            </a:outerShdw>
          </a:effectLst>
        </p:spPr>
        <p:txBody>
          <a:bodyPr/>
          <a:lstStyle/>
          <a:p>
            <a:endParaRPr lang="en-US"/>
          </a:p>
        </p:txBody>
      </p:sp>
      <p:sp>
        <p:nvSpPr>
          <p:cNvPr id="40" name="Shape 38"/>
          <p:cNvSpPr/>
          <p:nvPr/>
        </p:nvSpPr>
        <p:spPr>
          <a:xfrm>
            <a:off x="228600" y="2240280"/>
            <a:ext cx="8686800" cy="347472"/>
          </a:xfrm>
          <a:prstGeom prst="rect">
            <a:avLst/>
          </a:prstGeom>
          <a:solidFill>
            <a:srgbClr val="0D9488"/>
          </a:solidFill>
          <a:ln/>
        </p:spPr>
        <p:txBody>
          <a:bodyPr/>
          <a:lstStyle/>
          <a:p>
            <a:endParaRPr lang="en-US"/>
          </a:p>
        </p:txBody>
      </p:sp>
      <p:sp>
        <p:nvSpPr>
          <p:cNvPr id="41" name="Text 39"/>
          <p:cNvSpPr/>
          <p:nvPr/>
        </p:nvSpPr>
        <p:spPr>
          <a:xfrm>
            <a:off x="320040" y="2240280"/>
            <a:ext cx="850392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Exemple Avant / Après Prétraitement</a:t>
            </a:r>
            <a:endParaRPr lang="en-US" sz="1200" dirty="0"/>
          </a:p>
        </p:txBody>
      </p:sp>
      <p:sp>
        <p:nvSpPr>
          <p:cNvPr id="42" name="Text 40"/>
          <p:cNvSpPr/>
          <p:nvPr/>
        </p:nvSpPr>
        <p:spPr>
          <a:xfrm>
            <a:off x="365760" y="2670048"/>
            <a:ext cx="914400" cy="274320"/>
          </a:xfrm>
          <a:prstGeom prst="rect">
            <a:avLst/>
          </a:prstGeom>
          <a:noFill/>
          <a:ln/>
        </p:spPr>
        <p:txBody>
          <a:bodyPr wrap="square"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AVANT :</a:t>
            </a:r>
            <a:endParaRPr lang="en-US" sz="1000" dirty="0"/>
          </a:p>
        </p:txBody>
      </p:sp>
      <p:sp>
        <p:nvSpPr>
          <p:cNvPr id="43" name="Text 41"/>
          <p:cNvSpPr/>
          <p:nvPr/>
        </p:nvSpPr>
        <p:spPr>
          <a:xfrm>
            <a:off x="1280160" y="2670048"/>
            <a:ext cx="7406640" cy="438912"/>
          </a:xfrm>
          <a:prstGeom prst="rect">
            <a:avLst/>
          </a:prstGeom>
          <a:noFill/>
          <a:ln/>
        </p:spPr>
        <p:txBody>
          <a:bodyPr wrap="square" rtlCol="0" anchor="ctr"/>
          <a:lstStyle/>
          <a:p>
            <a:pPr marL="0" indent="0">
              <a:buNone/>
            </a:pPr>
            <a:r>
              <a:rPr lang="en-US" sz="900" dirty="0">
                <a:solidFill>
                  <a:srgbClr val="93C5FD"/>
                </a:solidFill>
                <a:latin typeface="Consolas" pitchFamily="34" charset="0"/>
                <a:ea typeface="Consolas" pitchFamily="34" charset="-122"/>
                <a:cs typeface="Consolas" pitchFamily="34" charset="-120"/>
              </a:rPr>
              <a:t>"Stuning even for the non-gamer: This sound track was beautiful! It paints the senery in your mind so well I would recomend it even to people who hate vid. game music!"</a:t>
            </a:r>
            <a:endParaRPr lang="en-US" sz="900" dirty="0"/>
          </a:p>
        </p:txBody>
      </p:sp>
      <p:sp>
        <p:nvSpPr>
          <p:cNvPr id="44" name="Shape 42"/>
          <p:cNvSpPr/>
          <p:nvPr/>
        </p:nvSpPr>
        <p:spPr>
          <a:xfrm>
            <a:off x="365760" y="3172968"/>
            <a:ext cx="8321040" cy="18288"/>
          </a:xfrm>
          <a:prstGeom prst="rect">
            <a:avLst/>
          </a:prstGeom>
          <a:solidFill>
            <a:srgbClr val="334155"/>
          </a:solidFill>
          <a:ln/>
        </p:spPr>
        <p:txBody>
          <a:bodyPr/>
          <a:lstStyle/>
          <a:p>
            <a:endParaRPr lang="en-US"/>
          </a:p>
        </p:txBody>
      </p:sp>
      <p:sp>
        <p:nvSpPr>
          <p:cNvPr id="45" name="Text 43"/>
          <p:cNvSpPr/>
          <p:nvPr/>
        </p:nvSpPr>
        <p:spPr>
          <a:xfrm>
            <a:off x="365760" y="3246120"/>
            <a:ext cx="914400" cy="274320"/>
          </a:xfrm>
          <a:prstGeom prst="rect">
            <a:avLst/>
          </a:prstGeom>
          <a:noFill/>
          <a:ln/>
        </p:spPr>
        <p:txBody>
          <a:bodyPr wrap="square"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APRÈS :</a:t>
            </a:r>
            <a:endParaRPr lang="en-US" sz="1000" dirty="0"/>
          </a:p>
        </p:txBody>
      </p:sp>
      <p:sp>
        <p:nvSpPr>
          <p:cNvPr id="46" name="Text 44"/>
          <p:cNvSpPr/>
          <p:nvPr/>
        </p:nvSpPr>
        <p:spPr>
          <a:xfrm>
            <a:off x="1280160" y="3246120"/>
            <a:ext cx="7406640" cy="438912"/>
          </a:xfrm>
          <a:prstGeom prst="rect">
            <a:avLst/>
          </a:prstGeom>
          <a:noFill/>
          <a:ln/>
        </p:spPr>
        <p:txBody>
          <a:bodyPr wrap="square" rtlCol="0" anchor="ctr"/>
          <a:lstStyle/>
          <a:p>
            <a:pPr marL="0" indent="0">
              <a:buNone/>
            </a:pPr>
            <a:r>
              <a:rPr lang="en-US" sz="900" dirty="0">
                <a:solidFill>
                  <a:srgbClr val="86EFAC"/>
                </a:solidFill>
                <a:latin typeface="Consolas" pitchFamily="34" charset="0"/>
                <a:ea typeface="Consolas" pitchFamily="34" charset="-122"/>
                <a:cs typeface="Consolas" pitchFamily="34" charset="-120"/>
              </a:rPr>
              <a:t>"stune nongam sound track beauti paint seneri mind well would recomend even peopl hate vid game music play game chrono cross game ever play best music back away crude keyboard..."</a:t>
            </a:r>
            <a:endParaRPr lang="en-US" sz="900" dirty="0"/>
          </a:p>
        </p:txBody>
      </p:sp>
      <p:sp>
        <p:nvSpPr>
          <p:cNvPr id="47" name="Shape 45"/>
          <p:cNvSpPr/>
          <p:nvPr/>
        </p:nvSpPr>
        <p:spPr>
          <a:xfrm>
            <a:off x="228600" y="4681728"/>
            <a:ext cx="8686800" cy="292608"/>
          </a:xfrm>
          <a:prstGeom prst="rect">
            <a:avLst/>
          </a:prstGeom>
          <a:solidFill>
            <a:srgbClr val="E8F0FE"/>
          </a:solidFill>
          <a:ln/>
        </p:spPr>
        <p:txBody>
          <a:bodyPr/>
          <a:lstStyle/>
          <a:p>
            <a:endParaRPr lang="en-US"/>
          </a:p>
        </p:txBody>
      </p:sp>
      <p:sp>
        <p:nvSpPr>
          <p:cNvPr id="48" name="Text 46"/>
          <p:cNvSpPr/>
          <p:nvPr/>
        </p:nvSpPr>
        <p:spPr>
          <a:xfrm>
            <a:off x="274320" y="4681728"/>
            <a:ext cx="8595360" cy="292608"/>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 Train: 70.9 min  (3 600 000 lignes)     |     Test: 6.6 min  (400 000 lignes)     |     Données sauvegardées → train_clean.csv, test_clean.csv</a:t>
            </a:r>
            <a:endParaRPr lang="en-US" sz="900" dirty="0"/>
          </a:p>
        </p:txBody>
      </p:sp>
      <p:sp>
        <p:nvSpPr>
          <p:cNvPr id="50" name="TextBox 49">
            <a:extLst>
              <a:ext uri="{FF2B5EF4-FFF2-40B4-BE49-F238E27FC236}">
                <a16:creationId xmlns:a16="http://schemas.microsoft.com/office/drawing/2014/main" id="{9F9D02F7-191A-7E28-9B4A-2594A174305B}"/>
              </a:ext>
            </a:extLst>
          </p:cNvPr>
          <p:cNvSpPr txBox="1"/>
          <p:nvPr/>
        </p:nvSpPr>
        <p:spPr>
          <a:xfrm>
            <a:off x="8842314" y="4774168"/>
            <a:ext cx="301686" cy="369332"/>
          </a:xfrm>
          <a:prstGeom prst="rect">
            <a:avLst/>
          </a:prstGeom>
          <a:noFill/>
        </p:spPr>
        <p:txBody>
          <a:bodyPr wrap="none" rtlCol="0">
            <a:spAutoFit/>
          </a:bodyPr>
          <a:lstStyle/>
          <a:p>
            <a:r>
              <a:rPr lang="en-US" dirty="0"/>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a:p>
        </p:txBody>
      </p:sp>
      <p:sp>
        <p:nvSpPr>
          <p:cNvPr id="3" name="Text 1"/>
          <p:cNvSpPr/>
          <p:nvPr/>
        </p:nvSpPr>
        <p:spPr>
          <a:xfrm>
            <a:off x="457200" y="137160"/>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03 · Vectorisation TF-IDF</a:t>
            </a:r>
            <a:endParaRPr lang="en-US" sz="2200" dirty="0"/>
          </a:p>
        </p:txBody>
      </p:sp>
      <p:sp>
        <p:nvSpPr>
          <p:cNvPr id="4" name="Shape 2"/>
          <p:cNvSpPr/>
          <p:nvPr/>
        </p:nvSpPr>
        <p:spPr>
          <a:xfrm>
            <a:off x="228600" y="914400"/>
            <a:ext cx="4114800" cy="1828800"/>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228600" y="914400"/>
            <a:ext cx="4114800" cy="347472"/>
          </a:xfrm>
          <a:prstGeom prst="rect">
            <a:avLst/>
          </a:prstGeom>
          <a:solidFill>
            <a:srgbClr val="1565C0"/>
          </a:solidFill>
          <a:ln/>
        </p:spPr>
        <p:txBody>
          <a:bodyPr/>
          <a:lstStyle/>
          <a:p>
            <a:endParaRPr lang="en-US"/>
          </a:p>
        </p:txBody>
      </p:sp>
      <p:sp>
        <p:nvSpPr>
          <p:cNvPr id="6" name="Text 4"/>
          <p:cNvSpPr/>
          <p:nvPr/>
        </p:nvSpPr>
        <p:spPr>
          <a:xfrm>
            <a:off x="320040" y="914400"/>
            <a:ext cx="39319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Formule TF-IDF</a:t>
            </a:r>
            <a:endParaRPr lang="en-US" sz="1300" dirty="0"/>
          </a:p>
        </p:txBody>
      </p:sp>
      <p:sp>
        <p:nvSpPr>
          <p:cNvPr id="7" name="Text 5"/>
          <p:cNvSpPr/>
          <p:nvPr/>
        </p:nvSpPr>
        <p:spPr>
          <a:xfrm>
            <a:off x="320040" y="1353312"/>
            <a:ext cx="3931920" cy="365760"/>
          </a:xfrm>
          <a:prstGeom prst="rect">
            <a:avLst/>
          </a:prstGeom>
          <a:noFill/>
          <a:ln/>
        </p:spPr>
        <p:txBody>
          <a:bodyPr wrap="square" rtlCol="0" anchor="ctr"/>
          <a:lstStyle/>
          <a:p>
            <a:pPr marL="0" indent="0" algn="ctr">
              <a:buNone/>
            </a:pPr>
            <a:r>
              <a:rPr lang="en-US" sz="1400" b="1" dirty="0">
                <a:solidFill>
                  <a:srgbClr val="1565C0"/>
                </a:solidFill>
                <a:latin typeface="Consolas" pitchFamily="34" charset="0"/>
                <a:ea typeface="Consolas" pitchFamily="34" charset="-122"/>
                <a:cs typeface="Consolas" pitchFamily="34" charset="-120"/>
              </a:rPr>
              <a:t>TF-IDF(t, d) = TF(t, d) × IDF(t)</a:t>
            </a:r>
            <a:endParaRPr lang="en-US" sz="1400" dirty="0"/>
          </a:p>
        </p:txBody>
      </p:sp>
      <p:sp>
        <p:nvSpPr>
          <p:cNvPr id="8" name="Text 6"/>
          <p:cNvSpPr/>
          <p:nvPr/>
        </p:nvSpPr>
        <p:spPr>
          <a:xfrm>
            <a:off x="320040" y="1755648"/>
            <a:ext cx="3931920" cy="822960"/>
          </a:xfrm>
          <a:prstGeom prst="rect">
            <a:avLst/>
          </a:prstGeom>
          <a:noFill/>
          <a:ln/>
        </p:spPr>
        <p:txBody>
          <a:bodyPr wrap="square"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TF(t,d) </a:t>
            </a:r>
            <a:r>
              <a:rPr lang="en-US" sz="1000" dirty="0">
                <a:solidFill>
                  <a:srgbClr val="1E293B"/>
                </a:solidFill>
                <a:latin typeface="Calibri" pitchFamily="34" charset="0"/>
                <a:ea typeface="Calibri" pitchFamily="34" charset="-122"/>
                <a:cs typeface="Calibri" pitchFamily="34" charset="-120"/>
              </a:rPr>
              <a:t>= fréquence du terme dans le doc
</a:t>
            </a:r>
            <a:r>
              <a:rPr lang="en-US" sz="1000" b="1" dirty="0">
                <a:solidFill>
                  <a:srgbClr val="F59E0B"/>
                </a:solidFill>
                <a:latin typeface="Calibri" pitchFamily="34" charset="0"/>
                <a:ea typeface="Calibri" pitchFamily="34" charset="-122"/>
                <a:cs typeface="Calibri" pitchFamily="34" charset="-120"/>
              </a:rPr>
              <a:t>IDF(t) </a:t>
            </a:r>
            <a:r>
              <a:rPr lang="en-US" sz="1000" dirty="0">
                <a:solidFill>
                  <a:srgbClr val="1E293B"/>
                </a:solidFill>
                <a:latin typeface="Calibri" pitchFamily="34" charset="0"/>
                <a:ea typeface="Calibri" pitchFamily="34" charset="-122"/>
                <a:cs typeface="Calibri" pitchFamily="34" charset="-120"/>
              </a:rPr>
              <a:t>= log(N / df(t))  →  rareté globale</a:t>
            </a:r>
            <a:endParaRPr lang="en-US" sz="1000" dirty="0"/>
          </a:p>
        </p:txBody>
      </p:sp>
      <p:sp>
        <p:nvSpPr>
          <p:cNvPr id="9" name="Shape 7"/>
          <p:cNvSpPr/>
          <p:nvPr/>
        </p:nvSpPr>
        <p:spPr>
          <a:xfrm>
            <a:off x="4572000" y="914400"/>
            <a:ext cx="4297680" cy="1828800"/>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0" name="Shape 8"/>
          <p:cNvSpPr/>
          <p:nvPr/>
        </p:nvSpPr>
        <p:spPr>
          <a:xfrm>
            <a:off x="4572000" y="914400"/>
            <a:ext cx="4297680" cy="347472"/>
          </a:xfrm>
          <a:prstGeom prst="rect">
            <a:avLst/>
          </a:prstGeom>
          <a:solidFill>
            <a:srgbClr val="0D9488"/>
          </a:solidFill>
          <a:ln/>
        </p:spPr>
        <p:txBody>
          <a:bodyPr/>
          <a:lstStyle/>
          <a:p>
            <a:endParaRPr lang="en-US"/>
          </a:p>
        </p:txBody>
      </p:sp>
      <p:sp>
        <p:nvSpPr>
          <p:cNvPr id="11" name="Text 9"/>
          <p:cNvSpPr/>
          <p:nvPr/>
        </p:nvSpPr>
        <p:spPr>
          <a:xfrm>
            <a:off x="4663440" y="914400"/>
            <a:ext cx="411480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Paramètres utilisés</a:t>
            </a:r>
            <a:endParaRPr lang="en-US" sz="1300" dirty="0"/>
          </a:p>
        </p:txBody>
      </p:sp>
      <p:sp>
        <p:nvSpPr>
          <p:cNvPr id="12" name="Shape 10"/>
          <p:cNvSpPr/>
          <p:nvPr/>
        </p:nvSpPr>
        <p:spPr>
          <a:xfrm>
            <a:off x="4663440" y="1353312"/>
            <a:ext cx="1371600" cy="274320"/>
          </a:xfrm>
          <a:prstGeom prst="rect">
            <a:avLst/>
          </a:prstGeom>
          <a:solidFill>
            <a:srgbClr val="1565C0"/>
          </a:solidFill>
          <a:ln/>
        </p:spPr>
        <p:txBody>
          <a:bodyPr/>
          <a:lstStyle/>
          <a:p>
            <a:endParaRPr lang="en-US"/>
          </a:p>
        </p:txBody>
      </p:sp>
      <p:sp>
        <p:nvSpPr>
          <p:cNvPr id="13" name="Text 11"/>
          <p:cNvSpPr/>
          <p:nvPr/>
        </p:nvSpPr>
        <p:spPr>
          <a:xfrm>
            <a:off x="4663440" y="1353312"/>
            <a:ext cx="137160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onsolas" pitchFamily="34" charset="0"/>
                <a:ea typeface="Consolas" pitchFamily="34" charset="-122"/>
                <a:cs typeface="Consolas" pitchFamily="34" charset="-120"/>
              </a:rPr>
              <a:t>max_features</a:t>
            </a:r>
            <a:endParaRPr lang="en-US" sz="850" dirty="0"/>
          </a:p>
        </p:txBody>
      </p:sp>
      <p:sp>
        <p:nvSpPr>
          <p:cNvPr id="14" name="Shape 12"/>
          <p:cNvSpPr/>
          <p:nvPr/>
        </p:nvSpPr>
        <p:spPr>
          <a:xfrm>
            <a:off x="6080760" y="1353312"/>
            <a:ext cx="548640" cy="274320"/>
          </a:xfrm>
          <a:prstGeom prst="rect">
            <a:avLst/>
          </a:prstGeom>
          <a:solidFill>
            <a:srgbClr val="F59E0B"/>
          </a:solidFill>
          <a:ln/>
        </p:spPr>
        <p:txBody>
          <a:bodyPr/>
          <a:lstStyle/>
          <a:p>
            <a:endParaRPr lang="en-US"/>
          </a:p>
        </p:txBody>
      </p:sp>
      <p:sp>
        <p:nvSpPr>
          <p:cNvPr id="15" name="Text 13"/>
          <p:cNvSpPr/>
          <p:nvPr/>
        </p:nvSpPr>
        <p:spPr>
          <a:xfrm>
            <a:off x="6080760" y="1353312"/>
            <a:ext cx="548640" cy="274320"/>
          </a:xfrm>
          <a:prstGeom prst="rect">
            <a:avLst/>
          </a:prstGeom>
          <a:noFill/>
          <a:ln/>
        </p:spPr>
        <p:txBody>
          <a:bodyPr wrap="square" lIns="0" tIns="0" rIns="0" bIns="0" rtlCol="0" anchor="ctr"/>
          <a:lstStyle/>
          <a:p>
            <a:pPr marL="0" indent="0" algn="ctr">
              <a:buNone/>
            </a:pPr>
            <a:r>
              <a:rPr lang="en-US" sz="900" b="1" dirty="0">
                <a:solidFill>
                  <a:srgbClr val="0F2044"/>
                </a:solidFill>
                <a:latin typeface="Consolas" pitchFamily="34" charset="0"/>
                <a:ea typeface="Consolas" pitchFamily="34" charset="-122"/>
                <a:cs typeface="Consolas" pitchFamily="34" charset="-120"/>
              </a:rPr>
              <a:t>50 000 mots</a:t>
            </a:r>
            <a:endParaRPr lang="en-US" sz="900" dirty="0"/>
          </a:p>
        </p:txBody>
      </p:sp>
      <p:sp>
        <p:nvSpPr>
          <p:cNvPr id="16" name="Text 14"/>
          <p:cNvSpPr/>
          <p:nvPr/>
        </p:nvSpPr>
        <p:spPr>
          <a:xfrm>
            <a:off x="6675120" y="1353312"/>
            <a:ext cx="2103120" cy="27432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Top 50k mots les plus importants</a:t>
            </a:r>
            <a:endParaRPr lang="en-US" sz="850" dirty="0"/>
          </a:p>
        </p:txBody>
      </p:sp>
      <p:sp>
        <p:nvSpPr>
          <p:cNvPr id="17" name="Shape 15"/>
          <p:cNvSpPr/>
          <p:nvPr/>
        </p:nvSpPr>
        <p:spPr>
          <a:xfrm>
            <a:off x="4663440" y="1691640"/>
            <a:ext cx="1371600" cy="274320"/>
          </a:xfrm>
          <a:prstGeom prst="rect">
            <a:avLst/>
          </a:prstGeom>
          <a:solidFill>
            <a:srgbClr val="1565C0"/>
          </a:solidFill>
          <a:ln/>
        </p:spPr>
        <p:txBody>
          <a:bodyPr/>
          <a:lstStyle/>
          <a:p>
            <a:endParaRPr lang="en-US"/>
          </a:p>
        </p:txBody>
      </p:sp>
      <p:sp>
        <p:nvSpPr>
          <p:cNvPr id="18" name="Text 16"/>
          <p:cNvSpPr/>
          <p:nvPr/>
        </p:nvSpPr>
        <p:spPr>
          <a:xfrm>
            <a:off x="4663440" y="1691640"/>
            <a:ext cx="137160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onsolas" pitchFamily="34" charset="0"/>
                <a:ea typeface="Consolas" pitchFamily="34" charset="-122"/>
                <a:cs typeface="Consolas" pitchFamily="34" charset="-120"/>
              </a:rPr>
              <a:t>ngram_range</a:t>
            </a:r>
            <a:endParaRPr lang="en-US" sz="850" dirty="0"/>
          </a:p>
        </p:txBody>
      </p:sp>
      <p:sp>
        <p:nvSpPr>
          <p:cNvPr id="19" name="Shape 17"/>
          <p:cNvSpPr/>
          <p:nvPr/>
        </p:nvSpPr>
        <p:spPr>
          <a:xfrm>
            <a:off x="6080760" y="1691640"/>
            <a:ext cx="548640" cy="274320"/>
          </a:xfrm>
          <a:prstGeom prst="rect">
            <a:avLst/>
          </a:prstGeom>
          <a:solidFill>
            <a:srgbClr val="F59E0B"/>
          </a:solidFill>
          <a:ln/>
        </p:spPr>
        <p:txBody>
          <a:bodyPr/>
          <a:lstStyle/>
          <a:p>
            <a:endParaRPr lang="en-US"/>
          </a:p>
        </p:txBody>
      </p:sp>
      <p:sp>
        <p:nvSpPr>
          <p:cNvPr id="20" name="Text 18"/>
          <p:cNvSpPr/>
          <p:nvPr/>
        </p:nvSpPr>
        <p:spPr>
          <a:xfrm>
            <a:off x="6080760" y="1691640"/>
            <a:ext cx="548640" cy="274320"/>
          </a:xfrm>
          <a:prstGeom prst="rect">
            <a:avLst/>
          </a:prstGeom>
          <a:noFill/>
          <a:ln/>
        </p:spPr>
        <p:txBody>
          <a:bodyPr wrap="square" lIns="0" tIns="0" rIns="0" bIns="0" rtlCol="0" anchor="ctr"/>
          <a:lstStyle/>
          <a:p>
            <a:pPr marL="0" indent="0" algn="ctr">
              <a:buNone/>
            </a:pPr>
            <a:r>
              <a:rPr lang="en-US" sz="900" b="1" dirty="0">
                <a:solidFill>
                  <a:srgbClr val="0F2044"/>
                </a:solidFill>
                <a:latin typeface="Consolas" pitchFamily="34" charset="0"/>
                <a:ea typeface="Consolas" pitchFamily="34" charset="-122"/>
                <a:cs typeface="Consolas" pitchFamily="34" charset="-120"/>
              </a:rPr>
              <a:t>(1, 1)</a:t>
            </a:r>
            <a:endParaRPr lang="en-US" sz="900" dirty="0"/>
          </a:p>
        </p:txBody>
      </p:sp>
      <p:sp>
        <p:nvSpPr>
          <p:cNvPr id="21" name="Text 19"/>
          <p:cNvSpPr/>
          <p:nvPr/>
        </p:nvSpPr>
        <p:spPr>
          <a:xfrm>
            <a:off x="6675120" y="1691640"/>
            <a:ext cx="2103120" cy="27432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Unigrammes uniquement</a:t>
            </a:r>
            <a:endParaRPr lang="en-US" sz="850" dirty="0"/>
          </a:p>
        </p:txBody>
      </p:sp>
      <p:sp>
        <p:nvSpPr>
          <p:cNvPr id="22" name="Shape 20"/>
          <p:cNvSpPr/>
          <p:nvPr/>
        </p:nvSpPr>
        <p:spPr>
          <a:xfrm>
            <a:off x="4663440" y="2029968"/>
            <a:ext cx="1371600" cy="274320"/>
          </a:xfrm>
          <a:prstGeom prst="rect">
            <a:avLst/>
          </a:prstGeom>
          <a:solidFill>
            <a:srgbClr val="1565C0"/>
          </a:solidFill>
          <a:ln/>
        </p:spPr>
        <p:txBody>
          <a:bodyPr/>
          <a:lstStyle/>
          <a:p>
            <a:endParaRPr lang="en-US"/>
          </a:p>
        </p:txBody>
      </p:sp>
      <p:sp>
        <p:nvSpPr>
          <p:cNvPr id="23" name="Text 21"/>
          <p:cNvSpPr/>
          <p:nvPr/>
        </p:nvSpPr>
        <p:spPr>
          <a:xfrm>
            <a:off x="4663440" y="2029968"/>
            <a:ext cx="137160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onsolas" pitchFamily="34" charset="0"/>
                <a:ea typeface="Consolas" pitchFamily="34" charset="-122"/>
                <a:cs typeface="Consolas" pitchFamily="34" charset="-120"/>
              </a:rPr>
              <a:t>min_df</a:t>
            </a:r>
            <a:endParaRPr lang="en-US" sz="850" dirty="0"/>
          </a:p>
        </p:txBody>
      </p:sp>
      <p:sp>
        <p:nvSpPr>
          <p:cNvPr id="24" name="Shape 22"/>
          <p:cNvSpPr/>
          <p:nvPr/>
        </p:nvSpPr>
        <p:spPr>
          <a:xfrm>
            <a:off x="6080760" y="2029968"/>
            <a:ext cx="548640" cy="274320"/>
          </a:xfrm>
          <a:prstGeom prst="rect">
            <a:avLst/>
          </a:prstGeom>
          <a:solidFill>
            <a:srgbClr val="F59E0B"/>
          </a:solidFill>
          <a:ln/>
        </p:spPr>
        <p:txBody>
          <a:bodyPr/>
          <a:lstStyle/>
          <a:p>
            <a:endParaRPr lang="en-US"/>
          </a:p>
        </p:txBody>
      </p:sp>
      <p:sp>
        <p:nvSpPr>
          <p:cNvPr id="25" name="Text 23"/>
          <p:cNvSpPr/>
          <p:nvPr/>
        </p:nvSpPr>
        <p:spPr>
          <a:xfrm>
            <a:off x="6080760" y="2029968"/>
            <a:ext cx="548640" cy="274320"/>
          </a:xfrm>
          <a:prstGeom prst="rect">
            <a:avLst/>
          </a:prstGeom>
          <a:noFill/>
          <a:ln/>
        </p:spPr>
        <p:txBody>
          <a:bodyPr wrap="square" lIns="0" tIns="0" rIns="0" bIns="0" rtlCol="0" anchor="ctr"/>
          <a:lstStyle/>
          <a:p>
            <a:pPr marL="0" indent="0" algn="ctr">
              <a:buNone/>
            </a:pPr>
            <a:r>
              <a:rPr lang="en-US" sz="900" b="1" dirty="0">
                <a:solidFill>
                  <a:srgbClr val="0F2044"/>
                </a:solidFill>
                <a:latin typeface="Consolas" pitchFamily="34" charset="0"/>
                <a:ea typeface="Consolas" pitchFamily="34" charset="-122"/>
                <a:cs typeface="Consolas" pitchFamily="34" charset="-120"/>
              </a:rPr>
              <a:t>5</a:t>
            </a:r>
            <a:endParaRPr lang="en-US" sz="900" dirty="0"/>
          </a:p>
        </p:txBody>
      </p:sp>
      <p:sp>
        <p:nvSpPr>
          <p:cNvPr id="26" name="Text 24"/>
          <p:cNvSpPr/>
          <p:nvPr/>
        </p:nvSpPr>
        <p:spPr>
          <a:xfrm>
            <a:off x="6675120" y="2029968"/>
            <a:ext cx="2103120" cy="27432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Mot présent dans ≥ 5 documents</a:t>
            </a:r>
            <a:endParaRPr lang="en-US" sz="850" dirty="0"/>
          </a:p>
        </p:txBody>
      </p:sp>
      <p:sp>
        <p:nvSpPr>
          <p:cNvPr id="27" name="Shape 25"/>
          <p:cNvSpPr/>
          <p:nvPr/>
        </p:nvSpPr>
        <p:spPr>
          <a:xfrm>
            <a:off x="4663440" y="2368296"/>
            <a:ext cx="1371600" cy="274320"/>
          </a:xfrm>
          <a:prstGeom prst="rect">
            <a:avLst/>
          </a:prstGeom>
          <a:solidFill>
            <a:srgbClr val="1565C0"/>
          </a:solidFill>
          <a:ln/>
        </p:spPr>
        <p:txBody>
          <a:bodyPr/>
          <a:lstStyle/>
          <a:p>
            <a:endParaRPr lang="en-US"/>
          </a:p>
        </p:txBody>
      </p:sp>
      <p:sp>
        <p:nvSpPr>
          <p:cNvPr id="28" name="Text 26"/>
          <p:cNvSpPr/>
          <p:nvPr/>
        </p:nvSpPr>
        <p:spPr>
          <a:xfrm>
            <a:off x="4663440" y="2368296"/>
            <a:ext cx="137160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onsolas" pitchFamily="34" charset="0"/>
                <a:ea typeface="Consolas" pitchFamily="34" charset="-122"/>
                <a:cs typeface="Consolas" pitchFamily="34" charset="-120"/>
              </a:rPr>
              <a:t>max_df</a:t>
            </a:r>
            <a:endParaRPr lang="en-US" sz="850" dirty="0"/>
          </a:p>
        </p:txBody>
      </p:sp>
      <p:sp>
        <p:nvSpPr>
          <p:cNvPr id="29" name="Shape 27"/>
          <p:cNvSpPr/>
          <p:nvPr/>
        </p:nvSpPr>
        <p:spPr>
          <a:xfrm>
            <a:off x="6080760" y="2368296"/>
            <a:ext cx="548640" cy="274320"/>
          </a:xfrm>
          <a:prstGeom prst="rect">
            <a:avLst/>
          </a:prstGeom>
          <a:solidFill>
            <a:srgbClr val="F59E0B"/>
          </a:solidFill>
          <a:ln/>
        </p:spPr>
        <p:txBody>
          <a:bodyPr/>
          <a:lstStyle/>
          <a:p>
            <a:endParaRPr lang="en-US"/>
          </a:p>
        </p:txBody>
      </p:sp>
      <p:sp>
        <p:nvSpPr>
          <p:cNvPr id="30" name="Text 28"/>
          <p:cNvSpPr/>
          <p:nvPr/>
        </p:nvSpPr>
        <p:spPr>
          <a:xfrm>
            <a:off x="6080760" y="2368296"/>
            <a:ext cx="548640" cy="274320"/>
          </a:xfrm>
          <a:prstGeom prst="rect">
            <a:avLst/>
          </a:prstGeom>
          <a:noFill/>
          <a:ln/>
        </p:spPr>
        <p:txBody>
          <a:bodyPr wrap="square" lIns="0" tIns="0" rIns="0" bIns="0" rtlCol="0" anchor="ctr"/>
          <a:lstStyle/>
          <a:p>
            <a:pPr marL="0" indent="0" algn="ctr">
              <a:buNone/>
            </a:pPr>
            <a:r>
              <a:rPr lang="en-US" sz="900" b="1" dirty="0">
                <a:solidFill>
                  <a:srgbClr val="0F2044"/>
                </a:solidFill>
                <a:latin typeface="Consolas" pitchFamily="34" charset="0"/>
                <a:ea typeface="Consolas" pitchFamily="34" charset="-122"/>
                <a:cs typeface="Consolas" pitchFamily="34" charset="-120"/>
              </a:rPr>
              <a:t>0.95</a:t>
            </a:r>
            <a:endParaRPr lang="en-US" sz="900" dirty="0"/>
          </a:p>
        </p:txBody>
      </p:sp>
      <p:sp>
        <p:nvSpPr>
          <p:cNvPr id="31" name="Text 29"/>
          <p:cNvSpPr/>
          <p:nvPr/>
        </p:nvSpPr>
        <p:spPr>
          <a:xfrm>
            <a:off x="6675120" y="2368296"/>
            <a:ext cx="2103120" cy="274320"/>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Ignore mots trop fréquents (&gt;95%)</a:t>
            </a:r>
            <a:endParaRPr lang="en-US" sz="850" dirty="0"/>
          </a:p>
        </p:txBody>
      </p:sp>
      <p:sp>
        <p:nvSpPr>
          <p:cNvPr id="32" name="Shape 30"/>
          <p:cNvSpPr/>
          <p:nvPr/>
        </p:nvSpPr>
        <p:spPr>
          <a:xfrm>
            <a:off x="228600" y="2880360"/>
            <a:ext cx="8686800" cy="1417320"/>
          </a:xfrm>
          <a:prstGeom prst="rect">
            <a:avLst/>
          </a:prstGeom>
          <a:solidFill>
            <a:srgbClr val="0F2044"/>
          </a:solidFill>
          <a:ln/>
          <a:effectLst>
            <a:outerShdw blurRad="101600" dist="25400" dir="8100000" algn="bl" rotWithShape="0">
              <a:srgbClr val="000000">
                <a:alpha val="12000"/>
              </a:srgbClr>
            </a:outerShdw>
          </a:effectLst>
        </p:spPr>
        <p:txBody>
          <a:bodyPr/>
          <a:lstStyle/>
          <a:p>
            <a:endParaRPr lang="en-US"/>
          </a:p>
        </p:txBody>
      </p:sp>
      <p:sp>
        <p:nvSpPr>
          <p:cNvPr id="33" name="Text 31"/>
          <p:cNvSpPr/>
          <p:nvPr/>
        </p:nvSpPr>
        <p:spPr>
          <a:xfrm>
            <a:off x="411480" y="2926080"/>
            <a:ext cx="8321040" cy="292608"/>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Matrices TF-IDF résultantes</a:t>
            </a:r>
            <a:endParaRPr lang="en-US" sz="1200" dirty="0"/>
          </a:p>
        </p:txBody>
      </p:sp>
      <p:sp>
        <p:nvSpPr>
          <p:cNvPr id="34" name="Shape 32"/>
          <p:cNvSpPr/>
          <p:nvPr/>
        </p:nvSpPr>
        <p:spPr>
          <a:xfrm>
            <a:off x="320040" y="3273552"/>
            <a:ext cx="2011680" cy="914400"/>
          </a:xfrm>
          <a:prstGeom prst="rect">
            <a:avLst/>
          </a:prstGeom>
          <a:solidFill>
            <a:srgbClr val="1565C0">
              <a:alpha val="85000"/>
            </a:srgbClr>
          </a:solidFill>
          <a:ln w="12700">
            <a:solidFill>
              <a:srgbClr val="1565C0"/>
            </a:solidFill>
            <a:prstDash val="solid"/>
          </a:ln>
        </p:spPr>
        <p:txBody>
          <a:bodyPr/>
          <a:lstStyle/>
          <a:p>
            <a:endParaRPr lang="en-US"/>
          </a:p>
        </p:txBody>
      </p:sp>
      <p:sp>
        <p:nvSpPr>
          <p:cNvPr id="35" name="Text 33"/>
          <p:cNvSpPr/>
          <p:nvPr/>
        </p:nvSpPr>
        <p:spPr>
          <a:xfrm>
            <a:off x="320040" y="3291840"/>
            <a:ext cx="201168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X_train</a:t>
            </a:r>
            <a:endParaRPr lang="en-US" sz="1100" dirty="0"/>
          </a:p>
        </p:txBody>
      </p:sp>
      <p:sp>
        <p:nvSpPr>
          <p:cNvPr id="36" name="Text 34"/>
          <p:cNvSpPr/>
          <p:nvPr/>
        </p:nvSpPr>
        <p:spPr>
          <a:xfrm>
            <a:off x="320040" y="3547872"/>
            <a:ext cx="2011680" cy="292608"/>
          </a:xfrm>
          <a:prstGeom prst="rect">
            <a:avLst/>
          </a:prstGeom>
          <a:noFill/>
          <a:ln/>
        </p:spPr>
        <p:txBody>
          <a:bodyPr wrap="square" rtlCol="0" anchor="ctr"/>
          <a:lstStyle/>
          <a:p>
            <a:pPr marL="0" indent="0" algn="ctr">
              <a:buNone/>
            </a:pPr>
            <a:r>
              <a:rPr lang="en-US" sz="1000" b="1" dirty="0">
                <a:solidFill>
                  <a:srgbClr val="F59E0B"/>
                </a:solidFill>
                <a:latin typeface="Consolas" pitchFamily="34" charset="0"/>
                <a:ea typeface="Consolas" pitchFamily="34" charset="-122"/>
                <a:cs typeface="Consolas" pitchFamily="34" charset="-120"/>
              </a:rPr>
              <a:t>3 600 000 × 50 000</a:t>
            </a:r>
            <a:endParaRPr lang="en-US" sz="1000" dirty="0"/>
          </a:p>
        </p:txBody>
      </p:sp>
      <p:sp>
        <p:nvSpPr>
          <p:cNvPr id="37" name="Text 35"/>
          <p:cNvSpPr/>
          <p:nvPr/>
        </p:nvSpPr>
        <p:spPr>
          <a:xfrm>
            <a:off x="320040" y="3840480"/>
            <a:ext cx="2011680" cy="256032"/>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Matrice d'entraînement</a:t>
            </a:r>
            <a:endParaRPr lang="en-US" sz="800" dirty="0"/>
          </a:p>
        </p:txBody>
      </p:sp>
      <p:sp>
        <p:nvSpPr>
          <p:cNvPr id="38" name="Shape 36"/>
          <p:cNvSpPr/>
          <p:nvPr/>
        </p:nvSpPr>
        <p:spPr>
          <a:xfrm>
            <a:off x="2468880" y="3273552"/>
            <a:ext cx="2011680" cy="914400"/>
          </a:xfrm>
          <a:prstGeom prst="rect">
            <a:avLst/>
          </a:prstGeom>
          <a:solidFill>
            <a:srgbClr val="0D9488">
              <a:alpha val="85000"/>
            </a:srgbClr>
          </a:solidFill>
          <a:ln w="12700">
            <a:solidFill>
              <a:srgbClr val="0D9488"/>
            </a:solidFill>
            <a:prstDash val="solid"/>
          </a:ln>
        </p:spPr>
        <p:txBody>
          <a:bodyPr/>
          <a:lstStyle/>
          <a:p>
            <a:endParaRPr lang="en-US"/>
          </a:p>
        </p:txBody>
      </p:sp>
      <p:sp>
        <p:nvSpPr>
          <p:cNvPr id="39" name="Text 37"/>
          <p:cNvSpPr/>
          <p:nvPr/>
        </p:nvSpPr>
        <p:spPr>
          <a:xfrm>
            <a:off x="2468880" y="3291840"/>
            <a:ext cx="201168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X_test</a:t>
            </a:r>
            <a:endParaRPr lang="en-US" sz="1100" dirty="0"/>
          </a:p>
        </p:txBody>
      </p:sp>
      <p:sp>
        <p:nvSpPr>
          <p:cNvPr id="40" name="Text 38"/>
          <p:cNvSpPr/>
          <p:nvPr/>
        </p:nvSpPr>
        <p:spPr>
          <a:xfrm>
            <a:off x="2468880" y="3547872"/>
            <a:ext cx="2011680" cy="292608"/>
          </a:xfrm>
          <a:prstGeom prst="rect">
            <a:avLst/>
          </a:prstGeom>
          <a:noFill/>
          <a:ln/>
        </p:spPr>
        <p:txBody>
          <a:bodyPr wrap="square" rtlCol="0" anchor="ctr"/>
          <a:lstStyle/>
          <a:p>
            <a:pPr marL="0" indent="0" algn="ctr">
              <a:buNone/>
            </a:pPr>
            <a:r>
              <a:rPr lang="en-US" sz="1000" b="1" dirty="0">
                <a:solidFill>
                  <a:srgbClr val="F59E0B"/>
                </a:solidFill>
                <a:latin typeface="Consolas" pitchFamily="34" charset="0"/>
                <a:ea typeface="Consolas" pitchFamily="34" charset="-122"/>
                <a:cs typeface="Consolas" pitchFamily="34" charset="-120"/>
              </a:rPr>
              <a:t>400 000 × 50 000</a:t>
            </a:r>
            <a:endParaRPr lang="en-US" sz="1000" dirty="0"/>
          </a:p>
        </p:txBody>
      </p:sp>
      <p:sp>
        <p:nvSpPr>
          <p:cNvPr id="41" name="Text 39"/>
          <p:cNvSpPr/>
          <p:nvPr/>
        </p:nvSpPr>
        <p:spPr>
          <a:xfrm>
            <a:off x="2468880" y="3840480"/>
            <a:ext cx="2011680" cy="256032"/>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Matrice de test</a:t>
            </a:r>
            <a:endParaRPr lang="en-US" sz="800" dirty="0"/>
          </a:p>
        </p:txBody>
      </p:sp>
      <p:sp>
        <p:nvSpPr>
          <p:cNvPr id="42" name="Shape 40"/>
          <p:cNvSpPr/>
          <p:nvPr/>
        </p:nvSpPr>
        <p:spPr>
          <a:xfrm>
            <a:off x="4617720" y="3273552"/>
            <a:ext cx="2011680" cy="914400"/>
          </a:xfrm>
          <a:prstGeom prst="rect">
            <a:avLst/>
          </a:prstGeom>
          <a:solidFill>
            <a:srgbClr val="15803D">
              <a:alpha val="85000"/>
            </a:srgbClr>
          </a:solidFill>
          <a:ln w="12700">
            <a:solidFill>
              <a:srgbClr val="15803D"/>
            </a:solidFill>
            <a:prstDash val="solid"/>
          </a:ln>
        </p:spPr>
        <p:txBody>
          <a:bodyPr/>
          <a:lstStyle/>
          <a:p>
            <a:endParaRPr lang="en-US"/>
          </a:p>
        </p:txBody>
      </p:sp>
      <p:sp>
        <p:nvSpPr>
          <p:cNvPr id="43" name="Text 41"/>
          <p:cNvSpPr/>
          <p:nvPr/>
        </p:nvSpPr>
        <p:spPr>
          <a:xfrm>
            <a:off x="4617720" y="3291840"/>
            <a:ext cx="201168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Temps fit</a:t>
            </a:r>
            <a:endParaRPr lang="en-US" sz="1100" dirty="0"/>
          </a:p>
        </p:txBody>
      </p:sp>
      <p:sp>
        <p:nvSpPr>
          <p:cNvPr id="44" name="Text 42"/>
          <p:cNvSpPr/>
          <p:nvPr/>
        </p:nvSpPr>
        <p:spPr>
          <a:xfrm>
            <a:off x="4617720" y="3547872"/>
            <a:ext cx="2011680" cy="292608"/>
          </a:xfrm>
          <a:prstGeom prst="rect">
            <a:avLst/>
          </a:prstGeom>
          <a:noFill/>
          <a:ln/>
        </p:spPr>
        <p:txBody>
          <a:bodyPr wrap="square" rtlCol="0" anchor="ctr"/>
          <a:lstStyle/>
          <a:p>
            <a:pPr marL="0" indent="0" algn="ctr">
              <a:buNone/>
            </a:pPr>
            <a:r>
              <a:rPr lang="en-US" sz="1000" b="1" dirty="0">
                <a:solidFill>
                  <a:srgbClr val="F59E0B"/>
                </a:solidFill>
                <a:latin typeface="Consolas" pitchFamily="34" charset="0"/>
                <a:ea typeface="Consolas" pitchFamily="34" charset="-122"/>
                <a:cs typeface="Consolas" pitchFamily="34" charset="-120"/>
              </a:rPr>
              <a:t>2.4 min</a:t>
            </a:r>
            <a:endParaRPr lang="en-US" sz="1000" dirty="0"/>
          </a:p>
        </p:txBody>
      </p:sp>
      <p:sp>
        <p:nvSpPr>
          <p:cNvPr id="45" name="Text 43"/>
          <p:cNvSpPr/>
          <p:nvPr/>
        </p:nvSpPr>
        <p:spPr>
          <a:xfrm>
            <a:off x="4617720" y="3840480"/>
            <a:ext cx="2011680" cy="256032"/>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Ajustement du vectoriseur</a:t>
            </a:r>
            <a:endParaRPr lang="en-US" sz="800" dirty="0"/>
          </a:p>
        </p:txBody>
      </p:sp>
      <p:sp>
        <p:nvSpPr>
          <p:cNvPr id="46" name="Shape 44"/>
          <p:cNvSpPr/>
          <p:nvPr/>
        </p:nvSpPr>
        <p:spPr>
          <a:xfrm>
            <a:off x="6766560" y="3273552"/>
            <a:ext cx="2011680" cy="914400"/>
          </a:xfrm>
          <a:prstGeom prst="rect">
            <a:avLst/>
          </a:prstGeom>
          <a:solidFill>
            <a:srgbClr val="7C3AED">
              <a:alpha val="85000"/>
            </a:srgbClr>
          </a:solidFill>
          <a:ln w="12700">
            <a:solidFill>
              <a:srgbClr val="7C3AED"/>
            </a:solidFill>
            <a:prstDash val="solid"/>
          </a:ln>
        </p:spPr>
        <p:txBody>
          <a:bodyPr/>
          <a:lstStyle/>
          <a:p>
            <a:endParaRPr lang="en-US"/>
          </a:p>
        </p:txBody>
      </p:sp>
      <p:sp>
        <p:nvSpPr>
          <p:cNvPr id="47" name="Text 45"/>
          <p:cNvSpPr/>
          <p:nvPr/>
        </p:nvSpPr>
        <p:spPr>
          <a:xfrm>
            <a:off x="6766560" y="3291840"/>
            <a:ext cx="2011680" cy="2560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Fichiers</a:t>
            </a:r>
            <a:endParaRPr lang="en-US" sz="1100" dirty="0"/>
          </a:p>
        </p:txBody>
      </p:sp>
      <p:sp>
        <p:nvSpPr>
          <p:cNvPr id="48" name="Text 46"/>
          <p:cNvSpPr/>
          <p:nvPr/>
        </p:nvSpPr>
        <p:spPr>
          <a:xfrm>
            <a:off x="6766560" y="3547872"/>
            <a:ext cx="2011680" cy="292608"/>
          </a:xfrm>
          <a:prstGeom prst="rect">
            <a:avLst/>
          </a:prstGeom>
          <a:noFill/>
          <a:ln/>
        </p:spPr>
        <p:txBody>
          <a:bodyPr wrap="square" rtlCol="0" anchor="ctr"/>
          <a:lstStyle/>
          <a:p>
            <a:pPr marL="0" indent="0" algn="ctr">
              <a:buNone/>
            </a:pPr>
            <a:r>
              <a:rPr lang="en-US" sz="1000" b="1" dirty="0">
                <a:solidFill>
                  <a:srgbClr val="F59E0B"/>
                </a:solidFill>
                <a:latin typeface="Consolas" pitchFamily="34" charset="0"/>
                <a:ea typeface="Consolas" pitchFamily="34" charset="-122"/>
                <a:cs typeface="Consolas" pitchFamily="34" charset="-120"/>
              </a:rPr>
              <a:t>.npz (sparse)</a:t>
            </a:r>
            <a:endParaRPr lang="en-US" sz="1000" dirty="0"/>
          </a:p>
        </p:txBody>
      </p:sp>
      <p:sp>
        <p:nvSpPr>
          <p:cNvPr id="49" name="Text 47"/>
          <p:cNvSpPr/>
          <p:nvPr/>
        </p:nvSpPr>
        <p:spPr>
          <a:xfrm>
            <a:off x="6766560" y="3840480"/>
            <a:ext cx="2011680" cy="256032"/>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Sauvegardés sur disque</a:t>
            </a:r>
            <a:endParaRPr lang="en-US" sz="800" dirty="0"/>
          </a:p>
        </p:txBody>
      </p:sp>
      <p:sp>
        <p:nvSpPr>
          <p:cNvPr id="50" name="Shape 48"/>
          <p:cNvSpPr/>
          <p:nvPr/>
        </p:nvSpPr>
        <p:spPr>
          <a:xfrm>
            <a:off x="228600" y="4315968"/>
            <a:ext cx="8686800" cy="502920"/>
          </a:xfrm>
          <a:prstGeom prst="rect">
            <a:avLst/>
          </a:prstGeom>
          <a:solidFill>
            <a:srgbClr val="E8F0FE"/>
          </a:solidFill>
          <a:ln w="12700">
            <a:solidFill>
              <a:srgbClr val="0D9488"/>
            </a:solidFill>
            <a:prstDash val="solid"/>
          </a:ln>
        </p:spPr>
        <p:txBody>
          <a:bodyPr/>
          <a:lstStyle/>
          <a:p>
            <a:endParaRPr lang="en-US"/>
          </a:p>
        </p:txBody>
      </p:sp>
      <p:sp>
        <p:nvSpPr>
          <p:cNvPr id="51" name="Text 49"/>
          <p:cNvSpPr/>
          <p:nvPr/>
        </p:nvSpPr>
        <p:spPr>
          <a:xfrm>
            <a:off x="320040" y="4315968"/>
            <a:ext cx="8503920" cy="502920"/>
          </a:xfrm>
          <a:prstGeom prst="rect">
            <a:avLst/>
          </a:prstGeom>
          <a:noFill/>
          <a:ln/>
        </p:spPr>
        <p:txBody>
          <a:bodyPr wrap="square" rtlCol="0" anchor="ctr"/>
          <a:lstStyle/>
          <a:p>
            <a:pPr marL="0" indent="0" algn="ctr">
              <a:buNone/>
            </a:pPr>
            <a:r>
              <a:rPr lang="en-US" sz="950" dirty="0">
                <a:solidFill>
                  <a:srgbClr val="0F2044"/>
                </a:solidFill>
                <a:latin typeface="Calibri" pitchFamily="34" charset="0"/>
                <a:ea typeface="Calibri" pitchFamily="34" charset="-122"/>
                <a:cs typeface="Calibri" pitchFamily="34" charset="-120"/>
              </a:rPr>
              <a:t>⏱ Fit TF-IDF : 2.4 min  |  Transform train (18 batches) : 2.0 min  |  Transform test (2 batches) : 0.3 min  |  Traitement par lots de 200 000 avis</a:t>
            </a:r>
            <a:endParaRPr lang="en-US" sz="950" dirty="0"/>
          </a:p>
        </p:txBody>
      </p:sp>
      <p:sp>
        <p:nvSpPr>
          <p:cNvPr id="53" name="TextBox 52">
            <a:extLst>
              <a:ext uri="{FF2B5EF4-FFF2-40B4-BE49-F238E27FC236}">
                <a16:creationId xmlns:a16="http://schemas.microsoft.com/office/drawing/2014/main" id="{74B3A774-F84B-EA45-FB5B-56FEB7CC5CCB}"/>
              </a:ext>
            </a:extLst>
          </p:cNvPr>
          <p:cNvSpPr txBox="1"/>
          <p:nvPr/>
        </p:nvSpPr>
        <p:spPr>
          <a:xfrm>
            <a:off x="8842314" y="4774168"/>
            <a:ext cx="301686" cy="369332"/>
          </a:xfrm>
          <a:prstGeom prst="rect">
            <a:avLst/>
          </a:prstGeom>
          <a:noFill/>
        </p:spPr>
        <p:txBody>
          <a:bodyPr wrap="none" rtlCol="0">
            <a:spAutoFit/>
          </a:bodyPr>
          <a:lstStyle/>
          <a:p>
            <a:r>
              <a:rPr lang="en-US" dirty="0"/>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a:p>
        </p:txBody>
      </p:sp>
      <p:sp>
        <p:nvSpPr>
          <p:cNvPr id="3" name="Text 1"/>
          <p:cNvSpPr/>
          <p:nvPr/>
        </p:nvSpPr>
        <p:spPr>
          <a:xfrm>
            <a:off x="457200" y="137160"/>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04 · Exploration &amp; Visualisation</a:t>
            </a:r>
            <a:endParaRPr lang="en-US" sz="2200" dirty="0"/>
          </a:p>
        </p:txBody>
      </p:sp>
      <p:sp>
        <p:nvSpPr>
          <p:cNvPr id="4" name="Shape 2"/>
          <p:cNvSpPr/>
          <p:nvPr/>
        </p:nvSpPr>
        <p:spPr>
          <a:xfrm>
            <a:off x="228600" y="914400"/>
            <a:ext cx="2011680" cy="868680"/>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228600" y="914400"/>
            <a:ext cx="2011680" cy="73152"/>
          </a:xfrm>
          <a:prstGeom prst="rect">
            <a:avLst/>
          </a:prstGeom>
          <a:solidFill>
            <a:srgbClr val="DC2626"/>
          </a:solidFill>
          <a:ln/>
        </p:spPr>
        <p:txBody>
          <a:bodyPr/>
          <a:lstStyle/>
          <a:p>
            <a:endParaRPr lang="en-US"/>
          </a:p>
        </p:txBody>
      </p:sp>
      <p:sp>
        <p:nvSpPr>
          <p:cNvPr id="6" name="Text 4"/>
          <p:cNvSpPr/>
          <p:nvPr/>
        </p:nvSpPr>
        <p:spPr>
          <a:xfrm>
            <a:off x="228600" y="1005840"/>
            <a:ext cx="2011680" cy="411480"/>
          </a:xfrm>
          <a:prstGeom prst="rect">
            <a:avLst/>
          </a:prstGeom>
          <a:noFill/>
          <a:ln/>
        </p:spPr>
        <p:txBody>
          <a:bodyPr wrap="square" rtlCol="0" anchor="ctr"/>
          <a:lstStyle/>
          <a:p>
            <a:pPr marL="0" indent="0" algn="ctr">
              <a:buNone/>
            </a:pPr>
            <a:r>
              <a:rPr lang="en-US" sz="2200" b="1" dirty="0">
                <a:solidFill>
                  <a:srgbClr val="DC2626"/>
                </a:solidFill>
                <a:latin typeface="Calibri" pitchFamily="34" charset="0"/>
                <a:ea typeface="Calibri" pitchFamily="34" charset="-122"/>
                <a:cs typeface="Calibri" pitchFamily="34" charset="-120"/>
              </a:rPr>
              <a:t>447</a:t>
            </a:r>
            <a:endParaRPr lang="en-US" sz="2200" dirty="0"/>
          </a:p>
        </p:txBody>
      </p:sp>
      <p:sp>
        <p:nvSpPr>
          <p:cNvPr id="7" name="Text 5"/>
          <p:cNvSpPr/>
          <p:nvPr/>
        </p:nvSpPr>
        <p:spPr>
          <a:xfrm>
            <a:off x="228600" y="1417320"/>
            <a:ext cx="2011680" cy="320040"/>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Avis négatifs (moy. car.)</a:t>
            </a:r>
            <a:endParaRPr lang="en-US" sz="850" dirty="0"/>
          </a:p>
        </p:txBody>
      </p:sp>
      <p:sp>
        <p:nvSpPr>
          <p:cNvPr id="8" name="Shape 6"/>
          <p:cNvSpPr/>
          <p:nvPr/>
        </p:nvSpPr>
        <p:spPr>
          <a:xfrm>
            <a:off x="2404872" y="914400"/>
            <a:ext cx="2011680" cy="868680"/>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9" name="Shape 7"/>
          <p:cNvSpPr/>
          <p:nvPr/>
        </p:nvSpPr>
        <p:spPr>
          <a:xfrm>
            <a:off x="2404872" y="914400"/>
            <a:ext cx="2011680" cy="73152"/>
          </a:xfrm>
          <a:prstGeom prst="rect">
            <a:avLst/>
          </a:prstGeom>
          <a:solidFill>
            <a:srgbClr val="15803D"/>
          </a:solidFill>
          <a:ln/>
        </p:spPr>
        <p:txBody>
          <a:bodyPr/>
          <a:lstStyle/>
          <a:p>
            <a:endParaRPr lang="en-US"/>
          </a:p>
        </p:txBody>
      </p:sp>
      <p:sp>
        <p:nvSpPr>
          <p:cNvPr id="10" name="Text 8"/>
          <p:cNvSpPr/>
          <p:nvPr/>
        </p:nvSpPr>
        <p:spPr>
          <a:xfrm>
            <a:off x="2404872" y="1005840"/>
            <a:ext cx="2011680" cy="411480"/>
          </a:xfrm>
          <a:prstGeom prst="rect">
            <a:avLst/>
          </a:prstGeom>
          <a:noFill/>
          <a:ln/>
        </p:spPr>
        <p:txBody>
          <a:bodyPr wrap="square" rtlCol="0" anchor="ctr"/>
          <a:lstStyle/>
          <a:p>
            <a:pPr marL="0" indent="0" algn="ctr">
              <a:buNone/>
            </a:pPr>
            <a:r>
              <a:rPr lang="en-US" sz="2200" b="1" dirty="0">
                <a:solidFill>
                  <a:srgbClr val="15803D"/>
                </a:solidFill>
                <a:latin typeface="Calibri" pitchFamily="34" charset="0"/>
                <a:ea typeface="Calibri" pitchFamily="34" charset="-122"/>
                <a:cs typeface="Calibri" pitchFamily="34" charset="-120"/>
              </a:rPr>
              <a:t>416</a:t>
            </a:r>
            <a:endParaRPr lang="en-US" sz="2200" dirty="0"/>
          </a:p>
        </p:txBody>
      </p:sp>
      <p:sp>
        <p:nvSpPr>
          <p:cNvPr id="11" name="Text 9"/>
          <p:cNvSpPr/>
          <p:nvPr/>
        </p:nvSpPr>
        <p:spPr>
          <a:xfrm>
            <a:off x="2404872" y="1417320"/>
            <a:ext cx="2011680" cy="320040"/>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Avis positifs (moy. car.)</a:t>
            </a:r>
            <a:endParaRPr lang="en-US" sz="850" dirty="0"/>
          </a:p>
        </p:txBody>
      </p:sp>
      <p:sp>
        <p:nvSpPr>
          <p:cNvPr id="12" name="Shape 10"/>
          <p:cNvSpPr/>
          <p:nvPr/>
        </p:nvSpPr>
        <p:spPr>
          <a:xfrm>
            <a:off x="4581144" y="914400"/>
            <a:ext cx="2011680" cy="868680"/>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3" name="Shape 11"/>
          <p:cNvSpPr/>
          <p:nvPr/>
        </p:nvSpPr>
        <p:spPr>
          <a:xfrm>
            <a:off x="4581144" y="914400"/>
            <a:ext cx="2011680" cy="73152"/>
          </a:xfrm>
          <a:prstGeom prst="rect">
            <a:avLst/>
          </a:prstGeom>
          <a:solidFill>
            <a:srgbClr val="1565C0"/>
          </a:solidFill>
          <a:ln/>
        </p:spPr>
        <p:txBody>
          <a:bodyPr/>
          <a:lstStyle/>
          <a:p>
            <a:endParaRPr lang="en-US"/>
          </a:p>
        </p:txBody>
      </p:sp>
      <p:sp>
        <p:nvSpPr>
          <p:cNvPr id="14" name="Text 12"/>
          <p:cNvSpPr/>
          <p:nvPr/>
        </p:nvSpPr>
        <p:spPr>
          <a:xfrm>
            <a:off x="4581144" y="1005840"/>
            <a:ext cx="2011680" cy="411480"/>
          </a:xfrm>
          <a:prstGeom prst="rect">
            <a:avLst/>
          </a:prstGeom>
          <a:noFill/>
          <a:ln/>
        </p:spPr>
        <p:txBody>
          <a:bodyPr wrap="square" rtlCol="0" anchor="ctr"/>
          <a:lstStyle/>
          <a:p>
            <a:pPr marL="0" indent="0" algn="ctr">
              <a:buNone/>
            </a:pPr>
            <a:r>
              <a:rPr lang="en-US" sz="2200" b="1" dirty="0">
                <a:solidFill>
                  <a:srgbClr val="1565C0"/>
                </a:solidFill>
                <a:latin typeface="Calibri" pitchFamily="34" charset="0"/>
                <a:ea typeface="Calibri" pitchFamily="34" charset="-122"/>
                <a:cs typeface="Calibri" pitchFamily="34" charset="-120"/>
              </a:rPr>
              <a:t>383</a:t>
            </a:r>
            <a:endParaRPr lang="en-US" sz="2200" dirty="0"/>
          </a:p>
        </p:txBody>
      </p:sp>
      <p:sp>
        <p:nvSpPr>
          <p:cNvPr id="15" name="Text 13"/>
          <p:cNvSpPr/>
          <p:nvPr/>
        </p:nvSpPr>
        <p:spPr>
          <a:xfrm>
            <a:off x="4581144" y="1417320"/>
            <a:ext cx="2011680" cy="320040"/>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Médiane (car.)</a:t>
            </a:r>
            <a:endParaRPr lang="en-US" sz="850" dirty="0"/>
          </a:p>
        </p:txBody>
      </p:sp>
      <p:sp>
        <p:nvSpPr>
          <p:cNvPr id="16" name="Shape 14"/>
          <p:cNvSpPr/>
          <p:nvPr/>
        </p:nvSpPr>
        <p:spPr>
          <a:xfrm>
            <a:off x="6757416" y="914400"/>
            <a:ext cx="2011680" cy="868680"/>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7" name="Shape 15"/>
          <p:cNvSpPr/>
          <p:nvPr/>
        </p:nvSpPr>
        <p:spPr>
          <a:xfrm>
            <a:off x="6757416" y="914400"/>
            <a:ext cx="2011680" cy="73152"/>
          </a:xfrm>
          <a:prstGeom prst="rect">
            <a:avLst/>
          </a:prstGeom>
          <a:solidFill>
            <a:srgbClr val="0D9488"/>
          </a:solidFill>
          <a:ln/>
        </p:spPr>
        <p:txBody>
          <a:bodyPr/>
          <a:lstStyle/>
          <a:p>
            <a:endParaRPr lang="en-US"/>
          </a:p>
        </p:txBody>
      </p:sp>
      <p:sp>
        <p:nvSpPr>
          <p:cNvPr id="18" name="Text 16"/>
          <p:cNvSpPr/>
          <p:nvPr/>
        </p:nvSpPr>
        <p:spPr>
          <a:xfrm>
            <a:off x="6757416" y="1005840"/>
            <a:ext cx="2011680" cy="411480"/>
          </a:xfrm>
          <a:prstGeom prst="rect">
            <a:avLst/>
          </a:prstGeom>
          <a:noFill/>
          <a:ln/>
        </p:spPr>
        <p:txBody>
          <a:bodyPr wrap="square"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72–1015</a:t>
            </a:r>
            <a:endParaRPr lang="en-US" sz="2200" dirty="0"/>
          </a:p>
        </p:txBody>
      </p:sp>
      <p:sp>
        <p:nvSpPr>
          <p:cNvPr id="19" name="Text 17"/>
          <p:cNvSpPr/>
          <p:nvPr/>
        </p:nvSpPr>
        <p:spPr>
          <a:xfrm>
            <a:off x="6757416" y="1417320"/>
            <a:ext cx="2011680" cy="320040"/>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Plage de longueur</a:t>
            </a:r>
            <a:endParaRPr lang="en-US" sz="850" dirty="0"/>
          </a:p>
        </p:txBody>
      </p:sp>
      <p:pic>
        <p:nvPicPr>
          <p:cNvPr id="20" name="Image 0" descr="preencoded.png"/>
          <p:cNvPicPr>
            <a:picLocks noChangeAspect="1"/>
          </p:cNvPicPr>
          <p:nvPr/>
        </p:nvPicPr>
        <p:blipFill>
          <a:blip r:embed="rId3"/>
          <a:stretch>
            <a:fillRect/>
          </a:stretch>
        </p:blipFill>
        <p:spPr>
          <a:xfrm>
            <a:off x="228600" y="1874520"/>
            <a:ext cx="3200400" cy="2029968"/>
          </a:xfrm>
          <a:prstGeom prst="rect">
            <a:avLst/>
          </a:prstGeom>
          <a:effectLst>
            <a:outerShdw blurRad="101600" dist="25400" dir="8100000" algn="bl" rotWithShape="0">
              <a:srgbClr val="000000">
                <a:alpha val="12000"/>
              </a:srgbClr>
            </a:outerShdw>
          </a:effectLst>
        </p:spPr>
      </p:pic>
      <p:pic>
        <p:nvPicPr>
          <p:cNvPr id="21" name="Image 1" descr="preencoded.png"/>
          <p:cNvPicPr>
            <a:picLocks noChangeAspect="1"/>
          </p:cNvPicPr>
          <p:nvPr/>
        </p:nvPicPr>
        <p:blipFill>
          <a:blip r:embed="rId4"/>
          <a:stretch>
            <a:fillRect/>
          </a:stretch>
        </p:blipFill>
        <p:spPr>
          <a:xfrm>
            <a:off x="3611880" y="1874520"/>
            <a:ext cx="5303520" cy="2029968"/>
          </a:xfrm>
          <a:prstGeom prst="rect">
            <a:avLst/>
          </a:prstGeom>
          <a:effectLst>
            <a:outerShdw blurRad="101600" dist="25400" dir="8100000" algn="bl" rotWithShape="0">
              <a:srgbClr val="000000">
                <a:alpha val="12000"/>
              </a:srgbClr>
            </a:outerShdw>
          </a:effectLst>
        </p:spPr>
      </p:pic>
      <p:sp>
        <p:nvSpPr>
          <p:cNvPr id="22" name="Shape 18"/>
          <p:cNvSpPr/>
          <p:nvPr/>
        </p:nvSpPr>
        <p:spPr>
          <a:xfrm>
            <a:off x="228600" y="3977640"/>
            <a:ext cx="8686800" cy="868680"/>
          </a:xfrm>
          <a:prstGeom prst="rect">
            <a:avLst/>
          </a:prstGeom>
          <a:solidFill>
            <a:srgbClr val="F8FAFC"/>
          </a:solidFill>
          <a:ln w="12700">
            <a:solidFill>
              <a:srgbClr val="0D9488"/>
            </a:solidFill>
            <a:prstDash val="solid"/>
          </a:ln>
          <a:effectLst>
            <a:outerShdw blurRad="101600" dist="25400" dir="8100000" algn="bl" rotWithShape="0">
              <a:srgbClr val="000000">
                <a:alpha val="12000"/>
              </a:srgbClr>
            </a:outerShdw>
          </a:effectLst>
        </p:spPr>
        <p:txBody>
          <a:bodyPr/>
          <a:lstStyle/>
          <a:p>
            <a:endParaRPr lang="en-US"/>
          </a:p>
        </p:txBody>
      </p:sp>
      <p:sp>
        <p:nvSpPr>
          <p:cNvPr id="23" name="Shape 19"/>
          <p:cNvSpPr/>
          <p:nvPr/>
        </p:nvSpPr>
        <p:spPr>
          <a:xfrm>
            <a:off x="228600" y="3977640"/>
            <a:ext cx="54864" cy="868680"/>
          </a:xfrm>
          <a:prstGeom prst="rect">
            <a:avLst/>
          </a:prstGeom>
          <a:solidFill>
            <a:srgbClr val="0D9488"/>
          </a:solidFill>
          <a:ln/>
        </p:spPr>
        <p:txBody>
          <a:bodyPr/>
          <a:lstStyle/>
          <a:p>
            <a:endParaRPr lang="en-US"/>
          </a:p>
        </p:txBody>
      </p:sp>
      <p:sp>
        <p:nvSpPr>
          <p:cNvPr id="24" name="Text 20"/>
          <p:cNvSpPr/>
          <p:nvPr/>
        </p:nvSpPr>
        <p:spPr>
          <a:xfrm>
            <a:off x="411480" y="4005072"/>
            <a:ext cx="1828800" cy="274320"/>
          </a:xfrm>
          <a:prstGeom prst="rect">
            <a:avLst/>
          </a:prstGeom>
          <a:noFill/>
          <a:ln/>
        </p:spPr>
        <p:txBody>
          <a:bodyPr wrap="square"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 Insights clés :</a:t>
            </a:r>
            <a:endParaRPr lang="en-US" sz="1100" dirty="0"/>
          </a:p>
        </p:txBody>
      </p:sp>
      <p:sp>
        <p:nvSpPr>
          <p:cNvPr id="25" name="Text 21"/>
          <p:cNvSpPr/>
          <p:nvPr/>
        </p:nvSpPr>
        <p:spPr>
          <a:xfrm>
            <a:off x="411480" y="4279392"/>
            <a:ext cx="8412480" cy="502920"/>
          </a:xfrm>
          <a:prstGeom prst="rect">
            <a:avLst/>
          </a:prstGeom>
          <a:noFill/>
          <a:ln/>
        </p:spPr>
        <p:txBody>
          <a:bodyPr wrap="square" rtlCol="0" anchor="ctr"/>
          <a:lstStyle/>
          <a:p>
            <a:pPr marL="0" indent="0">
              <a:buNone/>
            </a:pPr>
            <a:r>
              <a:rPr lang="en-US" sz="950" b="1" dirty="0">
                <a:solidFill>
                  <a:srgbClr val="15803D"/>
                </a:solidFill>
                <a:latin typeface="Calibri" pitchFamily="34" charset="0"/>
                <a:ea typeface="Calibri" pitchFamily="34" charset="-122"/>
                <a:cs typeface="Calibri" pitchFamily="34" charset="-120"/>
              </a:rPr>
              <a:t>✔ Dataset parfaitement équilibré</a:t>
            </a:r>
            <a:r>
              <a:rPr lang="en-US" sz="950" dirty="0">
                <a:solidFill>
                  <a:srgbClr val="1E293B"/>
                </a:solidFill>
                <a:latin typeface="Calibri" pitchFamily="34" charset="0"/>
                <a:ea typeface="Calibri" pitchFamily="34" charset="-122"/>
                <a:cs typeface="Calibri" pitchFamily="34" charset="-120"/>
              </a:rPr>
              <a:t> (1 800 000 positif / 1 800 000 négatif) — aucun problème de déséquilibre de classes.     </a:t>
            </a:r>
            <a:r>
              <a:rPr lang="en-US" sz="950" b="1" dirty="0">
                <a:solidFill>
                  <a:srgbClr val="DC2626"/>
                </a:solidFill>
                <a:latin typeface="Calibri" pitchFamily="34" charset="0"/>
                <a:ea typeface="Calibri" pitchFamily="34" charset="-122"/>
                <a:cs typeface="Calibri" pitchFamily="34" charset="-120"/>
              </a:rPr>
              <a:t>✔ Les avis négatifs sont légèrement plus longs</a:t>
            </a:r>
            <a:r>
              <a:rPr lang="en-US" sz="950" dirty="0">
                <a:solidFill>
                  <a:srgbClr val="1E293B"/>
                </a:solidFill>
                <a:latin typeface="Calibri" pitchFamily="34" charset="0"/>
                <a:ea typeface="Calibri" pitchFamily="34" charset="-122"/>
                <a:cs typeface="Calibri" pitchFamily="34" charset="-120"/>
              </a:rPr>
              <a:t> (447 vs 416 car.) — les utilisateurs expliquent davantage leur insatisfaction.</a:t>
            </a:r>
            <a:endParaRPr lang="en-US" sz="950" dirty="0"/>
          </a:p>
        </p:txBody>
      </p:sp>
      <p:sp>
        <p:nvSpPr>
          <p:cNvPr id="27" name="TextBox 26">
            <a:extLst>
              <a:ext uri="{FF2B5EF4-FFF2-40B4-BE49-F238E27FC236}">
                <a16:creationId xmlns:a16="http://schemas.microsoft.com/office/drawing/2014/main" id="{E1AB22E7-4E35-537D-8EC2-8A4C6B3A2BAB}"/>
              </a:ext>
            </a:extLst>
          </p:cNvPr>
          <p:cNvSpPr txBox="1"/>
          <p:nvPr/>
        </p:nvSpPr>
        <p:spPr>
          <a:xfrm>
            <a:off x="8842314" y="4774168"/>
            <a:ext cx="301686" cy="369332"/>
          </a:xfrm>
          <a:prstGeom prst="rect">
            <a:avLst/>
          </a:prstGeom>
          <a:noFill/>
        </p:spPr>
        <p:txBody>
          <a:bodyPr wrap="none" rtlCol="0">
            <a:spAutoFit/>
          </a:bodyPr>
          <a:lstStyle/>
          <a:p>
            <a:r>
              <a:rPr lang="en-US" dirty="0"/>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a:p>
        </p:txBody>
      </p:sp>
      <p:sp>
        <p:nvSpPr>
          <p:cNvPr id="3" name="Text 1"/>
          <p:cNvSpPr/>
          <p:nvPr/>
        </p:nvSpPr>
        <p:spPr>
          <a:xfrm>
            <a:off x="457200" y="137160"/>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05 · Modélisation</a:t>
            </a:r>
            <a:endParaRPr lang="en-US" sz="2200" dirty="0"/>
          </a:p>
        </p:txBody>
      </p:sp>
      <p:sp>
        <p:nvSpPr>
          <p:cNvPr id="4" name="Shape 2"/>
          <p:cNvSpPr/>
          <p:nvPr/>
        </p:nvSpPr>
        <p:spPr>
          <a:xfrm>
            <a:off x="228600" y="914400"/>
            <a:ext cx="2834640" cy="3931920"/>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5" name="Shape 3"/>
          <p:cNvSpPr/>
          <p:nvPr/>
        </p:nvSpPr>
        <p:spPr>
          <a:xfrm>
            <a:off x="228600" y="914400"/>
            <a:ext cx="2834640" cy="457200"/>
          </a:xfrm>
          <a:prstGeom prst="rect">
            <a:avLst/>
          </a:prstGeom>
          <a:solidFill>
            <a:srgbClr val="DC2626"/>
          </a:solidFill>
          <a:ln/>
        </p:spPr>
        <p:txBody>
          <a:bodyPr/>
          <a:lstStyle/>
          <a:p>
            <a:endParaRPr lang="en-US"/>
          </a:p>
        </p:txBody>
      </p:sp>
      <p:sp>
        <p:nvSpPr>
          <p:cNvPr id="6" name="Text 4"/>
          <p:cNvSpPr/>
          <p:nvPr/>
        </p:nvSpPr>
        <p:spPr>
          <a:xfrm>
            <a:off x="228600" y="914400"/>
            <a:ext cx="283464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Naïve Bayes</a:t>
            </a:r>
            <a:endParaRPr lang="en-US" sz="1300" dirty="0"/>
          </a:p>
        </p:txBody>
      </p:sp>
      <p:sp>
        <p:nvSpPr>
          <p:cNvPr id="7" name="Shape 5"/>
          <p:cNvSpPr/>
          <p:nvPr/>
        </p:nvSpPr>
        <p:spPr>
          <a:xfrm>
            <a:off x="338328" y="1463040"/>
            <a:ext cx="2615184" cy="384048"/>
          </a:xfrm>
          <a:prstGeom prst="rect">
            <a:avLst/>
          </a:prstGeom>
          <a:solidFill>
            <a:srgbClr val="1E2A3A"/>
          </a:solidFill>
          <a:ln/>
        </p:spPr>
        <p:txBody>
          <a:bodyPr/>
          <a:lstStyle/>
          <a:p>
            <a:endParaRPr lang="en-US"/>
          </a:p>
        </p:txBody>
      </p:sp>
      <p:sp>
        <p:nvSpPr>
          <p:cNvPr id="8" name="Text 6"/>
          <p:cNvSpPr/>
          <p:nvPr/>
        </p:nvSpPr>
        <p:spPr>
          <a:xfrm>
            <a:off x="338328" y="1463040"/>
            <a:ext cx="2615184" cy="384048"/>
          </a:xfrm>
          <a:prstGeom prst="rect">
            <a:avLst/>
          </a:prstGeom>
          <a:noFill/>
          <a:ln/>
        </p:spPr>
        <p:txBody>
          <a:bodyPr wrap="square" rtlCol="0" anchor="ctr"/>
          <a:lstStyle/>
          <a:p>
            <a:pPr marL="0" indent="0" algn="ctr">
              <a:buNone/>
            </a:pPr>
            <a:r>
              <a:rPr lang="en-US" sz="900" dirty="0">
                <a:solidFill>
                  <a:srgbClr val="F59E0B"/>
                </a:solidFill>
                <a:latin typeface="Consolas" pitchFamily="34" charset="0"/>
                <a:ea typeface="Consolas" pitchFamily="34" charset="-122"/>
                <a:cs typeface="Consolas" pitchFamily="34" charset="-120"/>
              </a:rPr>
              <a:t>MultinomialNB()</a:t>
            </a:r>
            <a:endParaRPr lang="en-US" sz="900" dirty="0"/>
          </a:p>
        </p:txBody>
      </p:sp>
      <p:sp>
        <p:nvSpPr>
          <p:cNvPr id="9" name="Text 7"/>
          <p:cNvSpPr/>
          <p:nvPr/>
        </p:nvSpPr>
        <p:spPr>
          <a:xfrm>
            <a:off x="338328" y="1920240"/>
            <a:ext cx="2615184" cy="1234440"/>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Modèle probabiliste basé sur le théorème de Bayes. Suppose l'indépendance conditionnelle entre les mots. Idéal pour les données textuelles.</a:t>
            </a:r>
            <a:endParaRPr lang="en-US" sz="950" dirty="0"/>
          </a:p>
        </p:txBody>
      </p:sp>
      <p:sp>
        <p:nvSpPr>
          <p:cNvPr id="10" name="Shape 8"/>
          <p:cNvSpPr/>
          <p:nvPr/>
        </p:nvSpPr>
        <p:spPr>
          <a:xfrm>
            <a:off x="338328" y="3246120"/>
            <a:ext cx="2615184" cy="18288"/>
          </a:xfrm>
          <a:prstGeom prst="rect">
            <a:avLst/>
          </a:prstGeom>
          <a:solidFill>
            <a:srgbClr val="E2E8F0"/>
          </a:solidFill>
          <a:ln/>
        </p:spPr>
        <p:txBody>
          <a:bodyPr/>
          <a:lstStyle/>
          <a:p>
            <a:endParaRPr lang="en-US"/>
          </a:p>
        </p:txBody>
      </p:sp>
      <p:sp>
        <p:nvSpPr>
          <p:cNvPr id="11" name="Text 9"/>
          <p:cNvSpPr/>
          <p:nvPr/>
        </p:nvSpPr>
        <p:spPr>
          <a:xfrm>
            <a:off x="338328" y="3310128"/>
            <a:ext cx="2615184" cy="457200"/>
          </a:xfrm>
          <a:prstGeom prst="rect">
            <a:avLst/>
          </a:prstGeom>
          <a:noFill/>
          <a:ln/>
        </p:spPr>
        <p:txBody>
          <a:bodyPr wrap="square" rtlCol="0" anchor="ctr"/>
          <a:lstStyle/>
          <a:p>
            <a:pPr marL="0" indent="0">
              <a:buNone/>
            </a:pPr>
            <a:r>
              <a:rPr lang="en-US" sz="900" dirty="0">
                <a:solidFill>
                  <a:srgbClr val="15803D"/>
                </a:solidFill>
                <a:latin typeface="Calibri" pitchFamily="34" charset="0"/>
                <a:ea typeface="Calibri" pitchFamily="34" charset="-122"/>
                <a:cs typeface="Calibri" pitchFamily="34" charset="-120"/>
              </a:rPr>
              <a:t>✔ Ultra-rapide, efficace en mémoire, baseline solide</a:t>
            </a:r>
            <a:endParaRPr lang="en-US" sz="900" dirty="0"/>
          </a:p>
        </p:txBody>
      </p:sp>
      <p:sp>
        <p:nvSpPr>
          <p:cNvPr id="12" name="Shape 10"/>
          <p:cNvSpPr/>
          <p:nvPr/>
        </p:nvSpPr>
        <p:spPr>
          <a:xfrm>
            <a:off x="338328" y="3858768"/>
            <a:ext cx="2615184" cy="347472"/>
          </a:xfrm>
          <a:prstGeom prst="rect">
            <a:avLst/>
          </a:prstGeom>
          <a:solidFill>
            <a:srgbClr val="DC2626">
              <a:alpha val="15000"/>
            </a:srgbClr>
          </a:solidFill>
          <a:ln/>
        </p:spPr>
        <p:txBody>
          <a:bodyPr/>
          <a:lstStyle/>
          <a:p>
            <a:endParaRPr lang="en-US"/>
          </a:p>
        </p:txBody>
      </p:sp>
      <p:sp>
        <p:nvSpPr>
          <p:cNvPr id="13" name="Text 11"/>
          <p:cNvSpPr/>
          <p:nvPr/>
        </p:nvSpPr>
        <p:spPr>
          <a:xfrm>
            <a:off x="338328" y="3858768"/>
            <a:ext cx="2615184" cy="347472"/>
          </a:xfrm>
          <a:prstGeom prst="rect">
            <a:avLst/>
          </a:prstGeom>
          <a:noFill/>
          <a:ln/>
        </p:spPr>
        <p:txBody>
          <a:bodyPr wrap="square" rtlCol="0" anchor="ctr"/>
          <a:lstStyle/>
          <a:p>
            <a:pPr marL="0" indent="0" algn="ctr">
              <a:buNone/>
            </a:pPr>
            <a:r>
              <a:rPr lang="en-US" sz="1000" b="1" dirty="0">
                <a:solidFill>
                  <a:srgbClr val="DC2626"/>
                </a:solidFill>
                <a:latin typeface="Calibri" pitchFamily="34" charset="0"/>
                <a:ea typeface="Calibri" pitchFamily="34" charset="-122"/>
                <a:cs typeface="Calibri" pitchFamily="34" charset="-120"/>
              </a:rPr>
              <a:t>⏱ Entraînement : 12.7 s</a:t>
            </a:r>
            <a:endParaRPr lang="en-US" sz="1000" dirty="0"/>
          </a:p>
        </p:txBody>
      </p:sp>
      <p:sp>
        <p:nvSpPr>
          <p:cNvPr id="14" name="Shape 12"/>
          <p:cNvSpPr/>
          <p:nvPr/>
        </p:nvSpPr>
        <p:spPr>
          <a:xfrm>
            <a:off x="3172968" y="914400"/>
            <a:ext cx="2834640" cy="3931920"/>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15" name="Shape 13"/>
          <p:cNvSpPr/>
          <p:nvPr/>
        </p:nvSpPr>
        <p:spPr>
          <a:xfrm>
            <a:off x="3172968" y="914400"/>
            <a:ext cx="2834640" cy="457200"/>
          </a:xfrm>
          <a:prstGeom prst="rect">
            <a:avLst/>
          </a:prstGeom>
          <a:solidFill>
            <a:srgbClr val="1565C0"/>
          </a:solidFill>
          <a:ln/>
        </p:spPr>
        <p:txBody>
          <a:bodyPr/>
          <a:lstStyle/>
          <a:p>
            <a:endParaRPr lang="en-US"/>
          </a:p>
        </p:txBody>
      </p:sp>
      <p:sp>
        <p:nvSpPr>
          <p:cNvPr id="16" name="Text 14"/>
          <p:cNvSpPr/>
          <p:nvPr/>
        </p:nvSpPr>
        <p:spPr>
          <a:xfrm>
            <a:off x="3172968" y="914400"/>
            <a:ext cx="283464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Régression Logistique</a:t>
            </a:r>
            <a:endParaRPr lang="en-US" sz="1300" dirty="0"/>
          </a:p>
        </p:txBody>
      </p:sp>
      <p:sp>
        <p:nvSpPr>
          <p:cNvPr id="17" name="Shape 15"/>
          <p:cNvSpPr/>
          <p:nvPr/>
        </p:nvSpPr>
        <p:spPr>
          <a:xfrm>
            <a:off x="3282696" y="1463040"/>
            <a:ext cx="2615184" cy="384048"/>
          </a:xfrm>
          <a:prstGeom prst="rect">
            <a:avLst/>
          </a:prstGeom>
          <a:solidFill>
            <a:srgbClr val="1E2A3A"/>
          </a:solidFill>
          <a:ln/>
        </p:spPr>
        <p:txBody>
          <a:bodyPr/>
          <a:lstStyle/>
          <a:p>
            <a:endParaRPr lang="en-US"/>
          </a:p>
        </p:txBody>
      </p:sp>
      <p:sp>
        <p:nvSpPr>
          <p:cNvPr id="18" name="Text 16"/>
          <p:cNvSpPr/>
          <p:nvPr/>
        </p:nvSpPr>
        <p:spPr>
          <a:xfrm>
            <a:off x="3282696" y="1463040"/>
            <a:ext cx="2615184" cy="384048"/>
          </a:xfrm>
          <a:prstGeom prst="rect">
            <a:avLst/>
          </a:prstGeom>
          <a:noFill/>
          <a:ln/>
        </p:spPr>
        <p:txBody>
          <a:bodyPr wrap="square" rtlCol="0" anchor="ctr"/>
          <a:lstStyle/>
          <a:p>
            <a:pPr marL="0" indent="0" algn="ctr">
              <a:buNone/>
            </a:pPr>
            <a:r>
              <a:rPr lang="en-US" sz="900" dirty="0">
                <a:solidFill>
                  <a:srgbClr val="F59E0B"/>
                </a:solidFill>
                <a:latin typeface="Consolas" pitchFamily="34" charset="0"/>
                <a:ea typeface="Consolas" pitchFamily="34" charset="-122"/>
                <a:cs typeface="Consolas" pitchFamily="34" charset="-120"/>
              </a:rPr>
              <a:t>LogisticRegression(max_iter=1000)</a:t>
            </a:r>
            <a:endParaRPr lang="en-US" sz="900" dirty="0"/>
          </a:p>
        </p:txBody>
      </p:sp>
      <p:sp>
        <p:nvSpPr>
          <p:cNvPr id="19" name="Text 17"/>
          <p:cNvSpPr/>
          <p:nvPr/>
        </p:nvSpPr>
        <p:spPr>
          <a:xfrm>
            <a:off x="3282696" y="1920240"/>
            <a:ext cx="2615184" cy="1234440"/>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Modèle linéaire qui estime la probabilité d'appartenance à une classe via une fonction sigmoïde. Très efficace sur des données TF-IDF sparses.</a:t>
            </a:r>
            <a:endParaRPr lang="en-US" sz="950" dirty="0"/>
          </a:p>
        </p:txBody>
      </p:sp>
      <p:sp>
        <p:nvSpPr>
          <p:cNvPr id="20" name="Shape 18"/>
          <p:cNvSpPr/>
          <p:nvPr/>
        </p:nvSpPr>
        <p:spPr>
          <a:xfrm>
            <a:off x="3282696" y="3246120"/>
            <a:ext cx="2615184" cy="18288"/>
          </a:xfrm>
          <a:prstGeom prst="rect">
            <a:avLst/>
          </a:prstGeom>
          <a:solidFill>
            <a:srgbClr val="E2E8F0"/>
          </a:solidFill>
          <a:ln/>
        </p:spPr>
        <p:txBody>
          <a:bodyPr/>
          <a:lstStyle/>
          <a:p>
            <a:endParaRPr lang="en-US"/>
          </a:p>
        </p:txBody>
      </p:sp>
      <p:sp>
        <p:nvSpPr>
          <p:cNvPr id="21" name="Text 19"/>
          <p:cNvSpPr/>
          <p:nvPr/>
        </p:nvSpPr>
        <p:spPr>
          <a:xfrm>
            <a:off x="3282696" y="3310128"/>
            <a:ext cx="2615184" cy="457200"/>
          </a:xfrm>
          <a:prstGeom prst="rect">
            <a:avLst/>
          </a:prstGeom>
          <a:noFill/>
          <a:ln/>
        </p:spPr>
        <p:txBody>
          <a:bodyPr wrap="square" rtlCol="0" anchor="ctr"/>
          <a:lstStyle/>
          <a:p>
            <a:pPr marL="0" indent="0">
              <a:buNone/>
            </a:pPr>
            <a:r>
              <a:rPr lang="en-US" sz="900" dirty="0">
                <a:solidFill>
                  <a:srgbClr val="15803D"/>
                </a:solidFill>
                <a:latin typeface="Calibri" pitchFamily="34" charset="0"/>
                <a:ea typeface="Calibri" pitchFamily="34" charset="-122"/>
                <a:cs typeface="Calibri" pitchFamily="34" charset="-120"/>
              </a:rPr>
              <a:t>✔ Excellente précision, rapide à converger, interprétable</a:t>
            </a:r>
            <a:endParaRPr lang="en-US" sz="900" dirty="0"/>
          </a:p>
        </p:txBody>
      </p:sp>
      <p:sp>
        <p:nvSpPr>
          <p:cNvPr id="22" name="Shape 20"/>
          <p:cNvSpPr/>
          <p:nvPr/>
        </p:nvSpPr>
        <p:spPr>
          <a:xfrm>
            <a:off x="3282696" y="3858768"/>
            <a:ext cx="2615184" cy="347472"/>
          </a:xfrm>
          <a:prstGeom prst="rect">
            <a:avLst/>
          </a:prstGeom>
          <a:solidFill>
            <a:srgbClr val="1565C0">
              <a:alpha val="15000"/>
            </a:srgbClr>
          </a:solidFill>
          <a:ln/>
        </p:spPr>
        <p:txBody>
          <a:bodyPr/>
          <a:lstStyle/>
          <a:p>
            <a:endParaRPr lang="en-US"/>
          </a:p>
        </p:txBody>
      </p:sp>
      <p:sp>
        <p:nvSpPr>
          <p:cNvPr id="23" name="Text 21"/>
          <p:cNvSpPr/>
          <p:nvPr/>
        </p:nvSpPr>
        <p:spPr>
          <a:xfrm>
            <a:off x="3282696" y="3858768"/>
            <a:ext cx="2615184" cy="347472"/>
          </a:xfrm>
          <a:prstGeom prst="rect">
            <a:avLst/>
          </a:prstGeom>
          <a:noFill/>
          <a:ln/>
        </p:spPr>
        <p:txBody>
          <a:bodyPr wrap="square" rtlCol="0" anchor="ctr"/>
          <a:lstStyle/>
          <a:p>
            <a:pPr marL="0" indent="0" algn="ctr">
              <a:buNone/>
            </a:pPr>
            <a:r>
              <a:rPr lang="en-US" sz="1000" b="1" dirty="0">
                <a:solidFill>
                  <a:srgbClr val="1565C0"/>
                </a:solidFill>
                <a:latin typeface="Calibri" pitchFamily="34" charset="0"/>
                <a:ea typeface="Calibri" pitchFamily="34" charset="-122"/>
                <a:cs typeface="Calibri" pitchFamily="34" charset="-120"/>
              </a:rPr>
              <a:t>⏱ Entraînement : 40.5 s</a:t>
            </a:r>
            <a:endParaRPr lang="en-US" sz="1000" dirty="0"/>
          </a:p>
        </p:txBody>
      </p:sp>
      <p:sp>
        <p:nvSpPr>
          <p:cNvPr id="24" name="Shape 22"/>
          <p:cNvSpPr/>
          <p:nvPr/>
        </p:nvSpPr>
        <p:spPr>
          <a:xfrm>
            <a:off x="6117336" y="914400"/>
            <a:ext cx="2834640" cy="3931920"/>
          </a:xfrm>
          <a:prstGeom prst="rect">
            <a:avLst/>
          </a:prstGeom>
          <a:solidFill>
            <a:srgbClr val="F8FA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en-US"/>
          </a:p>
        </p:txBody>
      </p:sp>
      <p:sp>
        <p:nvSpPr>
          <p:cNvPr id="25" name="Shape 23"/>
          <p:cNvSpPr/>
          <p:nvPr/>
        </p:nvSpPr>
        <p:spPr>
          <a:xfrm>
            <a:off x="6117336" y="914400"/>
            <a:ext cx="2834640" cy="457200"/>
          </a:xfrm>
          <a:prstGeom prst="rect">
            <a:avLst/>
          </a:prstGeom>
          <a:solidFill>
            <a:srgbClr val="0D9488"/>
          </a:solidFill>
          <a:ln/>
        </p:spPr>
        <p:txBody>
          <a:bodyPr/>
          <a:lstStyle/>
          <a:p>
            <a:endParaRPr lang="en-US"/>
          </a:p>
        </p:txBody>
      </p:sp>
      <p:sp>
        <p:nvSpPr>
          <p:cNvPr id="26" name="Text 24"/>
          <p:cNvSpPr/>
          <p:nvPr/>
        </p:nvSpPr>
        <p:spPr>
          <a:xfrm>
            <a:off x="6117336" y="914400"/>
            <a:ext cx="283464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Decision Tree</a:t>
            </a:r>
            <a:endParaRPr lang="en-US" sz="1300" dirty="0"/>
          </a:p>
        </p:txBody>
      </p:sp>
      <p:sp>
        <p:nvSpPr>
          <p:cNvPr id="27" name="Shape 25"/>
          <p:cNvSpPr/>
          <p:nvPr/>
        </p:nvSpPr>
        <p:spPr>
          <a:xfrm>
            <a:off x="6227064" y="1463040"/>
            <a:ext cx="2615184" cy="384048"/>
          </a:xfrm>
          <a:prstGeom prst="rect">
            <a:avLst/>
          </a:prstGeom>
          <a:solidFill>
            <a:srgbClr val="1E2A3A"/>
          </a:solidFill>
          <a:ln/>
        </p:spPr>
        <p:txBody>
          <a:bodyPr/>
          <a:lstStyle/>
          <a:p>
            <a:endParaRPr lang="en-US"/>
          </a:p>
        </p:txBody>
      </p:sp>
      <p:sp>
        <p:nvSpPr>
          <p:cNvPr id="28" name="Text 26"/>
          <p:cNvSpPr/>
          <p:nvPr/>
        </p:nvSpPr>
        <p:spPr>
          <a:xfrm>
            <a:off x="6227064" y="1463040"/>
            <a:ext cx="2615184" cy="384048"/>
          </a:xfrm>
          <a:prstGeom prst="rect">
            <a:avLst/>
          </a:prstGeom>
          <a:noFill/>
          <a:ln/>
        </p:spPr>
        <p:txBody>
          <a:bodyPr wrap="square" rtlCol="0" anchor="ctr"/>
          <a:lstStyle/>
          <a:p>
            <a:pPr marL="0" indent="0" algn="ctr">
              <a:buNone/>
            </a:pPr>
            <a:r>
              <a:rPr lang="en-US" sz="900" dirty="0">
                <a:solidFill>
                  <a:srgbClr val="F59E0B"/>
                </a:solidFill>
                <a:latin typeface="Consolas" pitchFamily="34" charset="0"/>
                <a:ea typeface="Consolas" pitchFamily="34" charset="-122"/>
                <a:cs typeface="Consolas" pitchFamily="34" charset="-120"/>
              </a:rPr>
              <a:t>DecisionTreeClassifier(max_depth=10)</a:t>
            </a:r>
            <a:endParaRPr lang="en-US" sz="900" dirty="0"/>
          </a:p>
        </p:txBody>
      </p:sp>
      <p:sp>
        <p:nvSpPr>
          <p:cNvPr id="29" name="Text 27"/>
          <p:cNvSpPr/>
          <p:nvPr/>
        </p:nvSpPr>
        <p:spPr>
          <a:xfrm>
            <a:off x="6227064" y="1920240"/>
            <a:ext cx="2615184" cy="1234440"/>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Arbre de décision qui partitionne récursivement l'espace de features. Facile à interpréter visuellement mais sujet à l'overfitting.</a:t>
            </a:r>
            <a:endParaRPr lang="en-US" sz="950" dirty="0"/>
          </a:p>
        </p:txBody>
      </p:sp>
      <p:sp>
        <p:nvSpPr>
          <p:cNvPr id="30" name="Shape 28"/>
          <p:cNvSpPr/>
          <p:nvPr/>
        </p:nvSpPr>
        <p:spPr>
          <a:xfrm>
            <a:off x="6227064" y="3246120"/>
            <a:ext cx="2615184" cy="18288"/>
          </a:xfrm>
          <a:prstGeom prst="rect">
            <a:avLst/>
          </a:prstGeom>
          <a:solidFill>
            <a:srgbClr val="E2E8F0"/>
          </a:solidFill>
          <a:ln/>
        </p:spPr>
        <p:txBody>
          <a:bodyPr/>
          <a:lstStyle/>
          <a:p>
            <a:endParaRPr lang="en-US"/>
          </a:p>
        </p:txBody>
      </p:sp>
      <p:sp>
        <p:nvSpPr>
          <p:cNvPr id="31" name="Text 29"/>
          <p:cNvSpPr/>
          <p:nvPr/>
        </p:nvSpPr>
        <p:spPr>
          <a:xfrm>
            <a:off x="6227064" y="3310128"/>
            <a:ext cx="2615184" cy="457200"/>
          </a:xfrm>
          <a:prstGeom prst="rect">
            <a:avLst/>
          </a:prstGeom>
          <a:noFill/>
          <a:ln/>
        </p:spPr>
        <p:txBody>
          <a:bodyPr wrap="square" rtlCol="0" anchor="ctr"/>
          <a:lstStyle/>
          <a:p>
            <a:pPr marL="0" indent="0">
              <a:buNone/>
            </a:pPr>
            <a:r>
              <a:rPr lang="en-US" sz="900" dirty="0">
                <a:solidFill>
                  <a:srgbClr val="15803D"/>
                </a:solidFill>
                <a:latin typeface="Calibri" pitchFamily="34" charset="0"/>
                <a:ea typeface="Calibri" pitchFamily="34" charset="-122"/>
                <a:cs typeface="Calibri" pitchFamily="34" charset="-120"/>
              </a:rPr>
              <a:t>✔ Interprétable, pas de normalisation requise</a:t>
            </a:r>
            <a:endParaRPr lang="en-US" sz="900" dirty="0"/>
          </a:p>
        </p:txBody>
      </p:sp>
      <p:sp>
        <p:nvSpPr>
          <p:cNvPr id="32" name="Shape 30"/>
          <p:cNvSpPr/>
          <p:nvPr/>
        </p:nvSpPr>
        <p:spPr>
          <a:xfrm>
            <a:off x="6227064" y="3858768"/>
            <a:ext cx="2615184" cy="347472"/>
          </a:xfrm>
          <a:prstGeom prst="rect">
            <a:avLst/>
          </a:prstGeom>
          <a:solidFill>
            <a:srgbClr val="0D9488">
              <a:alpha val="15000"/>
            </a:srgbClr>
          </a:solidFill>
          <a:ln/>
        </p:spPr>
        <p:txBody>
          <a:bodyPr/>
          <a:lstStyle/>
          <a:p>
            <a:endParaRPr lang="en-US"/>
          </a:p>
        </p:txBody>
      </p:sp>
      <p:sp>
        <p:nvSpPr>
          <p:cNvPr id="33" name="Text 31"/>
          <p:cNvSpPr/>
          <p:nvPr/>
        </p:nvSpPr>
        <p:spPr>
          <a:xfrm>
            <a:off x="6227064" y="3858768"/>
            <a:ext cx="2615184" cy="347472"/>
          </a:xfrm>
          <a:prstGeom prst="rect">
            <a:avLst/>
          </a:prstGeom>
          <a:noFill/>
          <a:ln/>
        </p:spPr>
        <p:txBody>
          <a:bodyPr wrap="square" rtlCol="0" anchor="ctr"/>
          <a:lstStyle/>
          <a:p>
            <a:pPr marL="0" indent="0" algn="ctr">
              <a:buNone/>
            </a:pPr>
            <a:r>
              <a:rPr lang="en-US" sz="1000" b="1" dirty="0">
                <a:solidFill>
                  <a:srgbClr val="0D9488"/>
                </a:solidFill>
                <a:latin typeface="Calibri" pitchFamily="34" charset="0"/>
                <a:ea typeface="Calibri" pitchFamily="34" charset="-122"/>
                <a:cs typeface="Calibri" pitchFamily="34" charset="-120"/>
              </a:rPr>
              <a:t>⏱ Entraînement : 774.1 s</a:t>
            </a:r>
            <a:endParaRPr lang="en-US" sz="1000" dirty="0"/>
          </a:p>
        </p:txBody>
      </p:sp>
      <p:sp>
        <p:nvSpPr>
          <p:cNvPr id="35" name="TextBox 34">
            <a:extLst>
              <a:ext uri="{FF2B5EF4-FFF2-40B4-BE49-F238E27FC236}">
                <a16:creationId xmlns:a16="http://schemas.microsoft.com/office/drawing/2014/main" id="{91AFA532-DE5C-AD10-9D66-BCF86567CC07}"/>
              </a:ext>
            </a:extLst>
          </p:cNvPr>
          <p:cNvSpPr txBox="1"/>
          <p:nvPr/>
        </p:nvSpPr>
        <p:spPr>
          <a:xfrm>
            <a:off x="8842314" y="4774168"/>
            <a:ext cx="301686" cy="369332"/>
          </a:xfrm>
          <a:prstGeom prst="rect">
            <a:avLst/>
          </a:prstGeom>
          <a:noFill/>
        </p:spPr>
        <p:txBody>
          <a:bodyPr wrap="none" rtlCol="0">
            <a:spAutoFit/>
          </a:bodyPr>
          <a:lstStyle/>
          <a:p>
            <a:r>
              <a:rPr lang="en-US" dirty="0"/>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a:p>
        </p:txBody>
      </p:sp>
      <p:sp>
        <p:nvSpPr>
          <p:cNvPr id="3" name="Text 1"/>
          <p:cNvSpPr/>
          <p:nvPr/>
        </p:nvSpPr>
        <p:spPr>
          <a:xfrm>
            <a:off x="457200" y="137160"/>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06 · Évaluation des Modèles</a:t>
            </a:r>
            <a:endParaRPr lang="en-US" sz="2200" dirty="0"/>
          </a:p>
        </p:txBody>
      </p:sp>
      <p:pic>
        <p:nvPicPr>
          <p:cNvPr id="4" name="Image 0" descr="preencoded.png"/>
          <p:cNvPicPr>
            <a:picLocks noChangeAspect="1"/>
          </p:cNvPicPr>
          <p:nvPr/>
        </p:nvPicPr>
        <p:blipFill>
          <a:blip r:embed="rId3"/>
          <a:stretch>
            <a:fillRect/>
          </a:stretch>
        </p:blipFill>
        <p:spPr>
          <a:xfrm>
            <a:off x="228600" y="914400"/>
            <a:ext cx="5120640" cy="2560320"/>
          </a:xfrm>
          <a:prstGeom prst="rect">
            <a:avLst/>
          </a:prstGeom>
          <a:effectLst>
            <a:outerShdw blurRad="101600" dist="25400" dir="8100000" algn="bl" rotWithShape="0">
              <a:srgbClr val="000000">
                <a:alpha val="12000"/>
              </a:srgbClr>
            </a:outerShdw>
          </a:effectLst>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257800" y="914400"/>
          <a:ext cx="3931920" cy="1051560"/>
        </p:xfrm>
        <a:graphic>
          <a:graphicData uri="http://schemas.openxmlformats.org/drawingml/2006/table">
            <a:tbl>
              <a:tblPr/>
              <a:tblGrid>
                <a:gridCol w="137160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tblGrid>
              <a:tr h="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Modèle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Accuracy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Precision</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Recall</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F1-Score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Naïve Bayes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83.53%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83.90%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82.99%</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83.44%</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b="1" dirty="0">
                          <a:solidFill>
                            <a:srgbClr val="1565C0"/>
                          </a:solidFill>
                          <a:latin typeface="Calibri" pitchFamily="34" charset="0"/>
                          <a:ea typeface="Calibri" pitchFamily="34" charset="-122"/>
                          <a:cs typeface="Calibri" pitchFamily="34" charset="-120"/>
                        </a:rPr>
                        <a:t>Régr. Logistique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565C0"/>
                          </a:solidFill>
                          <a:latin typeface="Calibri" pitchFamily="34" charset="0"/>
                          <a:ea typeface="Calibri" pitchFamily="34" charset="-122"/>
                          <a:cs typeface="Calibri" pitchFamily="34" charset="-120"/>
                        </a:rPr>
                        <a:t>89.05% ⭐</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565C0"/>
                          </a:solidFill>
                          <a:latin typeface="Calibri" pitchFamily="34" charset="0"/>
                          <a:ea typeface="Calibri" pitchFamily="34" charset="-122"/>
                          <a:cs typeface="Calibri" pitchFamily="34" charset="-120"/>
                        </a:rPr>
                        <a:t>88.71%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565C0"/>
                          </a:solidFill>
                          <a:latin typeface="Calibri" pitchFamily="34" charset="0"/>
                          <a:ea typeface="Calibri" pitchFamily="34" charset="-122"/>
                          <a:cs typeface="Calibri" pitchFamily="34" charset="-120"/>
                        </a:rPr>
                        <a:t>89.49%</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565C0"/>
                          </a:solidFill>
                          <a:latin typeface="Calibri" pitchFamily="34" charset="0"/>
                          <a:ea typeface="Calibri" pitchFamily="34" charset="-122"/>
                          <a:cs typeface="Calibri" pitchFamily="34" charset="-120"/>
                        </a:rPr>
                        <a:t>89.10% ⭐</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900" b="1" dirty="0">
                          <a:solidFill>
                            <a:srgbClr val="1E293B"/>
                          </a:solidFill>
                          <a:latin typeface="Calibri" pitchFamily="34" charset="0"/>
                          <a:ea typeface="Calibri" pitchFamily="34" charset="-122"/>
                          <a:cs typeface="Calibri" pitchFamily="34" charset="-120"/>
                        </a:rPr>
                        <a:t>Decision Tree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73.26%</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79.55%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62.63%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70.08%</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2"/>
          <p:cNvSpPr/>
          <p:nvPr/>
        </p:nvSpPr>
        <p:spPr>
          <a:xfrm>
            <a:off x="228600" y="3566160"/>
            <a:ext cx="8686800" cy="292608"/>
          </a:xfrm>
          <a:prstGeom prst="rect">
            <a:avLst/>
          </a:prstGeom>
          <a:noFill/>
          <a:ln/>
        </p:spPr>
        <p:txBody>
          <a:bodyPr wrap="square" rtlCol="0" anchor="ctr"/>
          <a:lstStyle/>
          <a:p>
            <a:pPr marL="0" indent="0">
              <a:buNone/>
            </a:pPr>
            <a:r>
              <a:rPr lang="en-US" sz="1200" b="1" dirty="0">
                <a:solidFill>
                  <a:srgbClr val="0F2044"/>
                </a:solidFill>
                <a:latin typeface="Calibri" pitchFamily="34" charset="0"/>
                <a:ea typeface="Calibri" pitchFamily="34" charset="-122"/>
                <a:cs typeface="Calibri" pitchFamily="34" charset="-120"/>
              </a:rPr>
              <a:t>Matrices de Confusion</a:t>
            </a:r>
            <a:endParaRPr lang="en-US" sz="1200" dirty="0"/>
          </a:p>
        </p:txBody>
      </p:sp>
      <p:pic>
        <p:nvPicPr>
          <p:cNvPr id="7" name="Image 1" descr="preencoded.png"/>
          <p:cNvPicPr>
            <a:picLocks noChangeAspect="1"/>
          </p:cNvPicPr>
          <p:nvPr/>
        </p:nvPicPr>
        <p:blipFill>
          <a:blip r:embed="rId4"/>
          <a:stretch>
            <a:fillRect/>
          </a:stretch>
        </p:blipFill>
        <p:spPr>
          <a:xfrm>
            <a:off x="228600" y="3886200"/>
            <a:ext cx="2743200" cy="1005840"/>
          </a:xfrm>
          <a:prstGeom prst="rect">
            <a:avLst/>
          </a:prstGeom>
          <a:effectLst>
            <a:outerShdw blurRad="101600" dist="25400" dir="8100000" algn="bl" rotWithShape="0">
              <a:srgbClr val="000000">
                <a:alpha val="12000"/>
              </a:srgbClr>
            </a:outerShdw>
          </a:effectLst>
        </p:spPr>
      </p:pic>
      <p:pic>
        <p:nvPicPr>
          <p:cNvPr id="8" name="Image 2" descr="preencoded.png"/>
          <p:cNvPicPr>
            <a:picLocks noChangeAspect="1"/>
          </p:cNvPicPr>
          <p:nvPr/>
        </p:nvPicPr>
        <p:blipFill>
          <a:blip r:embed="rId5"/>
          <a:stretch>
            <a:fillRect/>
          </a:stretch>
        </p:blipFill>
        <p:spPr>
          <a:xfrm>
            <a:off x="3172968" y="3886200"/>
            <a:ext cx="2743200" cy="1005840"/>
          </a:xfrm>
          <a:prstGeom prst="rect">
            <a:avLst/>
          </a:prstGeom>
          <a:effectLst>
            <a:outerShdw blurRad="101600" dist="25400" dir="8100000" algn="bl" rotWithShape="0">
              <a:srgbClr val="000000">
                <a:alpha val="12000"/>
              </a:srgbClr>
            </a:outerShdw>
          </a:effectLst>
        </p:spPr>
      </p:pic>
      <p:pic>
        <p:nvPicPr>
          <p:cNvPr id="9" name="Image 3" descr="preencoded.png"/>
          <p:cNvPicPr>
            <a:picLocks noChangeAspect="1"/>
          </p:cNvPicPr>
          <p:nvPr/>
        </p:nvPicPr>
        <p:blipFill>
          <a:blip r:embed="rId6"/>
          <a:stretch>
            <a:fillRect/>
          </a:stretch>
        </p:blipFill>
        <p:spPr>
          <a:xfrm>
            <a:off x="6117336" y="3886200"/>
            <a:ext cx="2743200" cy="1005840"/>
          </a:xfrm>
          <a:prstGeom prst="rect">
            <a:avLst/>
          </a:prstGeom>
          <a:effectLst>
            <a:outerShdw blurRad="101600" dist="25400" dir="8100000" algn="bl" rotWithShape="0">
              <a:srgbClr val="000000">
                <a:alpha val="12000"/>
              </a:srgbClr>
            </a:outerShdw>
          </a:effectLst>
        </p:spPr>
      </p:pic>
      <p:sp>
        <p:nvSpPr>
          <p:cNvPr id="11" name="TextBox 10">
            <a:extLst>
              <a:ext uri="{FF2B5EF4-FFF2-40B4-BE49-F238E27FC236}">
                <a16:creationId xmlns:a16="http://schemas.microsoft.com/office/drawing/2014/main" id="{892C99C4-A39D-30FC-1C72-7D54E28CD0CA}"/>
              </a:ext>
            </a:extLst>
          </p:cNvPr>
          <p:cNvSpPr txBox="1"/>
          <p:nvPr/>
        </p:nvSpPr>
        <p:spPr>
          <a:xfrm>
            <a:off x="8842314" y="4774168"/>
            <a:ext cx="301686" cy="369332"/>
          </a:xfrm>
          <a:prstGeom prst="rect">
            <a:avLst/>
          </a:prstGeom>
          <a:noFill/>
        </p:spPr>
        <p:txBody>
          <a:bodyPr wrap="none" rtlCol="0">
            <a:spAutoFit/>
          </a:bodyPr>
          <a:lstStyle/>
          <a:p>
            <a:r>
              <a:rPr lang="en-US" dirty="0"/>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a:p>
        </p:txBody>
      </p:sp>
      <p:sp>
        <p:nvSpPr>
          <p:cNvPr id="3" name="Text 1"/>
          <p:cNvSpPr/>
          <p:nvPr/>
        </p:nvSpPr>
        <p:spPr>
          <a:xfrm>
            <a:off x="457200" y="137160"/>
            <a:ext cx="8229600" cy="54864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06 · Résultats Détaillés — Régression Logistique</a:t>
            </a:r>
            <a:endParaRPr lang="en-US" sz="2000" dirty="0"/>
          </a:p>
        </p:txBody>
      </p:sp>
      <p:sp>
        <p:nvSpPr>
          <p:cNvPr id="4" name="Shape 2"/>
          <p:cNvSpPr/>
          <p:nvPr/>
        </p:nvSpPr>
        <p:spPr>
          <a:xfrm>
            <a:off x="228600" y="896112"/>
            <a:ext cx="8686800" cy="502920"/>
          </a:xfrm>
          <a:prstGeom prst="rect">
            <a:avLst/>
          </a:prstGeom>
          <a:solidFill>
            <a:srgbClr val="ECFDF5"/>
          </a:solidFill>
          <a:ln w="12700">
            <a:solidFill>
              <a:srgbClr val="15803D"/>
            </a:solidFill>
            <a:prstDash val="solid"/>
          </a:ln>
          <a:effectLst>
            <a:outerShdw blurRad="101600" dist="25400" dir="8100000" algn="bl" rotWithShape="0">
              <a:srgbClr val="000000">
                <a:alpha val="12000"/>
              </a:srgbClr>
            </a:outerShdw>
          </a:effectLst>
        </p:spPr>
        <p:txBody>
          <a:bodyPr/>
          <a:lstStyle/>
          <a:p>
            <a:endParaRPr lang="en-US"/>
          </a:p>
        </p:txBody>
      </p:sp>
      <p:sp>
        <p:nvSpPr>
          <p:cNvPr id="5" name="Text 3"/>
          <p:cNvSpPr/>
          <p:nvPr/>
        </p:nvSpPr>
        <p:spPr>
          <a:xfrm>
            <a:off x="320040" y="896112"/>
            <a:ext cx="8503920" cy="502920"/>
          </a:xfrm>
          <a:prstGeom prst="rect">
            <a:avLst/>
          </a:prstGeom>
          <a:noFill/>
          <a:ln/>
        </p:spPr>
        <p:txBody>
          <a:bodyPr wrap="square" rtlCol="0" anchor="ctr"/>
          <a:lstStyle/>
          <a:p>
            <a:pPr marL="0" indent="0" algn="ctr">
              <a:buNone/>
            </a:pPr>
            <a:r>
              <a:rPr lang="en-US" sz="1100" b="1" dirty="0">
                <a:solidFill>
                  <a:srgbClr val="15803D"/>
                </a:solidFill>
                <a:latin typeface="Calibri" pitchFamily="34" charset="0"/>
                <a:ea typeface="Calibri" pitchFamily="34" charset="-122"/>
                <a:cs typeface="Calibri" pitchFamily="34" charset="-120"/>
              </a:rPr>
              <a:t>🏆  Meilleur modèle : Régression Logistique — Accuracy 89.05%  |  F1-Score 89.10%  |  Entraîné sur 3 600 000 avis Amazon</a:t>
            </a:r>
            <a:endParaRPr lang="en-US" sz="1100" dirty="0"/>
          </a:p>
        </p:txBody>
      </p:sp>
      <p:sp>
        <p:nvSpPr>
          <p:cNvPr id="6" name="Shape 4"/>
          <p:cNvSpPr/>
          <p:nvPr/>
        </p:nvSpPr>
        <p:spPr>
          <a:xfrm>
            <a:off x="228600" y="1508760"/>
            <a:ext cx="2011680" cy="1143000"/>
          </a:xfrm>
          <a:prstGeom prst="rect">
            <a:avLst/>
          </a:prstGeom>
          <a:solidFill>
            <a:srgbClr val="F8FAFC"/>
          </a:solidFill>
          <a:ln w="12700">
            <a:solidFill>
              <a:srgbClr val="1565C0"/>
            </a:solidFill>
            <a:prstDash val="solid"/>
          </a:ln>
          <a:effectLst>
            <a:outerShdw blurRad="101600" dist="25400" dir="8100000" algn="bl" rotWithShape="0">
              <a:srgbClr val="000000">
                <a:alpha val="12000"/>
              </a:srgbClr>
            </a:outerShdw>
          </a:effectLst>
        </p:spPr>
        <p:txBody>
          <a:bodyPr/>
          <a:lstStyle/>
          <a:p>
            <a:endParaRPr lang="en-US"/>
          </a:p>
        </p:txBody>
      </p:sp>
      <p:sp>
        <p:nvSpPr>
          <p:cNvPr id="7" name="Text 5"/>
          <p:cNvSpPr/>
          <p:nvPr/>
        </p:nvSpPr>
        <p:spPr>
          <a:xfrm>
            <a:off x="228600" y="1554480"/>
            <a:ext cx="2011680" cy="274320"/>
          </a:xfrm>
          <a:prstGeom prst="rect">
            <a:avLst/>
          </a:prstGeom>
          <a:noFill/>
          <a:ln/>
        </p:spPr>
        <p:txBody>
          <a:bodyPr wrap="square" rtlCol="0" anchor="ctr"/>
          <a:lstStyle/>
          <a:p>
            <a:pPr marL="0" indent="0" algn="ctr">
              <a:buNone/>
            </a:pPr>
            <a:r>
              <a:rPr lang="en-US" sz="1100" b="1" dirty="0">
                <a:solidFill>
                  <a:srgbClr val="1565C0"/>
                </a:solidFill>
                <a:latin typeface="Calibri" pitchFamily="34" charset="0"/>
                <a:ea typeface="Calibri" pitchFamily="34" charset="-122"/>
                <a:cs typeface="Calibri" pitchFamily="34" charset="-120"/>
              </a:rPr>
              <a:t>Accuracy</a:t>
            </a:r>
            <a:endParaRPr lang="en-US" sz="1100" dirty="0"/>
          </a:p>
        </p:txBody>
      </p:sp>
      <p:sp>
        <p:nvSpPr>
          <p:cNvPr id="8" name="Text 6"/>
          <p:cNvSpPr/>
          <p:nvPr/>
        </p:nvSpPr>
        <p:spPr>
          <a:xfrm>
            <a:off x="228600" y="1828800"/>
            <a:ext cx="2011680" cy="502920"/>
          </a:xfrm>
          <a:prstGeom prst="rect">
            <a:avLst/>
          </a:prstGeom>
          <a:noFill/>
          <a:ln/>
        </p:spPr>
        <p:txBody>
          <a:bodyPr wrap="square" rtlCol="0" anchor="ctr"/>
          <a:lstStyle/>
          <a:p>
            <a:pPr marL="0" indent="0" algn="ctr">
              <a:buNone/>
            </a:pPr>
            <a:r>
              <a:rPr lang="en-US" sz="2600" b="1" dirty="0">
                <a:solidFill>
                  <a:srgbClr val="1565C0"/>
                </a:solidFill>
                <a:latin typeface="Calibri" pitchFamily="34" charset="0"/>
                <a:ea typeface="Calibri" pitchFamily="34" charset="-122"/>
                <a:cs typeface="Calibri" pitchFamily="34" charset="-120"/>
              </a:rPr>
              <a:t>89.05%</a:t>
            </a:r>
            <a:endParaRPr lang="en-US" sz="2600" dirty="0"/>
          </a:p>
        </p:txBody>
      </p:sp>
      <p:sp>
        <p:nvSpPr>
          <p:cNvPr id="9" name="Text 7"/>
          <p:cNvSpPr/>
          <p:nvPr/>
        </p:nvSpPr>
        <p:spPr>
          <a:xfrm>
            <a:off x="228600" y="2331720"/>
            <a:ext cx="2011680" cy="256032"/>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 de prédictions correctes</a:t>
            </a:r>
            <a:endParaRPr lang="en-US" sz="850" dirty="0"/>
          </a:p>
        </p:txBody>
      </p:sp>
      <p:sp>
        <p:nvSpPr>
          <p:cNvPr id="10" name="Shape 8"/>
          <p:cNvSpPr/>
          <p:nvPr/>
        </p:nvSpPr>
        <p:spPr>
          <a:xfrm>
            <a:off x="2404872" y="1508760"/>
            <a:ext cx="2011680" cy="1143000"/>
          </a:xfrm>
          <a:prstGeom prst="rect">
            <a:avLst/>
          </a:prstGeom>
          <a:solidFill>
            <a:srgbClr val="F8FAFC"/>
          </a:solidFill>
          <a:ln w="12700">
            <a:solidFill>
              <a:srgbClr val="0D9488"/>
            </a:solidFill>
            <a:prstDash val="solid"/>
          </a:ln>
          <a:effectLst>
            <a:outerShdw blurRad="101600" dist="25400" dir="8100000" algn="bl" rotWithShape="0">
              <a:srgbClr val="000000">
                <a:alpha val="12000"/>
              </a:srgbClr>
            </a:outerShdw>
          </a:effectLst>
        </p:spPr>
        <p:txBody>
          <a:bodyPr/>
          <a:lstStyle/>
          <a:p>
            <a:endParaRPr lang="en-US"/>
          </a:p>
        </p:txBody>
      </p:sp>
      <p:sp>
        <p:nvSpPr>
          <p:cNvPr id="11" name="Text 9"/>
          <p:cNvSpPr/>
          <p:nvPr/>
        </p:nvSpPr>
        <p:spPr>
          <a:xfrm>
            <a:off x="2404872" y="1554480"/>
            <a:ext cx="2011680" cy="274320"/>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Precision</a:t>
            </a:r>
            <a:endParaRPr lang="en-US" sz="1100" dirty="0"/>
          </a:p>
        </p:txBody>
      </p:sp>
      <p:sp>
        <p:nvSpPr>
          <p:cNvPr id="12" name="Text 10"/>
          <p:cNvSpPr/>
          <p:nvPr/>
        </p:nvSpPr>
        <p:spPr>
          <a:xfrm>
            <a:off x="2404872" y="1828800"/>
            <a:ext cx="2011680" cy="502920"/>
          </a:xfrm>
          <a:prstGeom prst="rect">
            <a:avLst/>
          </a:prstGeom>
          <a:noFill/>
          <a:ln/>
        </p:spPr>
        <p:txBody>
          <a:bodyPr wrap="square" rtlCol="0" anchor="ctr"/>
          <a:lstStyle/>
          <a:p>
            <a:pPr marL="0" indent="0" algn="ctr">
              <a:buNone/>
            </a:pPr>
            <a:r>
              <a:rPr lang="en-US" sz="2600" b="1" dirty="0">
                <a:solidFill>
                  <a:srgbClr val="0D9488"/>
                </a:solidFill>
                <a:latin typeface="Calibri" pitchFamily="34" charset="0"/>
                <a:ea typeface="Calibri" pitchFamily="34" charset="-122"/>
                <a:cs typeface="Calibri" pitchFamily="34" charset="-120"/>
              </a:rPr>
              <a:t>88.71%</a:t>
            </a:r>
            <a:endParaRPr lang="en-US" sz="2600" dirty="0"/>
          </a:p>
        </p:txBody>
      </p:sp>
      <p:sp>
        <p:nvSpPr>
          <p:cNvPr id="13" name="Text 11"/>
          <p:cNvSpPr/>
          <p:nvPr/>
        </p:nvSpPr>
        <p:spPr>
          <a:xfrm>
            <a:off x="2404872" y="2331720"/>
            <a:ext cx="2011680" cy="256032"/>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Vrais positifs / (VP + FP)</a:t>
            </a:r>
            <a:endParaRPr lang="en-US" sz="850" dirty="0"/>
          </a:p>
        </p:txBody>
      </p:sp>
      <p:sp>
        <p:nvSpPr>
          <p:cNvPr id="14" name="Shape 12"/>
          <p:cNvSpPr/>
          <p:nvPr/>
        </p:nvSpPr>
        <p:spPr>
          <a:xfrm>
            <a:off x="4581144" y="1508760"/>
            <a:ext cx="2011680" cy="1143000"/>
          </a:xfrm>
          <a:prstGeom prst="rect">
            <a:avLst/>
          </a:prstGeom>
          <a:solidFill>
            <a:srgbClr val="F8FAFC"/>
          </a:solidFill>
          <a:ln w="12700">
            <a:solidFill>
              <a:srgbClr val="15803D"/>
            </a:solidFill>
            <a:prstDash val="solid"/>
          </a:ln>
          <a:effectLst>
            <a:outerShdw blurRad="101600" dist="25400" dir="8100000" algn="bl" rotWithShape="0">
              <a:srgbClr val="000000">
                <a:alpha val="12000"/>
              </a:srgbClr>
            </a:outerShdw>
          </a:effectLst>
        </p:spPr>
        <p:txBody>
          <a:bodyPr/>
          <a:lstStyle/>
          <a:p>
            <a:endParaRPr lang="en-US"/>
          </a:p>
        </p:txBody>
      </p:sp>
      <p:sp>
        <p:nvSpPr>
          <p:cNvPr id="15" name="Text 13"/>
          <p:cNvSpPr/>
          <p:nvPr/>
        </p:nvSpPr>
        <p:spPr>
          <a:xfrm>
            <a:off x="4581144" y="1554480"/>
            <a:ext cx="2011680" cy="274320"/>
          </a:xfrm>
          <a:prstGeom prst="rect">
            <a:avLst/>
          </a:prstGeom>
          <a:noFill/>
          <a:ln/>
        </p:spPr>
        <p:txBody>
          <a:bodyPr wrap="square" rtlCol="0" anchor="ctr"/>
          <a:lstStyle/>
          <a:p>
            <a:pPr marL="0" indent="0" algn="ctr">
              <a:buNone/>
            </a:pPr>
            <a:r>
              <a:rPr lang="en-US" sz="1100" b="1" dirty="0">
                <a:solidFill>
                  <a:srgbClr val="15803D"/>
                </a:solidFill>
                <a:latin typeface="Calibri" pitchFamily="34" charset="0"/>
                <a:ea typeface="Calibri" pitchFamily="34" charset="-122"/>
                <a:cs typeface="Calibri" pitchFamily="34" charset="-120"/>
              </a:rPr>
              <a:t>Recall</a:t>
            </a:r>
            <a:endParaRPr lang="en-US" sz="1100" dirty="0"/>
          </a:p>
        </p:txBody>
      </p:sp>
      <p:sp>
        <p:nvSpPr>
          <p:cNvPr id="16" name="Text 14"/>
          <p:cNvSpPr/>
          <p:nvPr/>
        </p:nvSpPr>
        <p:spPr>
          <a:xfrm>
            <a:off x="4581144" y="1828800"/>
            <a:ext cx="2011680" cy="502920"/>
          </a:xfrm>
          <a:prstGeom prst="rect">
            <a:avLst/>
          </a:prstGeom>
          <a:noFill/>
          <a:ln/>
        </p:spPr>
        <p:txBody>
          <a:bodyPr wrap="square" rtlCol="0" anchor="ctr"/>
          <a:lstStyle/>
          <a:p>
            <a:pPr marL="0" indent="0" algn="ctr">
              <a:buNone/>
            </a:pPr>
            <a:r>
              <a:rPr lang="en-US" sz="2600" b="1" dirty="0">
                <a:solidFill>
                  <a:srgbClr val="15803D"/>
                </a:solidFill>
                <a:latin typeface="Calibri" pitchFamily="34" charset="0"/>
                <a:ea typeface="Calibri" pitchFamily="34" charset="-122"/>
                <a:cs typeface="Calibri" pitchFamily="34" charset="-120"/>
              </a:rPr>
              <a:t>89.49%</a:t>
            </a:r>
            <a:endParaRPr lang="en-US" sz="2600" dirty="0"/>
          </a:p>
        </p:txBody>
      </p:sp>
      <p:sp>
        <p:nvSpPr>
          <p:cNvPr id="17" name="Text 15"/>
          <p:cNvSpPr/>
          <p:nvPr/>
        </p:nvSpPr>
        <p:spPr>
          <a:xfrm>
            <a:off x="4581144" y="2331720"/>
            <a:ext cx="2011680" cy="256032"/>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Vrais positifs / (VP + FN)</a:t>
            </a:r>
            <a:endParaRPr lang="en-US" sz="850" dirty="0"/>
          </a:p>
        </p:txBody>
      </p:sp>
      <p:sp>
        <p:nvSpPr>
          <p:cNvPr id="18" name="Shape 16"/>
          <p:cNvSpPr/>
          <p:nvPr/>
        </p:nvSpPr>
        <p:spPr>
          <a:xfrm>
            <a:off x="6757416" y="1508760"/>
            <a:ext cx="2011680" cy="1143000"/>
          </a:xfrm>
          <a:prstGeom prst="rect">
            <a:avLst/>
          </a:prstGeom>
          <a:solidFill>
            <a:srgbClr val="F8FAFC"/>
          </a:solidFill>
          <a:ln w="12700">
            <a:solidFill>
              <a:srgbClr val="7C3AED"/>
            </a:solidFill>
            <a:prstDash val="solid"/>
          </a:ln>
          <a:effectLst>
            <a:outerShdw blurRad="101600" dist="25400" dir="8100000" algn="bl" rotWithShape="0">
              <a:srgbClr val="000000">
                <a:alpha val="12000"/>
              </a:srgbClr>
            </a:outerShdw>
          </a:effectLst>
        </p:spPr>
        <p:txBody>
          <a:bodyPr/>
          <a:lstStyle/>
          <a:p>
            <a:endParaRPr lang="en-US"/>
          </a:p>
        </p:txBody>
      </p:sp>
      <p:sp>
        <p:nvSpPr>
          <p:cNvPr id="19" name="Text 17"/>
          <p:cNvSpPr/>
          <p:nvPr/>
        </p:nvSpPr>
        <p:spPr>
          <a:xfrm>
            <a:off x="6757416" y="1554480"/>
            <a:ext cx="2011680" cy="274320"/>
          </a:xfrm>
          <a:prstGeom prst="rect">
            <a:avLst/>
          </a:prstGeom>
          <a:noFill/>
          <a:ln/>
        </p:spPr>
        <p:txBody>
          <a:bodyPr wrap="square"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F1-Score</a:t>
            </a:r>
            <a:endParaRPr lang="en-US" sz="1100" dirty="0"/>
          </a:p>
        </p:txBody>
      </p:sp>
      <p:sp>
        <p:nvSpPr>
          <p:cNvPr id="20" name="Text 18"/>
          <p:cNvSpPr/>
          <p:nvPr/>
        </p:nvSpPr>
        <p:spPr>
          <a:xfrm>
            <a:off x="6757416" y="1828800"/>
            <a:ext cx="2011680" cy="502920"/>
          </a:xfrm>
          <a:prstGeom prst="rect">
            <a:avLst/>
          </a:prstGeom>
          <a:noFill/>
          <a:ln/>
        </p:spPr>
        <p:txBody>
          <a:bodyPr wrap="square" rtlCol="0" anchor="ctr"/>
          <a:lstStyle/>
          <a:p>
            <a:pPr marL="0" indent="0" algn="ctr">
              <a:buNone/>
            </a:pPr>
            <a:r>
              <a:rPr lang="en-US" sz="2600" b="1" dirty="0">
                <a:solidFill>
                  <a:srgbClr val="7C3AED"/>
                </a:solidFill>
                <a:latin typeface="Calibri" pitchFamily="34" charset="0"/>
                <a:ea typeface="Calibri" pitchFamily="34" charset="-122"/>
                <a:cs typeface="Calibri" pitchFamily="34" charset="-120"/>
              </a:rPr>
              <a:t>89.10%</a:t>
            </a:r>
            <a:endParaRPr lang="en-US" sz="2600" dirty="0"/>
          </a:p>
        </p:txBody>
      </p:sp>
      <p:sp>
        <p:nvSpPr>
          <p:cNvPr id="21" name="Text 19"/>
          <p:cNvSpPr/>
          <p:nvPr/>
        </p:nvSpPr>
        <p:spPr>
          <a:xfrm>
            <a:off x="6757416" y="2331720"/>
            <a:ext cx="2011680" cy="256032"/>
          </a:xfrm>
          <a:prstGeom prst="rect">
            <a:avLst/>
          </a:prstGeom>
          <a:noFill/>
          <a:ln/>
        </p:spPr>
        <p:txBody>
          <a:bodyPr wrap="square" rtlCol="0" anchor="ctr"/>
          <a:lstStyle/>
          <a:p>
            <a:pPr marL="0" indent="0" algn="ctr">
              <a:buNone/>
            </a:pPr>
            <a:r>
              <a:rPr lang="en-US" sz="850" dirty="0">
                <a:solidFill>
                  <a:srgbClr val="64748B"/>
                </a:solidFill>
                <a:latin typeface="Calibri" pitchFamily="34" charset="0"/>
                <a:ea typeface="Calibri" pitchFamily="34" charset="-122"/>
                <a:cs typeface="Calibri" pitchFamily="34" charset="-120"/>
              </a:rPr>
              <a:t>Moyenne harmonique P/R</a:t>
            </a:r>
            <a:endParaRPr lang="en-US" sz="850" dirty="0"/>
          </a:p>
        </p:txBody>
      </p:sp>
      <p:sp>
        <p:nvSpPr>
          <p:cNvPr id="22" name="Shape 20"/>
          <p:cNvSpPr/>
          <p:nvPr/>
        </p:nvSpPr>
        <p:spPr>
          <a:xfrm>
            <a:off x="228600" y="2743200"/>
            <a:ext cx="8686800" cy="347472"/>
          </a:xfrm>
          <a:prstGeom prst="rect">
            <a:avLst/>
          </a:prstGeom>
          <a:solidFill>
            <a:srgbClr val="1565C0"/>
          </a:solidFill>
          <a:ln/>
        </p:spPr>
        <p:txBody>
          <a:bodyPr/>
          <a:lstStyle/>
          <a:p>
            <a:endParaRPr lang="en-US"/>
          </a:p>
        </p:txBody>
      </p:sp>
      <p:sp>
        <p:nvSpPr>
          <p:cNvPr id="23" name="Text 21"/>
          <p:cNvSpPr/>
          <p:nvPr/>
        </p:nvSpPr>
        <p:spPr>
          <a:xfrm>
            <a:off x="320040" y="2743200"/>
            <a:ext cx="850392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Rapport de Classification (400 000 avis de test)</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228600" y="3154680"/>
          <a:ext cx="8686800" cy="1005840"/>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Classe</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Precision</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Recall</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F1-Score</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Support</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044"/>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DC2626"/>
                          </a:solidFill>
                          <a:latin typeface="Calibri" pitchFamily="34" charset="0"/>
                          <a:ea typeface="Calibri" pitchFamily="34" charset="-122"/>
                          <a:cs typeface="Calibri" pitchFamily="34" charset="-120"/>
                        </a:rPr>
                        <a:t>Négatif (0)</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0.89</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0.89</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0.89</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64748B"/>
                          </a:solidFill>
                          <a:latin typeface="Calibri" pitchFamily="34" charset="0"/>
                          <a:ea typeface="Calibri" pitchFamily="34" charset="-122"/>
                          <a:cs typeface="Calibri" pitchFamily="34" charset="-120"/>
                        </a:rPr>
                        <a:t>200 000</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50" b="1" dirty="0">
                          <a:solidFill>
                            <a:srgbClr val="15803D"/>
                          </a:solidFill>
                          <a:latin typeface="Calibri" pitchFamily="34" charset="0"/>
                          <a:ea typeface="Calibri" pitchFamily="34" charset="-122"/>
                          <a:cs typeface="Calibri" pitchFamily="34" charset="-120"/>
                        </a:rPr>
                        <a:t>Positif (1)</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0.89</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0.89</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latin typeface="Calibri" pitchFamily="34" charset="0"/>
                          <a:ea typeface="Calibri" pitchFamily="34" charset="-122"/>
                          <a:cs typeface="Calibri" pitchFamily="34" charset="-120"/>
                        </a:rPr>
                        <a:t>0.89</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64748B"/>
                          </a:solidFill>
                          <a:latin typeface="Calibri" pitchFamily="34" charset="0"/>
                          <a:ea typeface="Calibri" pitchFamily="34" charset="-122"/>
                          <a:cs typeface="Calibri" pitchFamily="34" charset="-120"/>
                        </a:rPr>
                        <a:t>200 000</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50" b="1" dirty="0">
                          <a:solidFill>
                            <a:srgbClr val="1565C0"/>
                          </a:solidFill>
                          <a:latin typeface="Calibri" pitchFamily="34" charset="0"/>
                          <a:ea typeface="Calibri" pitchFamily="34" charset="-122"/>
                          <a:cs typeface="Calibri" pitchFamily="34" charset="-120"/>
                        </a:rPr>
                        <a:t>Macro Avg</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b="1" dirty="0">
                          <a:solidFill>
                            <a:srgbClr val="1565C0"/>
                          </a:solidFill>
                          <a:latin typeface="Calibri" pitchFamily="34" charset="0"/>
                          <a:ea typeface="Calibri" pitchFamily="34" charset="-122"/>
                          <a:cs typeface="Calibri" pitchFamily="34" charset="-120"/>
                        </a:rPr>
                        <a:t>0.89</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b="1" dirty="0">
                          <a:solidFill>
                            <a:srgbClr val="1565C0"/>
                          </a:solidFill>
                          <a:latin typeface="Calibri" pitchFamily="34" charset="0"/>
                          <a:ea typeface="Calibri" pitchFamily="34" charset="-122"/>
                          <a:cs typeface="Calibri" pitchFamily="34" charset="-120"/>
                        </a:rPr>
                        <a:t>0.89</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b="1" dirty="0">
                          <a:solidFill>
                            <a:srgbClr val="1565C0"/>
                          </a:solidFill>
                          <a:latin typeface="Calibri" pitchFamily="34" charset="0"/>
                          <a:ea typeface="Calibri" pitchFamily="34" charset="-122"/>
                          <a:cs typeface="Calibri" pitchFamily="34" charset="-120"/>
                        </a:rPr>
                        <a:t>0.89</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50" dirty="0">
                          <a:solidFill>
                            <a:srgbClr val="64748B"/>
                          </a:solidFill>
                          <a:latin typeface="Calibri" pitchFamily="34" charset="0"/>
                          <a:ea typeface="Calibri" pitchFamily="34" charset="-122"/>
                          <a:cs typeface="Calibri" pitchFamily="34" charset="-120"/>
                        </a:rPr>
                        <a:t>400 000</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pic>
        <p:nvPicPr>
          <p:cNvPr id="25" name="Image 0" descr="preencoded.png"/>
          <p:cNvPicPr>
            <a:picLocks noChangeAspect="1"/>
          </p:cNvPicPr>
          <p:nvPr/>
        </p:nvPicPr>
        <p:blipFill>
          <a:blip r:embed="rId3"/>
          <a:stretch>
            <a:fillRect/>
          </a:stretch>
        </p:blipFill>
        <p:spPr>
          <a:xfrm>
            <a:off x="228600" y="4315968"/>
            <a:ext cx="2286000" cy="749808"/>
          </a:xfrm>
          <a:prstGeom prst="rect">
            <a:avLst/>
          </a:prstGeom>
          <a:effectLst>
            <a:outerShdw blurRad="101600" dist="25400" dir="8100000" algn="bl" rotWithShape="0">
              <a:srgbClr val="000000">
                <a:alpha val="12000"/>
              </a:srgbClr>
            </a:outerShdw>
          </a:effectLst>
        </p:spPr>
      </p:pic>
      <p:sp>
        <p:nvSpPr>
          <p:cNvPr id="26" name="Text 22"/>
          <p:cNvSpPr/>
          <p:nvPr/>
        </p:nvSpPr>
        <p:spPr>
          <a:xfrm>
            <a:off x="2651760" y="4389120"/>
            <a:ext cx="6217920" cy="54864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177 230 vrais négatifs  |  178 987 vrais positifs  |  22 770 FP  |  21 013 FN</a:t>
            </a:r>
            <a:endParaRPr lang="en-US" sz="1000" dirty="0"/>
          </a:p>
        </p:txBody>
      </p:sp>
      <p:sp>
        <p:nvSpPr>
          <p:cNvPr id="28" name="TextBox 27">
            <a:extLst>
              <a:ext uri="{FF2B5EF4-FFF2-40B4-BE49-F238E27FC236}">
                <a16:creationId xmlns:a16="http://schemas.microsoft.com/office/drawing/2014/main" id="{581B6147-CC47-F856-AEEC-48AE36F2AAB8}"/>
              </a:ext>
            </a:extLst>
          </p:cNvPr>
          <p:cNvSpPr txBox="1"/>
          <p:nvPr/>
        </p:nvSpPr>
        <p:spPr>
          <a:xfrm>
            <a:off x="8842314" y="4774168"/>
            <a:ext cx="418704" cy="369332"/>
          </a:xfrm>
          <a:prstGeom prst="rect">
            <a:avLst/>
          </a:prstGeom>
          <a:noFill/>
        </p:spPr>
        <p:txBody>
          <a:bodyPr wrap="none" rtlCol="0">
            <a:spAutoFit/>
          </a:bodyPr>
          <a:lstStyle/>
          <a:p>
            <a:r>
              <a:rPr lang="en-US" dirty="0"/>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2044"/>
          </a:solidFill>
          <a:ln/>
        </p:spPr>
        <p:txBody>
          <a:bodyPr/>
          <a:lstStyle/>
          <a:p>
            <a:endParaRPr lang="en-US"/>
          </a:p>
        </p:txBody>
      </p:sp>
      <p:sp>
        <p:nvSpPr>
          <p:cNvPr id="3" name="Text 1"/>
          <p:cNvSpPr/>
          <p:nvPr/>
        </p:nvSpPr>
        <p:spPr>
          <a:xfrm>
            <a:off x="457200" y="137160"/>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06 · Test Interactif du Modèle</a:t>
            </a:r>
            <a:endParaRPr lang="en-US" sz="2200" dirty="0"/>
          </a:p>
        </p:txBody>
      </p:sp>
      <p:sp>
        <p:nvSpPr>
          <p:cNvPr id="4" name="Text 2"/>
          <p:cNvSpPr/>
          <p:nvPr/>
        </p:nvSpPr>
        <p:spPr>
          <a:xfrm>
            <a:off x="274320" y="868680"/>
            <a:ext cx="8595360" cy="25603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Avis saisis et résultats obtenus avec le meilleur modèle (Régression Logistique)</a:t>
            </a:r>
            <a:endParaRPr lang="en-US" sz="1000" dirty="0"/>
          </a:p>
        </p:txBody>
      </p:sp>
      <p:sp>
        <p:nvSpPr>
          <p:cNvPr id="5" name="Shape 3"/>
          <p:cNvSpPr/>
          <p:nvPr/>
        </p:nvSpPr>
        <p:spPr>
          <a:xfrm>
            <a:off x="228600" y="1216152"/>
            <a:ext cx="4206240" cy="1143000"/>
          </a:xfrm>
          <a:prstGeom prst="rect">
            <a:avLst/>
          </a:prstGeom>
          <a:solidFill>
            <a:srgbClr val="F8FAFC"/>
          </a:solidFill>
          <a:ln w="12700">
            <a:solidFill>
              <a:srgbClr val="15803D"/>
            </a:solidFill>
            <a:prstDash val="solid"/>
          </a:ln>
          <a:effectLst>
            <a:outerShdw blurRad="101600" dist="25400" dir="8100000" algn="bl" rotWithShape="0">
              <a:srgbClr val="000000">
                <a:alpha val="12000"/>
              </a:srgbClr>
            </a:outerShdw>
          </a:effectLst>
        </p:spPr>
        <p:txBody>
          <a:bodyPr/>
          <a:lstStyle/>
          <a:p>
            <a:endParaRPr lang="en-US"/>
          </a:p>
        </p:txBody>
      </p:sp>
      <p:sp>
        <p:nvSpPr>
          <p:cNvPr id="6" name="Shape 4"/>
          <p:cNvSpPr/>
          <p:nvPr/>
        </p:nvSpPr>
        <p:spPr>
          <a:xfrm>
            <a:off x="228600" y="1216152"/>
            <a:ext cx="4206240" cy="73152"/>
          </a:xfrm>
          <a:prstGeom prst="rect">
            <a:avLst/>
          </a:prstGeom>
          <a:solidFill>
            <a:srgbClr val="15803D"/>
          </a:solidFill>
          <a:ln/>
        </p:spPr>
        <p:txBody>
          <a:bodyPr/>
          <a:lstStyle/>
          <a:p>
            <a:endParaRPr lang="en-US"/>
          </a:p>
        </p:txBody>
      </p:sp>
      <p:sp>
        <p:nvSpPr>
          <p:cNvPr id="7" name="Text 5"/>
          <p:cNvSpPr/>
          <p:nvPr/>
        </p:nvSpPr>
        <p:spPr>
          <a:xfrm>
            <a:off x="338328" y="1325880"/>
            <a:ext cx="2834640" cy="640080"/>
          </a:xfrm>
          <a:prstGeom prst="rect">
            <a:avLst/>
          </a:prstGeom>
          <a:noFill/>
          <a:ln/>
        </p:spPr>
        <p:txBody>
          <a:bodyPr wrap="square" rtlCol="0" anchor="ctr"/>
          <a:lstStyle/>
          <a:p>
            <a:pPr marL="0" indent="0">
              <a:buNone/>
            </a:pPr>
            <a:r>
              <a:rPr lang="en-US" sz="900" i="1" dirty="0">
                <a:solidFill>
                  <a:srgbClr val="1E293B"/>
                </a:solidFill>
                <a:latin typeface="Calibri" pitchFamily="34" charset="0"/>
                <a:ea typeface="Calibri" pitchFamily="34" charset="-122"/>
                <a:cs typeface="Calibri" pitchFamily="34" charset="-120"/>
              </a:rPr>
              <a:t>"This product is absolutely amazing! Best purchase I ever made."</a:t>
            </a:r>
            <a:endParaRPr lang="en-US" sz="900" dirty="0"/>
          </a:p>
        </p:txBody>
      </p:sp>
      <p:sp>
        <p:nvSpPr>
          <p:cNvPr id="8" name="Shape 6"/>
          <p:cNvSpPr/>
          <p:nvPr/>
        </p:nvSpPr>
        <p:spPr>
          <a:xfrm>
            <a:off x="3227832" y="1289304"/>
            <a:ext cx="1078992" cy="502920"/>
          </a:xfrm>
          <a:prstGeom prst="rect">
            <a:avLst/>
          </a:prstGeom>
          <a:solidFill>
            <a:srgbClr val="15803D"/>
          </a:solidFill>
          <a:ln/>
        </p:spPr>
        <p:txBody>
          <a:bodyPr/>
          <a:lstStyle/>
          <a:p>
            <a:endParaRPr lang="en-US"/>
          </a:p>
        </p:txBody>
      </p:sp>
      <p:sp>
        <p:nvSpPr>
          <p:cNvPr id="9" name="Text 7"/>
          <p:cNvSpPr/>
          <p:nvPr/>
        </p:nvSpPr>
        <p:spPr>
          <a:xfrm>
            <a:off x="3227832" y="1289304"/>
            <a:ext cx="1078992" cy="292608"/>
          </a:xfrm>
          <a:prstGeom prst="rect">
            <a:avLst/>
          </a:prstGeom>
          <a:noFill/>
          <a:ln/>
        </p:spPr>
        <p:txBody>
          <a:bodyPr wrap="square" rtlCol="0" anchor="b"/>
          <a:lstStyle/>
          <a:p>
            <a:pPr marL="0" indent="0" algn="ctr">
              <a:buNone/>
            </a:pPr>
            <a:r>
              <a:rPr lang="en-US" sz="1100" b="1" dirty="0">
                <a:solidFill>
                  <a:srgbClr val="FFFFFF"/>
                </a:solidFill>
                <a:latin typeface="Calibri" pitchFamily="34" charset="0"/>
                <a:ea typeface="Calibri" pitchFamily="34" charset="-122"/>
                <a:cs typeface="Calibri" pitchFamily="34" charset="-120"/>
              </a:rPr>
              <a:t>POSITIF</a:t>
            </a:r>
            <a:endParaRPr lang="en-US" sz="1100" dirty="0"/>
          </a:p>
        </p:txBody>
      </p:sp>
      <p:sp>
        <p:nvSpPr>
          <p:cNvPr id="10" name="Text 8"/>
          <p:cNvSpPr/>
          <p:nvPr/>
        </p:nvSpPr>
        <p:spPr>
          <a:xfrm>
            <a:off x="3227832" y="1563624"/>
            <a:ext cx="1078992" cy="228600"/>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Confiance : 100.0%</a:t>
            </a:r>
            <a:endParaRPr lang="en-US" sz="850" dirty="0"/>
          </a:p>
        </p:txBody>
      </p:sp>
      <p:sp>
        <p:nvSpPr>
          <p:cNvPr id="11" name="Text 9"/>
          <p:cNvSpPr/>
          <p:nvPr/>
        </p:nvSpPr>
        <p:spPr>
          <a:xfrm>
            <a:off x="338328" y="2020824"/>
            <a:ext cx="3840480" cy="256032"/>
          </a:xfrm>
          <a:prstGeom prst="rect">
            <a:avLst/>
          </a:prstGeom>
          <a:noFill/>
          <a:ln/>
        </p:spPr>
        <p:txBody>
          <a:bodyPr wrap="square"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 après prétraitement + vectorisation TF-IDF</a:t>
            </a:r>
            <a:endParaRPr lang="en-US" sz="800" dirty="0"/>
          </a:p>
        </p:txBody>
      </p:sp>
      <p:sp>
        <p:nvSpPr>
          <p:cNvPr id="12" name="Shape 10"/>
          <p:cNvSpPr/>
          <p:nvPr/>
        </p:nvSpPr>
        <p:spPr>
          <a:xfrm>
            <a:off x="4709160" y="1216152"/>
            <a:ext cx="4206240" cy="1143000"/>
          </a:xfrm>
          <a:prstGeom prst="rect">
            <a:avLst/>
          </a:prstGeom>
          <a:solidFill>
            <a:srgbClr val="F8FAFC"/>
          </a:solidFill>
          <a:ln w="12700">
            <a:solidFill>
              <a:srgbClr val="DC2626"/>
            </a:solidFill>
            <a:prstDash val="solid"/>
          </a:ln>
          <a:effectLst>
            <a:outerShdw blurRad="101600" dist="25400" dir="8100000" algn="bl" rotWithShape="0">
              <a:srgbClr val="000000">
                <a:alpha val="12000"/>
              </a:srgbClr>
            </a:outerShdw>
          </a:effectLst>
        </p:spPr>
        <p:txBody>
          <a:bodyPr/>
          <a:lstStyle/>
          <a:p>
            <a:endParaRPr lang="en-US"/>
          </a:p>
        </p:txBody>
      </p:sp>
      <p:sp>
        <p:nvSpPr>
          <p:cNvPr id="13" name="Shape 11"/>
          <p:cNvSpPr/>
          <p:nvPr/>
        </p:nvSpPr>
        <p:spPr>
          <a:xfrm>
            <a:off x="4709160" y="1216152"/>
            <a:ext cx="4206240" cy="73152"/>
          </a:xfrm>
          <a:prstGeom prst="rect">
            <a:avLst/>
          </a:prstGeom>
          <a:solidFill>
            <a:srgbClr val="DC2626"/>
          </a:solidFill>
          <a:ln/>
        </p:spPr>
        <p:txBody>
          <a:bodyPr/>
          <a:lstStyle/>
          <a:p>
            <a:endParaRPr lang="en-US"/>
          </a:p>
        </p:txBody>
      </p:sp>
      <p:sp>
        <p:nvSpPr>
          <p:cNvPr id="14" name="Text 12"/>
          <p:cNvSpPr/>
          <p:nvPr/>
        </p:nvSpPr>
        <p:spPr>
          <a:xfrm>
            <a:off x="4818888" y="1325880"/>
            <a:ext cx="2834640" cy="640080"/>
          </a:xfrm>
          <a:prstGeom prst="rect">
            <a:avLst/>
          </a:prstGeom>
          <a:noFill/>
          <a:ln/>
        </p:spPr>
        <p:txBody>
          <a:bodyPr wrap="square" rtlCol="0" anchor="ctr"/>
          <a:lstStyle/>
          <a:p>
            <a:pPr marL="0" indent="0">
              <a:buNone/>
            </a:pPr>
            <a:r>
              <a:rPr lang="en-US" sz="900" i="1" dirty="0">
                <a:solidFill>
                  <a:srgbClr val="1E293B"/>
                </a:solidFill>
                <a:latin typeface="Calibri" pitchFamily="34" charset="0"/>
                <a:ea typeface="Calibri" pitchFamily="34" charset="-122"/>
                <a:cs typeface="Calibri" pitchFamily="34" charset="-120"/>
              </a:rPr>
              <a:t>"Terrible quality, broke after one day. Complete waste of money."</a:t>
            </a:r>
            <a:endParaRPr lang="en-US" sz="900" dirty="0"/>
          </a:p>
        </p:txBody>
      </p:sp>
      <p:sp>
        <p:nvSpPr>
          <p:cNvPr id="15" name="Shape 13"/>
          <p:cNvSpPr/>
          <p:nvPr/>
        </p:nvSpPr>
        <p:spPr>
          <a:xfrm>
            <a:off x="7708392" y="1289304"/>
            <a:ext cx="1078992" cy="502920"/>
          </a:xfrm>
          <a:prstGeom prst="rect">
            <a:avLst/>
          </a:prstGeom>
          <a:solidFill>
            <a:srgbClr val="DC2626"/>
          </a:solidFill>
          <a:ln/>
        </p:spPr>
        <p:txBody>
          <a:bodyPr/>
          <a:lstStyle/>
          <a:p>
            <a:endParaRPr lang="en-US"/>
          </a:p>
        </p:txBody>
      </p:sp>
      <p:sp>
        <p:nvSpPr>
          <p:cNvPr id="16" name="Text 14"/>
          <p:cNvSpPr/>
          <p:nvPr/>
        </p:nvSpPr>
        <p:spPr>
          <a:xfrm>
            <a:off x="7708392" y="1289304"/>
            <a:ext cx="1078992" cy="292608"/>
          </a:xfrm>
          <a:prstGeom prst="rect">
            <a:avLst/>
          </a:prstGeom>
          <a:noFill/>
          <a:ln/>
        </p:spPr>
        <p:txBody>
          <a:bodyPr wrap="square" rtlCol="0" anchor="b"/>
          <a:lstStyle/>
          <a:p>
            <a:pPr marL="0" indent="0" algn="ctr">
              <a:buNone/>
            </a:pPr>
            <a:r>
              <a:rPr lang="en-US" sz="1100" b="1" dirty="0">
                <a:solidFill>
                  <a:srgbClr val="FFFFFF"/>
                </a:solidFill>
                <a:latin typeface="Calibri" pitchFamily="34" charset="0"/>
                <a:ea typeface="Calibri" pitchFamily="34" charset="-122"/>
                <a:cs typeface="Calibri" pitchFamily="34" charset="-120"/>
              </a:rPr>
              <a:t>NÉGATIF</a:t>
            </a:r>
            <a:endParaRPr lang="en-US" sz="1100" dirty="0"/>
          </a:p>
        </p:txBody>
      </p:sp>
      <p:sp>
        <p:nvSpPr>
          <p:cNvPr id="17" name="Text 15"/>
          <p:cNvSpPr/>
          <p:nvPr/>
        </p:nvSpPr>
        <p:spPr>
          <a:xfrm>
            <a:off x="7708392" y="1563624"/>
            <a:ext cx="1078992" cy="228600"/>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Confiance : 100.0%</a:t>
            </a:r>
            <a:endParaRPr lang="en-US" sz="850" dirty="0"/>
          </a:p>
        </p:txBody>
      </p:sp>
      <p:sp>
        <p:nvSpPr>
          <p:cNvPr id="18" name="Text 16"/>
          <p:cNvSpPr/>
          <p:nvPr/>
        </p:nvSpPr>
        <p:spPr>
          <a:xfrm>
            <a:off x="4818888" y="2020824"/>
            <a:ext cx="3840480" cy="256032"/>
          </a:xfrm>
          <a:prstGeom prst="rect">
            <a:avLst/>
          </a:prstGeom>
          <a:noFill/>
          <a:ln/>
        </p:spPr>
        <p:txBody>
          <a:bodyPr wrap="square"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 après prétraitement + vectorisation TF-IDF</a:t>
            </a:r>
            <a:endParaRPr lang="en-US" sz="800" dirty="0"/>
          </a:p>
        </p:txBody>
      </p:sp>
      <p:sp>
        <p:nvSpPr>
          <p:cNvPr id="19" name="Shape 17"/>
          <p:cNvSpPr/>
          <p:nvPr/>
        </p:nvSpPr>
        <p:spPr>
          <a:xfrm>
            <a:off x="228600" y="2496312"/>
            <a:ext cx="4206240" cy="1143000"/>
          </a:xfrm>
          <a:prstGeom prst="rect">
            <a:avLst/>
          </a:prstGeom>
          <a:solidFill>
            <a:srgbClr val="F8FAFC"/>
          </a:solidFill>
          <a:ln w="12700">
            <a:solidFill>
              <a:srgbClr val="DC2626"/>
            </a:solidFill>
            <a:prstDash val="solid"/>
          </a:ln>
          <a:effectLst>
            <a:outerShdw blurRad="101600" dist="25400" dir="8100000" algn="bl" rotWithShape="0">
              <a:srgbClr val="000000">
                <a:alpha val="12000"/>
              </a:srgbClr>
            </a:outerShdw>
          </a:effectLst>
        </p:spPr>
        <p:txBody>
          <a:bodyPr/>
          <a:lstStyle/>
          <a:p>
            <a:endParaRPr lang="en-US"/>
          </a:p>
        </p:txBody>
      </p:sp>
      <p:sp>
        <p:nvSpPr>
          <p:cNvPr id="20" name="Shape 18"/>
          <p:cNvSpPr/>
          <p:nvPr/>
        </p:nvSpPr>
        <p:spPr>
          <a:xfrm>
            <a:off x="228600" y="2496312"/>
            <a:ext cx="4206240" cy="73152"/>
          </a:xfrm>
          <a:prstGeom prst="rect">
            <a:avLst/>
          </a:prstGeom>
          <a:solidFill>
            <a:srgbClr val="DC2626"/>
          </a:solidFill>
          <a:ln/>
        </p:spPr>
        <p:txBody>
          <a:bodyPr/>
          <a:lstStyle/>
          <a:p>
            <a:endParaRPr lang="en-US"/>
          </a:p>
        </p:txBody>
      </p:sp>
      <p:sp>
        <p:nvSpPr>
          <p:cNvPr id="21" name="Text 19"/>
          <p:cNvSpPr/>
          <p:nvPr/>
        </p:nvSpPr>
        <p:spPr>
          <a:xfrm>
            <a:off x="338328" y="2606040"/>
            <a:ext cx="2834640" cy="640080"/>
          </a:xfrm>
          <a:prstGeom prst="rect">
            <a:avLst/>
          </a:prstGeom>
          <a:noFill/>
          <a:ln/>
        </p:spPr>
        <p:txBody>
          <a:bodyPr wrap="square" rtlCol="0" anchor="ctr"/>
          <a:lstStyle/>
          <a:p>
            <a:pPr marL="0" indent="0">
              <a:buNone/>
            </a:pPr>
            <a:r>
              <a:rPr lang="en-US" sz="900" i="1" dirty="0">
                <a:solidFill>
                  <a:srgbClr val="1E293B"/>
                </a:solidFill>
                <a:latin typeface="Calibri" pitchFamily="34" charset="0"/>
                <a:ea typeface="Calibri" pitchFamily="34" charset="-122"/>
                <a:cs typeface="Calibri" pitchFamily="34" charset="-120"/>
              </a:rPr>
              <a:t>"It's okay, nothing special but does the job."</a:t>
            </a:r>
            <a:endParaRPr lang="en-US" sz="900" dirty="0"/>
          </a:p>
        </p:txBody>
      </p:sp>
      <p:sp>
        <p:nvSpPr>
          <p:cNvPr id="22" name="Shape 20"/>
          <p:cNvSpPr/>
          <p:nvPr/>
        </p:nvSpPr>
        <p:spPr>
          <a:xfrm>
            <a:off x="3227832" y="2569464"/>
            <a:ext cx="1078992" cy="502920"/>
          </a:xfrm>
          <a:prstGeom prst="rect">
            <a:avLst/>
          </a:prstGeom>
          <a:solidFill>
            <a:srgbClr val="DC2626"/>
          </a:solidFill>
          <a:ln/>
        </p:spPr>
        <p:txBody>
          <a:bodyPr/>
          <a:lstStyle/>
          <a:p>
            <a:endParaRPr lang="en-US"/>
          </a:p>
        </p:txBody>
      </p:sp>
      <p:sp>
        <p:nvSpPr>
          <p:cNvPr id="23" name="Text 21"/>
          <p:cNvSpPr/>
          <p:nvPr/>
        </p:nvSpPr>
        <p:spPr>
          <a:xfrm>
            <a:off x="3227832" y="2569464"/>
            <a:ext cx="1078992" cy="292608"/>
          </a:xfrm>
          <a:prstGeom prst="rect">
            <a:avLst/>
          </a:prstGeom>
          <a:noFill/>
          <a:ln/>
        </p:spPr>
        <p:txBody>
          <a:bodyPr wrap="square" rtlCol="0" anchor="b"/>
          <a:lstStyle/>
          <a:p>
            <a:pPr marL="0" indent="0" algn="ctr">
              <a:buNone/>
            </a:pPr>
            <a:r>
              <a:rPr lang="en-US" sz="1100" b="1" dirty="0">
                <a:solidFill>
                  <a:srgbClr val="FFFFFF"/>
                </a:solidFill>
                <a:latin typeface="Calibri" pitchFamily="34" charset="0"/>
                <a:ea typeface="Calibri" pitchFamily="34" charset="-122"/>
                <a:cs typeface="Calibri" pitchFamily="34" charset="-120"/>
              </a:rPr>
              <a:t>NÉGATIF</a:t>
            </a:r>
            <a:endParaRPr lang="en-US" sz="1100" dirty="0"/>
          </a:p>
        </p:txBody>
      </p:sp>
      <p:sp>
        <p:nvSpPr>
          <p:cNvPr id="24" name="Text 22"/>
          <p:cNvSpPr/>
          <p:nvPr/>
        </p:nvSpPr>
        <p:spPr>
          <a:xfrm>
            <a:off x="3227832" y="2843784"/>
            <a:ext cx="1078992" cy="228600"/>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Confiance : 96.8%</a:t>
            </a:r>
            <a:endParaRPr lang="en-US" sz="850" dirty="0"/>
          </a:p>
        </p:txBody>
      </p:sp>
      <p:sp>
        <p:nvSpPr>
          <p:cNvPr id="25" name="Text 23"/>
          <p:cNvSpPr/>
          <p:nvPr/>
        </p:nvSpPr>
        <p:spPr>
          <a:xfrm>
            <a:off x="338328" y="3300984"/>
            <a:ext cx="3840480" cy="256032"/>
          </a:xfrm>
          <a:prstGeom prst="rect">
            <a:avLst/>
          </a:prstGeom>
          <a:noFill/>
          <a:ln/>
        </p:spPr>
        <p:txBody>
          <a:bodyPr wrap="square"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 après prétraitement + vectorisation TF-IDF</a:t>
            </a:r>
            <a:endParaRPr lang="en-US" sz="800" dirty="0"/>
          </a:p>
        </p:txBody>
      </p:sp>
      <p:sp>
        <p:nvSpPr>
          <p:cNvPr id="26" name="Shape 24"/>
          <p:cNvSpPr/>
          <p:nvPr/>
        </p:nvSpPr>
        <p:spPr>
          <a:xfrm>
            <a:off x="4709160" y="2496312"/>
            <a:ext cx="4206240" cy="1143000"/>
          </a:xfrm>
          <a:prstGeom prst="rect">
            <a:avLst/>
          </a:prstGeom>
          <a:solidFill>
            <a:srgbClr val="F8FAFC"/>
          </a:solidFill>
          <a:ln w="12700">
            <a:solidFill>
              <a:srgbClr val="15803D"/>
            </a:solidFill>
            <a:prstDash val="solid"/>
          </a:ln>
          <a:effectLst>
            <a:outerShdw blurRad="101600" dist="25400" dir="8100000" algn="bl" rotWithShape="0">
              <a:srgbClr val="000000">
                <a:alpha val="12000"/>
              </a:srgbClr>
            </a:outerShdw>
          </a:effectLst>
        </p:spPr>
        <p:txBody>
          <a:bodyPr/>
          <a:lstStyle/>
          <a:p>
            <a:endParaRPr lang="en-US"/>
          </a:p>
        </p:txBody>
      </p:sp>
      <p:sp>
        <p:nvSpPr>
          <p:cNvPr id="27" name="Shape 25"/>
          <p:cNvSpPr/>
          <p:nvPr/>
        </p:nvSpPr>
        <p:spPr>
          <a:xfrm>
            <a:off x="4709160" y="2496312"/>
            <a:ext cx="4206240" cy="73152"/>
          </a:xfrm>
          <a:prstGeom prst="rect">
            <a:avLst/>
          </a:prstGeom>
          <a:solidFill>
            <a:srgbClr val="15803D"/>
          </a:solidFill>
          <a:ln/>
        </p:spPr>
        <p:txBody>
          <a:bodyPr/>
          <a:lstStyle/>
          <a:p>
            <a:endParaRPr lang="en-US"/>
          </a:p>
        </p:txBody>
      </p:sp>
      <p:sp>
        <p:nvSpPr>
          <p:cNvPr id="28" name="Text 26"/>
          <p:cNvSpPr/>
          <p:nvPr/>
        </p:nvSpPr>
        <p:spPr>
          <a:xfrm>
            <a:off x="4818888" y="2606040"/>
            <a:ext cx="2834640" cy="640080"/>
          </a:xfrm>
          <a:prstGeom prst="rect">
            <a:avLst/>
          </a:prstGeom>
          <a:noFill/>
          <a:ln/>
        </p:spPr>
        <p:txBody>
          <a:bodyPr wrap="square" rtlCol="0" anchor="ctr"/>
          <a:lstStyle/>
          <a:p>
            <a:pPr marL="0" indent="0">
              <a:buNone/>
            </a:pPr>
            <a:r>
              <a:rPr lang="en-US" sz="900" i="1" dirty="0">
                <a:solidFill>
                  <a:srgbClr val="1E293B"/>
                </a:solidFill>
                <a:latin typeface="Calibri" pitchFamily="34" charset="0"/>
                <a:ea typeface="Calibri" pitchFamily="34" charset="-122"/>
                <a:cs typeface="Calibri" pitchFamily="34" charset="-120"/>
              </a:rPr>
              <a:t>"I love it! Exceeded all my expectations, highly recommend."</a:t>
            </a:r>
            <a:endParaRPr lang="en-US" sz="900" dirty="0"/>
          </a:p>
        </p:txBody>
      </p:sp>
      <p:sp>
        <p:nvSpPr>
          <p:cNvPr id="29" name="Shape 27"/>
          <p:cNvSpPr/>
          <p:nvPr/>
        </p:nvSpPr>
        <p:spPr>
          <a:xfrm>
            <a:off x="7708392" y="2569464"/>
            <a:ext cx="1078992" cy="502920"/>
          </a:xfrm>
          <a:prstGeom prst="rect">
            <a:avLst/>
          </a:prstGeom>
          <a:solidFill>
            <a:srgbClr val="15803D"/>
          </a:solidFill>
          <a:ln/>
        </p:spPr>
        <p:txBody>
          <a:bodyPr/>
          <a:lstStyle/>
          <a:p>
            <a:endParaRPr lang="en-US"/>
          </a:p>
        </p:txBody>
      </p:sp>
      <p:sp>
        <p:nvSpPr>
          <p:cNvPr id="30" name="Text 28"/>
          <p:cNvSpPr/>
          <p:nvPr/>
        </p:nvSpPr>
        <p:spPr>
          <a:xfrm>
            <a:off x="7708392" y="2569464"/>
            <a:ext cx="1078992" cy="292608"/>
          </a:xfrm>
          <a:prstGeom prst="rect">
            <a:avLst/>
          </a:prstGeom>
          <a:noFill/>
          <a:ln/>
        </p:spPr>
        <p:txBody>
          <a:bodyPr wrap="square" rtlCol="0" anchor="b"/>
          <a:lstStyle/>
          <a:p>
            <a:pPr marL="0" indent="0" algn="ctr">
              <a:buNone/>
            </a:pPr>
            <a:r>
              <a:rPr lang="en-US" sz="1100" b="1" dirty="0">
                <a:solidFill>
                  <a:srgbClr val="FFFFFF"/>
                </a:solidFill>
                <a:latin typeface="Calibri" pitchFamily="34" charset="0"/>
                <a:ea typeface="Calibri" pitchFamily="34" charset="-122"/>
                <a:cs typeface="Calibri" pitchFamily="34" charset="-120"/>
              </a:rPr>
              <a:t>POSITIF</a:t>
            </a:r>
            <a:endParaRPr lang="en-US" sz="1100" dirty="0"/>
          </a:p>
        </p:txBody>
      </p:sp>
      <p:sp>
        <p:nvSpPr>
          <p:cNvPr id="31" name="Text 29"/>
          <p:cNvSpPr/>
          <p:nvPr/>
        </p:nvSpPr>
        <p:spPr>
          <a:xfrm>
            <a:off x="7708392" y="2843784"/>
            <a:ext cx="1078992" cy="228600"/>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Confiance : 100.0%</a:t>
            </a:r>
            <a:endParaRPr lang="en-US" sz="850" dirty="0"/>
          </a:p>
        </p:txBody>
      </p:sp>
      <p:sp>
        <p:nvSpPr>
          <p:cNvPr id="32" name="Text 30"/>
          <p:cNvSpPr/>
          <p:nvPr/>
        </p:nvSpPr>
        <p:spPr>
          <a:xfrm>
            <a:off x="4818888" y="3300984"/>
            <a:ext cx="3840480" cy="256032"/>
          </a:xfrm>
          <a:prstGeom prst="rect">
            <a:avLst/>
          </a:prstGeom>
          <a:noFill/>
          <a:ln/>
        </p:spPr>
        <p:txBody>
          <a:bodyPr wrap="square"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 après prétraitement + vectorisation TF-IDF</a:t>
            </a:r>
            <a:endParaRPr lang="en-US" sz="800" dirty="0"/>
          </a:p>
        </p:txBody>
      </p:sp>
      <p:sp>
        <p:nvSpPr>
          <p:cNvPr id="33" name="Shape 31"/>
          <p:cNvSpPr/>
          <p:nvPr/>
        </p:nvSpPr>
        <p:spPr>
          <a:xfrm>
            <a:off x="228600" y="3776472"/>
            <a:ext cx="4206240" cy="1143000"/>
          </a:xfrm>
          <a:prstGeom prst="rect">
            <a:avLst/>
          </a:prstGeom>
          <a:solidFill>
            <a:srgbClr val="F8FAFC"/>
          </a:solidFill>
          <a:ln w="12700">
            <a:solidFill>
              <a:srgbClr val="DC2626"/>
            </a:solidFill>
            <a:prstDash val="solid"/>
          </a:ln>
          <a:effectLst>
            <a:outerShdw blurRad="101600" dist="25400" dir="8100000" algn="bl" rotWithShape="0">
              <a:srgbClr val="000000">
                <a:alpha val="12000"/>
              </a:srgbClr>
            </a:outerShdw>
          </a:effectLst>
        </p:spPr>
        <p:txBody>
          <a:bodyPr/>
          <a:lstStyle/>
          <a:p>
            <a:endParaRPr lang="en-US"/>
          </a:p>
        </p:txBody>
      </p:sp>
      <p:sp>
        <p:nvSpPr>
          <p:cNvPr id="34" name="Shape 32"/>
          <p:cNvSpPr/>
          <p:nvPr/>
        </p:nvSpPr>
        <p:spPr>
          <a:xfrm>
            <a:off x="228600" y="3776472"/>
            <a:ext cx="4206240" cy="73152"/>
          </a:xfrm>
          <a:prstGeom prst="rect">
            <a:avLst/>
          </a:prstGeom>
          <a:solidFill>
            <a:srgbClr val="DC2626"/>
          </a:solidFill>
          <a:ln/>
        </p:spPr>
        <p:txBody>
          <a:bodyPr/>
          <a:lstStyle/>
          <a:p>
            <a:endParaRPr lang="en-US"/>
          </a:p>
        </p:txBody>
      </p:sp>
      <p:sp>
        <p:nvSpPr>
          <p:cNvPr id="35" name="Text 33"/>
          <p:cNvSpPr/>
          <p:nvPr/>
        </p:nvSpPr>
        <p:spPr>
          <a:xfrm>
            <a:off x="338328" y="3886200"/>
            <a:ext cx="2834640" cy="640080"/>
          </a:xfrm>
          <a:prstGeom prst="rect">
            <a:avLst/>
          </a:prstGeom>
          <a:noFill/>
          <a:ln/>
        </p:spPr>
        <p:txBody>
          <a:bodyPr wrap="square" rtlCol="0" anchor="ctr"/>
          <a:lstStyle/>
          <a:p>
            <a:pPr marL="0" indent="0">
              <a:buNone/>
            </a:pPr>
            <a:r>
              <a:rPr lang="en-US" sz="900" i="1" dirty="0">
                <a:solidFill>
                  <a:srgbClr val="1E293B"/>
                </a:solidFill>
                <a:latin typeface="Calibri" pitchFamily="34" charset="0"/>
                <a:ea typeface="Calibri" pitchFamily="34" charset="-122"/>
                <a:cs typeface="Calibri" pitchFamily="34" charset="-120"/>
              </a:rPr>
              <a:t>"Very disappointing. Does not work as described."</a:t>
            </a:r>
            <a:endParaRPr lang="en-US" sz="900" dirty="0"/>
          </a:p>
        </p:txBody>
      </p:sp>
      <p:sp>
        <p:nvSpPr>
          <p:cNvPr id="36" name="Shape 34"/>
          <p:cNvSpPr/>
          <p:nvPr/>
        </p:nvSpPr>
        <p:spPr>
          <a:xfrm>
            <a:off x="3227832" y="3849624"/>
            <a:ext cx="1078992" cy="502920"/>
          </a:xfrm>
          <a:prstGeom prst="rect">
            <a:avLst/>
          </a:prstGeom>
          <a:solidFill>
            <a:srgbClr val="DC2626"/>
          </a:solidFill>
          <a:ln/>
        </p:spPr>
        <p:txBody>
          <a:bodyPr/>
          <a:lstStyle/>
          <a:p>
            <a:endParaRPr lang="en-US"/>
          </a:p>
        </p:txBody>
      </p:sp>
      <p:sp>
        <p:nvSpPr>
          <p:cNvPr id="37" name="Text 35"/>
          <p:cNvSpPr/>
          <p:nvPr/>
        </p:nvSpPr>
        <p:spPr>
          <a:xfrm>
            <a:off x="3227832" y="3849624"/>
            <a:ext cx="1078992" cy="292608"/>
          </a:xfrm>
          <a:prstGeom prst="rect">
            <a:avLst/>
          </a:prstGeom>
          <a:noFill/>
          <a:ln/>
        </p:spPr>
        <p:txBody>
          <a:bodyPr wrap="square" rtlCol="0" anchor="b"/>
          <a:lstStyle/>
          <a:p>
            <a:pPr marL="0" indent="0" algn="ctr">
              <a:buNone/>
            </a:pPr>
            <a:r>
              <a:rPr lang="en-US" sz="1100" b="1" dirty="0">
                <a:solidFill>
                  <a:srgbClr val="FFFFFF"/>
                </a:solidFill>
                <a:latin typeface="Calibri" pitchFamily="34" charset="0"/>
                <a:ea typeface="Calibri" pitchFamily="34" charset="-122"/>
                <a:cs typeface="Calibri" pitchFamily="34" charset="-120"/>
              </a:rPr>
              <a:t>NÉGATIF</a:t>
            </a:r>
            <a:endParaRPr lang="en-US" sz="1100" dirty="0"/>
          </a:p>
        </p:txBody>
      </p:sp>
      <p:sp>
        <p:nvSpPr>
          <p:cNvPr id="38" name="Text 36"/>
          <p:cNvSpPr/>
          <p:nvPr/>
        </p:nvSpPr>
        <p:spPr>
          <a:xfrm>
            <a:off x="3227832" y="4123944"/>
            <a:ext cx="1078992" cy="228600"/>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Confiance : 100.0%</a:t>
            </a:r>
            <a:endParaRPr lang="en-US" sz="850" dirty="0"/>
          </a:p>
        </p:txBody>
      </p:sp>
      <p:sp>
        <p:nvSpPr>
          <p:cNvPr id="39" name="Text 37"/>
          <p:cNvSpPr/>
          <p:nvPr/>
        </p:nvSpPr>
        <p:spPr>
          <a:xfrm>
            <a:off x="338328" y="4581144"/>
            <a:ext cx="3840480" cy="256032"/>
          </a:xfrm>
          <a:prstGeom prst="rect">
            <a:avLst/>
          </a:prstGeom>
          <a:noFill/>
          <a:ln/>
        </p:spPr>
        <p:txBody>
          <a:bodyPr wrap="square"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 après prétraitement + vectorisation TF-IDF</a:t>
            </a:r>
            <a:endParaRPr lang="en-US" sz="800" dirty="0"/>
          </a:p>
        </p:txBody>
      </p:sp>
      <p:sp>
        <p:nvSpPr>
          <p:cNvPr id="40" name="Shape 38"/>
          <p:cNvSpPr/>
          <p:nvPr/>
        </p:nvSpPr>
        <p:spPr>
          <a:xfrm>
            <a:off x="4709160" y="3776472"/>
            <a:ext cx="4206240" cy="1143000"/>
          </a:xfrm>
          <a:prstGeom prst="rect">
            <a:avLst/>
          </a:prstGeom>
          <a:solidFill>
            <a:srgbClr val="F8FAFC"/>
          </a:solidFill>
          <a:ln w="12700">
            <a:solidFill>
              <a:srgbClr val="DC2626"/>
            </a:solidFill>
            <a:prstDash val="solid"/>
          </a:ln>
          <a:effectLst>
            <a:outerShdw blurRad="101600" dist="25400" dir="8100000" algn="bl" rotWithShape="0">
              <a:srgbClr val="000000">
                <a:alpha val="12000"/>
              </a:srgbClr>
            </a:outerShdw>
          </a:effectLst>
        </p:spPr>
        <p:txBody>
          <a:bodyPr/>
          <a:lstStyle/>
          <a:p>
            <a:endParaRPr lang="en-US"/>
          </a:p>
        </p:txBody>
      </p:sp>
      <p:sp>
        <p:nvSpPr>
          <p:cNvPr id="41" name="Shape 39"/>
          <p:cNvSpPr/>
          <p:nvPr/>
        </p:nvSpPr>
        <p:spPr>
          <a:xfrm>
            <a:off x="4709160" y="3776472"/>
            <a:ext cx="4206240" cy="73152"/>
          </a:xfrm>
          <a:prstGeom prst="rect">
            <a:avLst/>
          </a:prstGeom>
          <a:solidFill>
            <a:srgbClr val="DC2626"/>
          </a:solidFill>
          <a:ln/>
        </p:spPr>
        <p:txBody>
          <a:bodyPr/>
          <a:lstStyle/>
          <a:p>
            <a:endParaRPr lang="en-US"/>
          </a:p>
        </p:txBody>
      </p:sp>
      <p:sp>
        <p:nvSpPr>
          <p:cNvPr id="42" name="Text 40"/>
          <p:cNvSpPr/>
          <p:nvPr/>
        </p:nvSpPr>
        <p:spPr>
          <a:xfrm>
            <a:off x="4818888" y="3886200"/>
            <a:ext cx="2834640" cy="640080"/>
          </a:xfrm>
          <a:prstGeom prst="rect">
            <a:avLst/>
          </a:prstGeom>
          <a:noFill/>
          <a:ln/>
        </p:spPr>
        <p:txBody>
          <a:bodyPr wrap="square" rtlCol="0" anchor="ctr"/>
          <a:lstStyle/>
          <a:p>
            <a:pPr marL="0" indent="0">
              <a:buNone/>
            </a:pPr>
            <a:r>
              <a:rPr lang="en-US" sz="900" i="1" dirty="0">
                <a:solidFill>
                  <a:srgbClr val="1E293B"/>
                </a:solidFill>
                <a:latin typeface="Calibri" pitchFamily="34" charset="0"/>
                <a:ea typeface="Calibri" pitchFamily="34" charset="-122"/>
                <a:cs typeface="Calibri" pitchFamily="34" charset="-120"/>
              </a:rPr>
              <a:t>"mmmmm it's usual"</a:t>
            </a:r>
            <a:endParaRPr lang="en-US" sz="900" dirty="0"/>
          </a:p>
        </p:txBody>
      </p:sp>
      <p:sp>
        <p:nvSpPr>
          <p:cNvPr id="43" name="Shape 41"/>
          <p:cNvSpPr/>
          <p:nvPr/>
        </p:nvSpPr>
        <p:spPr>
          <a:xfrm>
            <a:off x="7708392" y="3849624"/>
            <a:ext cx="1078992" cy="502920"/>
          </a:xfrm>
          <a:prstGeom prst="rect">
            <a:avLst/>
          </a:prstGeom>
          <a:solidFill>
            <a:srgbClr val="DC2626"/>
          </a:solidFill>
          <a:ln/>
        </p:spPr>
        <p:txBody>
          <a:bodyPr/>
          <a:lstStyle/>
          <a:p>
            <a:endParaRPr lang="en-US"/>
          </a:p>
        </p:txBody>
      </p:sp>
      <p:sp>
        <p:nvSpPr>
          <p:cNvPr id="44" name="Text 42"/>
          <p:cNvSpPr/>
          <p:nvPr/>
        </p:nvSpPr>
        <p:spPr>
          <a:xfrm>
            <a:off x="7708392" y="3849624"/>
            <a:ext cx="1078992" cy="292608"/>
          </a:xfrm>
          <a:prstGeom prst="rect">
            <a:avLst/>
          </a:prstGeom>
          <a:noFill/>
          <a:ln/>
        </p:spPr>
        <p:txBody>
          <a:bodyPr wrap="square" rtlCol="0" anchor="b"/>
          <a:lstStyle/>
          <a:p>
            <a:pPr marL="0" indent="0" algn="ctr">
              <a:buNone/>
            </a:pPr>
            <a:r>
              <a:rPr lang="en-US" sz="1100" b="1" dirty="0">
                <a:solidFill>
                  <a:srgbClr val="FFFFFF"/>
                </a:solidFill>
                <a:latin typeface="Calibri" pitchFamily="34" charset="0"/>
                <a:ea typeface="Calibri" pitchFamily="34" charset="-122"/>
                <a:cs typeface="Calibri" pitchFamily="34" charset="-120"/>
              </a:rPr>
              <a:t>NÉGATIF</a:t>
            </a:r>
            <a:endParaRPr lang="en-US" sz="1100" dirty="0"/>
          </a:p>
        </p:txBody>
      </p:sp>
      <p:sp>
        <p:nvSpPr>
          <p:cNvPr id="45" name="Text 43"/>
          <p:cNvSpPr/>
          <p:nvPr/>
        </p:nvSpPr>
        <p:spPr>
          <a:xfrm>
            <a:off x="7708392" y="4123944"/>
            <a:ext cx="1078992" cy="228600"/>
          </a:xfrm>
          <a:prstGeom prst="rect">
            <a:avLst/>
          </a:prstGeom>
          <a:noFill/>
          <a:ln/>
        </p:spPr>
        <p:txBody>
          <a:bodyPr wrap="square"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Confiance : 50.5%</a:t>
            </a:r>
            <a:endParaRPr lang="en-US" sz="850" dirty="0"/>
          </a:p>
        </p:txBody>
      </p:sp>
      <p:sp>
        <p:nvSpPr>
          <p:cNvPr id="46" name="Text 44"/>
          <p:cNvSpPr/>
          <p:nvPr/>
        </p:nvSpPr>
        <p:spPr>
          <a:xfrm>
            <a:off x="4818888" y="4581144"/>
            <a:ext cx="3840480" cy="256032"/>
          </a:xfrm>
          <a:prstGeom prst="rect">
            <a:avLst/>
          </a:prstGeom>
          <a:noFill/>
          <a:ln/>
        </p:spPr>
        <p:txBody>
          <a:bodyPr wrap="square"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 après prétraitement + vectorisation TF-IDF</a:t>
            </a:r>
            <a:endParaRPr lang="en-US" sz="800" dirty="0"/>
          </a:p>
        </p:txBody>
      </p:sp>
      <p:sp>
        <p:nvSpPr>
          <p:cNvPr id="47" name="TextBox 46">
            <a:extLst>
              <a:ext uri="{FF2B5EF4-FFF2-40B4-BE49-F238E27FC236}">
                <a16:creationId xmlns:a16="http://schemas.microsoft.com/office/drawing/2014/main" id="{8DBD06AB-2BCC-8934-2EF4-5CDC3BA092A1}"/>
              </a:ext>
            </a:extLst>
          </p:cNvPr>
          <p:cNvSpPr txBox="1"/>
          <p:nvPr/>
        </p:nvSpPr>
        <p:spPr>
          <a:xfrm>
            <a:off x="8842314" y="4774168"/>
            <a:ext cx="418704" cy="369332"/>
          </a:xfrm>
          <a:prstGeom prst="rect">
            <a:avLst/>
          </a:prstGeom>
          <a:noFill/>
        </p:spPr>
        <p:txBody>
          <a:bodyPr wrap="none" rtlCol="0">
            <a:spAutoFit/>
          </a:bodyPr>
          <a:lstStyle/>
          <a:p>
            <a:r>
              <a:rPr lang="en-US" dirty="0"/>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D9EE2549-9F1B-F2DE-C2DF-7E84F2491C6E}"/>
              </a:ext>
            </a:extLst>
          </p:cNvPr>
          <p:cNvGrpSpPr/>
          <p:nvPr/>
        </p:nvGrpSpPr>
        <p:grpSpPr>
          <a:xfrm>
            <a:off x="0" y="0"/>
            <a:ext cx="9144000" cy="822960"/>
            <a:chOff x="0" y="0"/>
            <a:chExt cx="9144000" cy="822960"/>
          </a:xfrm>
        </p:grpSpPr>
        <p:sp>
          <p:nvSpPr>
            <p:cNvPr id="2" name="Shape 0">
              <a:extLst>
                <a:ext uri="{FF2B5EF4-FFF2-40B4-BE49-F238E27FC236}">
                  <a16:creationId xmlns:a16="http://schemas.microsoft.com/office/drawing/2014/main" id="{023AEC09-DE65-9B98-6F67-38247BCBC6E4}"/>
                </a:ext>
              </a:extLst>
            </p:cNvPr>
            <p:cNvSpPr/>
            <p:nvPr/>
          </p:nvSpPr>
          <p:spPr>
            <a:xfrm>
              <a:off x="0" y="0"/>
              <a:ext cx="9144000" cy="822960"/>
            </a:xfrm>
            <a:prstGeom prst="rect">
              <a:avLst/>
            </a:prstGeom>
            <a:solidFill>
              <a:srgbClr val="0F2044"/>
            </a:solidFill>
            <a:ln/>
          </p:spPr>
          <p:txBody>
            <a:bodyPr/>
            <a:lstStyle/>
            <a:p>
              <a:endParaRPr lang="en-US" dirty="0"/>
            </a:p>
          </p:txBody>
        </p:sp>
        <p:sp>
          <p:nvSpPr>
            <p:cNvPr id="3" name="Text 1">
              <a:extLst>
                <a:ext uri="{FF2B5EF4-FFF2-40B4-BE49-F238E27FC236}">
                  <a16:creationId xmlns:a16="http://schemas.microsoft.com/office/drawing/2014/main" id="{B6B09CAC-5A74-81D1-FC9F-B6FE399728CE}"/>
                </a:ext>
              </a:extLst>
            </p:cNvPr>
            <p:cNvSpPr/>
            <p:nvPr/>
          </p:nvSpPr>
          <p:spPr>
            <a:xfrm>
              <a:off x="457200" y="137160"/>
              <a:ext cx="82296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06 · </a:t>
              </a:r>
              <a:r>
                <a:rPr lang="en-US" sz="2200" b="1" dirty="0" err="1">
                  <a:solidFill>
                    <a:srgbClr val="FFFFFF"/>
                  </a:solidFill>
                  <a:latin typeface="Calibri" pitchFamily="34" charset="0"/>
                  <a:ea typeface="Calibri" pitchFamily="34" charset="-122"/>
                  <a:cs typeface="Calibri" pitchFamily="34" charset="-120"/>
                </a:rPr>
                <a:t>Démonstration</a:t>
              </a:r>
              <a:endParaRPr lang="en-US" sz="2200" dirty="0"/>
            </a:p>
          </p:txBody>
        </p:sp>
      </p:grpSp>
      <p:sp>
        <p:nvSpPr>
          <p:cNvPr id="51" name="TextBox 50">
            <a:extLst>
              <a:ext uri="{FF2B5EF4-FFF2-40B4-BE49-F238E27FC236}">
                <a16:creationId xmlns:a16="http://schemas.microsoft.com/office/drawing/2014/main" id="{C86A14B3-00BA-0B9E-6EC5-5E776BF41BAB}"/>
              </a:ext>
            </a:extLst>
          </p:cNvPr>
          <p:cNvSpPr txBox="1"/>
          <p:nvPr/>
        </p:nvSpPr>
        <p:spPr>
          <a:xfrm>
            <a:off x="1226634" y="2333223"/>
            <a:ext cx="6690731" cy="477054"/>
          </a:xfrm>
          <a:prstGeom prst="rect">
            <a:avLst/>
          </a:prstGeom>
          <a:noFill/>
        </p:spPr>
        <p:txBody>
          <a:bodyPr wrap="square" rtlCol="0">
            <a:spAutoFit/>
          </a:bodyPr>
          <a:lstStyle/>
          <a:p>
            <a:r>
              <a:rPr lang="en-US" sz="2500" b="1" dirty="0">
                <a:solidFill>
                  <a:schemeClr val="accent1"/>
                </a:solidFill>
              </a:rPr>
              <a:t>https://amazon-trained-model-v1.streamlit.app</a:t>
            </a:r>
          </a:p>
        </p:txBody>
      </p:sp>
      <p:sp>
        <p:nvSpPr>
          <p:cNvPr id="54" name="TextBox 53">
            <a:extLst>
              <a:ext uri="{FF2B5EF4-FFF2-40B4-BE49-F238E27FC236}">
                <a16:creationId xmlns:a16="http://schemas.microsoft.com/office/drawing/2014/main" id="{46E22515-C0DC-42FD-3E9E-6804118F281C}"/>
              </a:ext>
            </a:extLst>
          </p:cNvPr>
          <p:cNvSpPr txBox="1"/>
          <p:nvPr/>
        </p:nvSpPr>
        <p:spPr>
          <a:xfrm>
            <a:off x="8842314" y="4774168"/>
            <a:ext cx="418704" cy="369332"/>
          </a:xfrm>
          <a:prstGeom prst="rect">
            <a:avLst/>
          </a:prstGeom>
          <a:noFill/>
        </p:spPr>
        <p:txBody>
          <a:bodyPr wrap="none" rtlCol="0">
            <a:spAutoFit/>
          </a:bodyPr>
          <a:lstStyle/>
          <a:p>
            <a:r>
              <a:rPr lang="en-US" dirty="0"/>
              <a:t>12</a:t>
            </a:r>
          </a:p>
        </p:txBody>
      </p:sp>
      <p:pic>
        <p:nvPicPr>
          <p:cNvPr id="56" name="Picture 55">
            <a:extLst>
              <a:ext uri="{FF2B5EF4-FFF2-40B4-BE49-F238E27FC236}">
                <a16:creationId xmlns:a16="http://schemas.microsoft.com/office/drawing/2014/main" id="{3386E5A1-CC24-D211-1233-614640CB525D}"/>
              </a:ext>
            </a:extLst>
          </p:cNvPr>
          <p:cNvPicPr>
            <a:picLocks noChangeAspect="1"/>
          </p:cNvPicPr>
          <p:nvPr/>
        </p:nvPicPr>
        <p:blipFill>
          <a:blip r:embed="rId2"/>
          <a:stretch>
            <a:fillRect/>
          </a:stretch>
        </p:blipFill>
        <p:spPr>
          <a:xfrm>
            <a:off x="0" y="1096799"/>
            <a:ext cx="9144000" cy="714898"/>
          </a:xfrm>
          <a:prstGeom prst="rect">
            <a:avLst/>
          </a:prstGeom>
        </p:spPr>
      </p:pic>
      <p:pic>
        <p:nvPicPr>
          <p:cNvPr id="57" name="Graphic 56" descr="Internet outline">
            <a:extLst>
              <a:ext uri="{FF2B5EF4-FFF2-40B4-BE49-F238E27FC236}">
                <a16:creationId xmlns:a16="http://schemas.microsoft.com/office/drawing/2014/main" id="{A5429DB0-347D-6D98-1DAD-FC45DB889B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2234" y="2137022"/>
            <a:ext cx="914400" cy="914400"/>
          </a:xfrm>
          <a:prstGeom prst="rect">
            <a:avLst/>
          </a:prstGeom>
        </p:spPr>
      </p:pic>
      <p:pic>
        <p:nvPicPr>
          <p:cNvPr id="58" name="Graphic 57" descr="Internet with solid fill">
            <a:extLst>
              <a:ext uri="{FF2B5EF4-FFF2-40B4-BE49-F238E27FC236}">
                <a16:creationId xmlns:a16="http://schemas.microsoft.com/office/drawing/2014/main" id="{FD2EEB79-CBC3-2CD0-C840-ADF9A8AA634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200" y="2744222"/>
            <a:ext cx="914400" cy="914400"/>
          </a:xfrm>
          <a:prstGeom prst="rect">
            <a:avLst/>
          </a:prstGeom>
        </p:spPr>
      </p:pic>
    </p:spTree>
    <p:extLst>
      <p:ext uri="{BB962C8B-B14F-4D97-AF65-F5344CB8AC3E}">
        <p14:creationId xmlns:p14="http://schemas.microsoft.com/office/powerpoint/2010/main" val="3520975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p:spPr>
        <p:txBody>
          <a:bodyPr/>
          <a:lstStyle/>
          <a:p>
            <a:endParaRPr lang="en-US"/>
          </a:p>
        </p:txBody>
      </p:sp>
      <p:sp>
        <p:nvSpPr>
          <p:cNvPr id="3" name="Shape 1"/>
          <p:cNvSpPr/>
          <p:nvPr/>
        </p:nvSpPr>
        <p:spPr>
          <a:xfrm>
            <a:off x="8979408" y="0"/>
            <a:ext cx="164592" cy="5143500"/>
          </a:xfrm>
          <a:prstGeom prst="rect">
            <a:avLst/>
          </a:prstGeom>
          <a:solidFill>
            <a:srgbClr val="0D9488"/>
          </a:solidFill>
          <a:ln/>
        </p:spPr>
        <p:txBody>
          <a:bodyPr/>
          <a:lstStyle/>
          <a:p>
            <a:endParaRPr lang="en-US"/>
          </a:p>
        </p:txBody>
      </p:sp>
      <p:sp>
        <p:nvSpPr>
          <p:cNvPr id="4" name="Text 2"/>
          <p:cNvSpPr/>
          <p:nvPr/>
        </p:nvSpPr>
        <p:spPr>
          <a:xfrm>
            <a:off x="457200" y="274320"/>
            <a:ext cx="8229600" cy="502920"/>
          </a:xfrm>
          <a:prstGeom prst="rect">
            <a:avLst/>
          </a:prstGeom>
          <a:noFill/>
          <a:ln/>
        </p:spPr>
        <p:txBody>
          <a:bodyPr wrap="square" rtlCol="0" anchor="ctr"/>
          <a:lstStyle/>
          <a:p>
            <a:pPr marL="0" indent="0" algn="ctr">
              <a:buNone/>
            </a:pPr>
            <a:r>
              <a:rPr lang="en-US" sz="2400" b="1" dirty="0">
                <a:latin typeface="Calibri" pitchFamily="34" charset="0"/>
                <a:ea typeface="Calibri" pitchFamily="34" charset="-122"/>
                <a:cs typeface="Calibri" pitchFamily="34" charset="-120"/>
              </a:rPr>
              <a:t>07 · Conclusion &amp; Perspectives</a:t>
            </a:r>
            <a:endParaRPr lang="en-US" sz="2400" dirty="0"/>
          </a:p>
        </p:txBody>
      </p:sp>
      <p:sp>
        <p:nvSpPr>
          <p:cNvPr id="5" name="Shape 3"/>
          <p:cNvSpPr/>
          <p:nvPr/>
        </p:nvSpPr>
        <p:spPr>
          <a:xfrm>
            <a:off x="2743200" y="804672"/>
            <a:ext cx="3657600" cy="45720"/>
          </a:xfrm>
          <a:prstGeom prst="rect">
            <a:avLst/>
          </a:prstGeom>
          <a:solidFill>
            <a:srgbClr val="0D9488"/>
          </a:solidFill>
          <a:ln/>
        </p:spPr>
        <p:txBody>
          <a:bodyPr/>
          <a:lstStyle/>
          <a:p>
            <a:endParaRPr lang="en-US"/>
          </a:p>
        </p:txBody>
      </p:sp>
      <p:sp>
        <p:nvSpPr>
          <p:cNvPr id="6" name="Shape 4"/>
          <p:cNvSpPr/>
          <p:nvPr/>
        </p:nvSpPr>
        <p:spPr>
          <a:xfrm>
            <a:off x="457200" y="960120"/>
            <a:ext cx="1874520" cy="914400"/>
          </a:xfrm>
          <a:prstGeom prst="rect">
            <a:avLst/>
          </a:prstGeom>
          <a:solidFill>
            <a:srgbClr val="1565C0">
              <a:alpha val="90000"/>
            </a:srgbClr>
          </a:solidFill>
          <a:ln w="12700">
            <a:solidFill>
              <a:srgbClr val="1565C0"/>
            </a:solidFill>
            <a:prstDash val="solid"/>
          </a:ln>
        </p:spPr>
        <p:txBody>
          <a:bodyPr/>
          <a:lstStyle/>
          <a:p>
            <a:endParaRPr lang="en-US"/>
          </a:p>
        </p:txBody>
      </p:sp>
      <p:sp>
        <p:nvSpPr>
          <p:cNvPr id="7" name="Text 5"/>
          <p:cNvSpPr/>
          <p:nvPr/>
        </p:nvSpPr>
        <p:spPr>
          <a:xfrm>
            <a:off x="457200" y="987552"/>
            <a:ext cx="1874520" cy="502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4 M</a:t>
            </a:r>
            <a:endParaRPr lang="en-US" sz="2800" dirty="0"/>
          </a:p>
        </p:txBody>
      </p:sp>
      <p:sp>
        <p:nvSpPr>
          <p:cNvPr id="8" name="Text 6"/>
          <p:cNvSpPr/>
          <p:nvPr/>
        </p:nvSpPr>
        <p:spPr>
          <a:xfrm>
            <a:off x="457200" y="1481328"/>
            <a:ext cx="1874520" cy="320040"/>
          </a:xfrm>
          <a:prstGeom prst="rect">
            <a:avLst/>
          </a:prstGeom>
          <a:noFill/>
          <a:ln/>
        </p:spPr>
        <p:txBody>
          <a:bodyPr wrap="square" rtlCol="0" anchor="ctr"/>
          <a:lstStyle/>
          <a:p>
            <a:pPr marL="0" indent="0" algn="ctr">
              <a:buNone/>
            </a:pPr>
            <a:r>
              <a:rPr lang="en-US" sz="950" dirty="0">
                <a:solidFill>
                  <a:srgbClr val="CBD5E1"/>
                </a:solidFill>
                <a:latin typeface="Calibri" pitchFamily="34" charset="0"/>
                <a:ea typeface="Calibri" pitchFamily="34" charset="-122"/>
                <a:cs typeface="Calibri" pitchFamily="34" charset="-120"/>
              </a:rPr>
              <a:t>Avis analysés</a:t>
            </a:r>
            <a:endParaRPr lang="en-US" sz="950" dirty="0"/>
          </a:p>
        </p:txBody>
      </p:sp>
      <p:sp>
        <p:nvSpPr>
          <p:cNvPr id="9" name="Shape 7"/>
          <p:cNvSpPr/>
          <p:nvPr/>
        </p:nvSpPr>
        <p:spPr>
          <a:xfrm>
            <a:off x="2542032" y="960120"/>
            <a:ext cx="1874520" cy="914400"/>
          </a:xfrm>
          <a:prstGeom prst="rect">
            <a:avLst/>
          </a:prstGeom>
          <a:solidFill>
            <a:srgbClr val="15803D">
              <a:alpha val="90000"/>
            </a:srgbClr>
          </a:solidFill>
          <a:ln w="12700">
            <a:solidFill>
              <a:srgbClr val="15803D"/>
            </a:solidFill>
            <a:prstDash val="solid"/>
          </a:ln>
        </p:spPr>
        <p:txBody>
          <a:bodyPr/>
          <a:lstStyle/>
          <a:p>
            <a:endParaRPr lang="en-US"/>
          </a:p>
        </p:txBody>
      </p:sp>
      <p:sp>
        <p:nvSpPr>
          <p:cNvPr id="10" name="Text 8"/>
          <p:cNvSpPr/>
          <p:nvPr/>
        </p:nvSpPr>
        <p:spPr>
          <a:xfrm>
            <a:off x="2542032" y="987552"/>
            <a:ext cx="1874520" cy="502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89%</a:t>
            </a:r>
            <a:endParaRPr lang="en-US" sz="2800" dirty="0"/>
          </a:p>
        </p:txBody>
      </p:sp>
      <p:sp>
        <p:nvSpPr>
          <p:cNvPr id="11" name="Text 9"/>
          <p:cNvSpPr/>
          <p:nvPr/>
        </p:nvSpPr>
        <p:spPr>
          <a:xfrm>
            <a:off x="2542032" y="1481328"/>
            <a:ext cx="1874520" cy="320040"/>
          </a:xfrm>
          <a:prstGeom prst="rect">
            <a:avLst/>
          </a:prstGeom>
          <a:noFill/>
          <a:ln/>
        </p:spPr>
        <p:txBody>
          <a:bodyPr wrap="square" rtlCol="0" anchor="ctr"/>
          <a:lstStyle/>
          <a:p>
            <a:pPr marL="0" indent="0" algn="ctr">
              <a:buNone/>
            </a:pPr>
            <a:r>
              <a:rPr lang="en-US" sz="950" dirty="0">
                <a:solidFill>
                  <a:srgbClr val="CBD5E1"/>
                </a:solidFill>
                <a:latin typeface="Calibri" pitchFamily="34" charset="0"/>
                <a:ea typeface="Calibri" pitchFamily="34" charset="-122"/>
                <a:cs typeface="Calibri" pitchFamily="34" charset="-120"/>
              </a:rPr>
              <a:t>Précision finale</a:t>
            </a:r>
            <a:endParaRPr lang="en-US" sz="950" dirty="0"/>
          </a:p>
        </p:txBody>
      </p:sp>
      <p:sp>
        <p:nvSpPr>
          <p:cNvPr id="12" name="Shape 10"/>
          <p:cNvSpPr/>
          <p:nvPr/>
        </p:nvSpPr>
        <p:spPr>
          <a:xfrm>
            <a:off x="4626864" y="960120"/>
            <a:ext cx="1874520" cy="914400"/>
          </a:xfrm>
          <a:prstGeom prst="rect">
            <a:avLst/>
          </a:prstGeom>
          <a:solidFill>
            <a:srgbClr val="7C3AED">
              <a:alpha val="90000"/>
            </a:srgbClr>
          </a:solidFill>
          <a:ln w="12700">
            <a:solidFill>
              <a:srgbClr val="7C3AED"/>
            </a:solidFill>
            <a:prstDash val="solid"/>
          </a:ln>
        </p:spPr>
        <p:txBody>
          <a:bodyPr/>
          <a:lstStyle/>
          <a:p>
            <a:endParaRPr lang="en-US"/>
          </a:p>
        </p:txBody>
      </p:sp>
      <p:sp>
        <p:nvSpPr>
          <p:cNvPr id="13" name="Text 11"/>
          <p:cNvSpPr/>
          <p:nvPr/>
        </p:nvSpPr>
        <p:spPr>
          <a:xfrm>
            <a:off x="4626864" y="987552"/>
            <a:ext cx="1874520" cy="502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4" name="Text 12"/>
          <p:cNvSpPr/>
          <p:nvPr/>
        </p:nvSpPr>
        <p:spPr>
          <a:xfrm>
            <a:off x="4626864" y="1481328"/>
            <a:ext cx="1874520" cy="320040"/>
          </a:xfrm>
          <a:prstGeom prst="rect">
            <a:avLst/>
          </a:prstGeom>
          <a:noFill/>
          <a:ln/>
        </p:spPr>
        <p:txBody>
          <a:bodyPr wrap="square" rtlCol="0" anchor="ctr"/>
          <a:lstStyle/>
          <a:p>
            <a:pPr marL="0" indent="0" algn="ctr">
              <a:buNone/>
            </a:pPr>
            <a:r>
              <a:rPr lang="en-US" sz="950" dirty="0">
                <a:solidFill>
                  <a:srgbClr val="CBD5E1"/>
                </a:solidFill>
                <a:latin typeface="Calibri" pitchFamily="34" charset="0"/>
                <a:ea typeface="Calibri" pitchFamily="34" charset="-122"/>
                <a:cs typeface="Calibri" pitchFamily="34" charset="-120"/>
              </a:rPr>
              <a:t>Modèles comparés</a:t>
            </a:r>
            <a:endParaRPr lang="en-US" sz="950" dirty="0"/>
          </a:p>
        </p:txBody>
      </p:sp>
      <p:sp>
        <p:nvSpPr>
          <p:cNvPr id="15" name="Shape 13"/>
          <p:cNvSpPr/>
          <p:nvPr/>
        </p:nvSpPr>
        <p:spPr>
          <a:xfrm>
            <a:off x="6711696" y="960120"/>
            <a:ext cx="1874520" cy="914400"/>
          </a:xfrm>
          <a:prstGeom prst="rect">
            <a:avLst/>
          </a:prstGeom>
          <a:solidFill>
            <a:srgbClr val="0D9488">
              <a:alpha val="90000"/>
            </a:srgbClr>
          </a:solidFill>
          <a:ln w="12700">
            <a:solidFill>
              <a:srgbClr val="0D9488"/>
            </a:solidFill>
            <a:prstDash val="solid"/>
          </a:ln>
        </p:spPr>
        <p:txBody>
          <a:bodyPr/>
          <a:lstStyle/>
          <a:p>
            <a:endParaRPr lang="en-US"/>
          </a:p>
        </p:txBody>
      </p:sp>
      <p:sp>
        <p:nvSpPr>
          <p:cNvPr id="16" name="Text 14"/>
          <p:cNvSpPr/>
          <p:nvPr/>
        </p:nvSpPr>
        <p:spPr>
          <a:xfrm>
            <a:off x="6711696" y="987552"/>
            <a:ext cx="1874520" cy="50292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40 s</a:t>
            </a:r>
            <a:endParaRPr lang="en-US" sz="2800" dirty="0"/>
          </a:p>
        </p:txBody>
      </p:sp>
      <p:sp>
        <p:nvSpPr>
          <p:cNvPr id="17" name="Text 15"/>
          <p:cNvSpPr/>
          <p:nvPr/>
        </p:nvSpPr>
        <p:spPr>
          <a:xfrm>
            <a:off x="6711696" y="1481328"/>
            <a:ext cx="1874520" cy="320040"/>
          </a:xfrm>
          <a:prstGeom prst="rect">
            <a:avLst/>
          </a:prstGeom>
          <a:noFill/>
          <a:ln/>
        </p:spPr>
        <p:txBody>
          <a:bodyPr wrap="square" rtlCol="0" anchor="ctr"/>
          <a:lstStyle/>
          <a:p>
            <a:pPr marL="0" indent="0" algn="ctr">
              <a:buNone/>
            </a:pPr>
            <a:r>
              <a:rPr lang="en-US" sz="950" dirty="0">
                <a:solidFill>
                  <a:srgbClr val="CBD5E1"/>
                </a:solidFill>
                <a:latin typeface="Calibri" pitchFamily="34" charset="0"/>
                <a:ea typeface="Calibri" pitchFamily="34" charset="-122"/>
                <a:cs typeface="Calibri" pitchFamily="34" charset="-120"/>
              </a:rPr>
              <a:t>Entraînement LR</a:t>
            </a:r>
            <a:endParaRPr lang="en-US" sz="950" dirty="0"/>
          </a:p>
        </p:txBody>
      </p:sp>
      <p:sp>
        <p:nvSpPr>
          <p:cNvPr id="18" name="Shape 16"/>
          <p:cNvSpPr/>
          <p:nvPr/>
        </p:nvSpPr>
        <p:spPr>
          <a:xfrm>
            <a:off x="365760" y="1993392"/>
            <a:ext cx="4114800" cy="1828800"/>
          </a:xfrm>
          <a:prstGeom prst="rect">
            <a:avLst/>
          </a:prstGeom>
          <a:solidFill>
            <a:schemeClr val="tx1"/>
          </a:solidFill>
          <a:ln w="12700">
            <a:solidFill>
              <a:srgbClr val="1E4A7A"/>
            </a:solidFill>
            <a:prstDash val="solid"/>
          </a:ln>
        </p:spPr>
        <p:txBody>
          <a:bodyPr/>
          <a:lstStyle/>
          <a:p>
            <a:endParaRPr lang="en-US"/>
          </a:p>
        </p:txBody>
      </p:sp>
      <p:sp>
        <p:nvSpPr>
          <p:cNvPr id="19" name="Shape 17"/>
          <p:cNvSpPr/>
          <p:nvPr/>
        </p:nvSpPr>
        <p:spPr>
          <a:xfrm>
            <a:off x="365760" y="1993392"/>
            <a:ext cx="4114800" cy="347472"/>
          </a:xfrm>
          <a:prstGeom prst="rect">
            <a:avLst/>
          </a:prstGeom>
          <a:solidFill>
            <a:srgbClr val="1565C0"/>
          </a:solidFill>
          <a:ln/>
        </p:spPr>
        <p:txBody>
          <a:bodyPr/>
          <a:lstStyle/>
          <a:p>
            <a:endParaRPr lang="en-US"/>
          </a:p>
        </p:txBody>
      </p:sp>
      <p:sp>
        <p:nvSpPr>
          <p:cNvPr id="20" name="Text 18"/>
          <p:cNvSpPr/>
          <p:nvPr/>
        </p:nvSpPr>
        <p:spPr>
          <a:xfrm>
            <a:off x="457200" y="1993392"/>
            <a:ext cx="393192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Ce que nous avons accompli</a:t>
            </a:r>
            <a:endParaRPr lang="en-US" sz="1200" dirty="0"/>
          </a:p>
        </p:txBody>
      </p:sp>
      <p:sp>
        <p:nvSpPr>
          <p:cNvPr id="21" name="Text 19"/>
          <p:cNvSpPr/>
          <p:nvPr/>
        </p:nvSpPr>
        <p:spPr>
          <a:xfrm>
            <a:off x="502920" y="2423160"/>
            <a:ext cx="3840480" cy="219456"/>
          </a:xfrm>
          <a:prstGeom prst="rect">
            <a:avLst/>
          </a:prstGeom>
          <a:noFill/>
          <a:ln/>
        </p:spPr>
        <p:txBody>
          <a:bodyPr wrap="square" rtlCol="0" anchor="ctr"/>
          <a:lstStyle/>
          <a:p>
            <a:pPr marL="0" indent="0">
              <a:buNone/>
            </a:pPr>
            <a:r>
              <a:rPr lang="en-US" sz="950" dirty="0">
                <a:solidFill>
                  <a:srgbClr val="E2E8F0"/>
                </a:solidFill>
                <a:latin typeface="Calibri" pitchFamily="34" charset="0"/>
                <a:ea typeface="Calibri" pitchFamily="34" charset="-122"/>
                <a:cs typeface="Calibri" pitchFamily="34" charset="-120"/>
              </a:rPr>
              <a:t>✔ Pipeline Data Mining complet en 7 étapes</a:t>
            </a:r>
            <a:endParaRPr lang="en-US" sz="950" dirty="0"/>
          </a:p>
        </p:txBody>
      </p:sp>
      <p:sp>
        <p:nvSpPr>
          <p:cNvPr id="22" name="Text 20"/>
          <p:cNvSpPr/>
          <p:nvPr/>
        </p:nvSpPr>
        <p:spPr>
          <a:xfrm>
            <a:off x="502920" y="2651760"/>
            <a:ext cx="3840480" cy="219456"/>
          </a:xfrm>
          <a:prstGeom prst="rect">
            <a:avLst/>
          </a:prstGeom>
          <a:noFill/>
          <a:ln/>
        </p:spPr>
        <p:txBody>
          <a:bodyPr wrap="square" rtlCol="0" anchor="ctr"/>
          <a:lstStyle/>
          <a:p>
            <a:pPr marL="0" indent="0">
              <a:buNone/>
            </a:pPr>
            <a:r>
              <a:rPr lang="en-US" sz="950" dirty="0">
                <a:solidFill>
                  <a:srgbClr val="E2E8F0"/>
                </a:solidFill>
                <a:latin typeface="Calibri" pitchFamily="34" charset="0"/>
                <a:ea typeface="Calibri" pitchFamily="34" charset="-122"/>
                <a:cs typeface="Calibri" pitchFamily="34" charset="-120"/>
              </a:rPr>
              <a:t>✔ Prétraitement de 3 600 000 avis textuels</a:t>
            </a:r>
            <a:endParaRPr lang="en-US" sz="950" dirty="0"/>
          </a:p>
        </p:txBody>
      </p:sp>
      <p:sp>
        <p:nvSpPr>
          <p:cNvPr id="23" name="Text 21"/>
          <p:cNvSpPr/>
          <p:nvPr/>
        </p:nvSpPr>
        <p:spPr>
          <a:xfrm>
            <a:off x="502920" y="2880360"/>
            <a:ext cx="3840480" cy="219456"/>
          </a:xfrm>
          <a:prstGeom prst="rect">
            <a:avLst/>
          </a:prstGeom>
          <a:noFill/>
          <a:ln/>
        </p:spPr>
        <p:txBody>
          <a:bodyPr wrap="square" rtlCol="0" anchor="ctr"/>
          <a:lstStyle/>
          <a:p>
            <a:pPr marL="0" indent="0">
              <a:buNone/>
            </a:pPr>
            <a:r>
              <a:rPr lang="en-US" sz="950" dirty="0">
                <a:solidFill>
                  <a:srgbClr val="E2E8F0"/>
                </a:solidFill>
                <a:latin typeface="Calibri" pitchFamily="34" charset="0"/>
                <a:ea typeface="Calibri" pitchFamily="34" charset="-122"/>
                <a:cs typeface="Calibri" pitchFamily="34" charset="-120"/>
              </a:rPr>
              <a:t>✔ Vectorisation TF-IDF optimisée par lots</a:t>
            </a:r>
            <a:endParaRPr lang="en-US" sz="950" dirty="0"/>
          </a:p>
        </p:txBody>
      </p:sp>
      <p:sp>
        <p:nvSpPr>
          <p:cNvPr id="24" name="Text 22"/>
          <p:cNvSpPr/>
          <p:nvPr/>
        </p:nvSpPr>
        <p:spPr>
          <a:xfrm>
            <a:off x="502920" y="3108960"/>
            <a:ext cx="3840480" cy="219456"/>
          </a:xfrm>
          <a:prstGeom prst="rect">
            <a:avLst/>
          </a:prstGeom>
          <a:noFill/>
          <a:ln/>
        </p:spPr>
        <p:txBody>
          <a:bodyPr wrap="square" rtlCol="0" anchor="ctr"/>
          <a:lstStyle/>
          <a:p>
            <a:pPr marL="0" indent="0">
              <a:buNone/>
            </a:pPr>
            <a:r>
              <a:rPr lang="en-US" sz="950" dirty="0">
                <a:solidFill>
                  <a:srgbClr val="E2E8F0"/>
                </a:solidFill>
                <a:latin typeface="Calibri" pitchFamily="34" charset="0"/>
                <a:ea typeface="Calibri" pitchFamily="34" charset="-122"/>
                <a:cs typeface="Calibri" pitchFamily="34" charset="-120"/>
              </a:rPr>
              <a:t>✔ Comparaison de 3 algorithmes de classification</a:t>
            </a:r>
            <a:endParaRPr lang="en-US" sz="950" dirty="0"/>
          </a:p>
        </p:txBody>
      </p:sp>
      <p:sp>
        <p:nvSpPr>
          <p:cNvPr id="25" name="Text 23"/>
          <p:cNvSpPr/>
          <p:nvPr/>
        </p:nvSpPr>
        <p:spPr>
          <a:xfrm>
            <a:off x="502920" y="3337560"/>
            <a:ext cx="3840480" cy="219456"/>
          </a:xfrm>
          <a:prstGeom prst="rect">
            <a:avLst/>
          </a:prstGeom>
          <a:noFill/>
          <a:ln/>
        </p:spPr>
        <p:txBody>
          <a:bodyPr wrap="square" rtlCol="0" anchor="ctr"/>
          <a:lstStyle/>
          <a:p>
            <a:pPr marL="0" indent="0">
              <a:buNone/>
            </a:pPr>
            <a:r>
              <a:rPr lang="en-US" sz="950" dirty="0">
                <a:solidFill>
                  <a:srgbClr val="E2E8F0"/>
                </a:solidFill>
                <a:latin typeface="Calibri" pitchFamily="34" charset="0"/>
                <a:ea typeface="Calibri" pitchFamily="34" charset="-122"/>
                <a:cs typeface="Calibri" pitchFamily="34" charset="-120"/>
              </a:rPr>
              <a:t>✔ Régression Logistique → meilleur modèle (89%)</a:t>
            </a:r>
            <a:endParaRPr lang="en-US" sz="950" dirty="0"/>
          </a:p>
        </p:txBody>
      </p:sp>
      <p:sp>
        <p:nvSpPr>
          <p:cNvPr id="26" name="Text 24"/>
          <p:cNvSpPr/>
          <p:nvPr/>
        </p:nvSpPr>
        <p:spPr>
          <a:xfrm>
            <a:off x="502920" y="3566160"/>
            <a:ext cx="3840480" cy="219456"/>
          </a:xfrm>
          <a:prstGeom prst="rect">
            <a:avLst/>
          </a:prstGeom>
          <a:noFill/>
          <a:ln/>
        </p:spPr>
        <p:txBody>
          <a:bodyPr wrap="square" rtlCol="0" anchor="ctr"/>
          <a:lstStyle/>
          <a:p>
            <a:pPr marL="0" indent="0">
              <a:buNone/>
            </a:pPr>
            <a:r>
              <a:rPr lang="en-US" sz="950" dirty="0">
                <a:solidFill>
                  <a:srgbClr val="E2E8F0"/>
                </a:solidFill>
                <a:latin typeface="Calibri" pitchFamily="34" charset="0"/>
                <a:ea typeface="Calibri" pitchFamily="34" charset="-122"/>
                <a:cs typeface="Calibri" pitchFamily="34" charset="-120"/>
              </a:rPr>
              <a:t>✔ Modèle sauvegardé et testé interactivement</a:t>
            </a:r>
            <a:endParaRPr lang="en-US" sz="950" dirty="0"/>
          </a:p>
        </p:txBody>
      </p:sp>
      <p:sp>
        <p:nvSpPr>
          <p:cNvPr id="27" name="Shape 25"/>
          <p:cNvSpPr/>
          <p:nvPr/>
        </p:nvSpPr>
        <p:spPr>
          <a:xfrm>
            <a:off x="4663440" y="1993392"/>
            <a:ext cx="4160520" cy="1828800"/>
          </a:xfrm>
          <a:prstGeom prst="rect">
            <a:avLst/>
          </a:prstGeom>
          <a:solidFill>
            <a:schemeClr val="tx1"/>
          </a:solidFill>
          <a:ln w="12700">
            <a:solidFill>
              <a:srgbClr val="1E4A7A"/>
            </a:solidFill>
            <a:prstDash val="solid"/>
          </a:ln>
        </p:spPr>
        <p:txBody>
          <a:bodyPr/>
          <a:lstStyle/>
          <a:p>
            <a:endParaRPr lang="en-US"/>
          </a:p>
        </p:txBody>
      </p:sp>
      <p:sp>
        <p:nvSpPr>
          <p:cNvPr id="28" name="Shape 26"/>
          <p:cNvSpPr/>
          <p:nvPr/>
        </p:nvSpPr>
        <p:spPr>
          <a:xfrm>
            <a:off x="4663440" y="1993392"/>
            <a:ext cx="4160520" cy="347472"/>
          </a:xfrm>
          <a:prstGeom prst="rect">
            <a:avLst/>
          </a:prstGeom>
          <a:solidFill>
            <a:srgbClr val="0D9488"/>
          </a:solidFill>
          <a:ln/>
        </p:spPr>
        <p:txBody>
          <a:bodyPr/>
          <a:lstStyle/>
          <a:p>
            <a:endParaRPr lang="en-US"/>
          </a:p>
        </p:txBody>
      </p:sp>
      <p:sp>
        <p:nvSpPr>
          <p:cNvPr id="29" name="Text 27"/>
          <p:cNvSpPr/>
          <p:nvPr/>
        </p:nvSpPr>
        <p:spPr>
          <a:xfrm>
            <a:off x="4754880" y="1993392"/>
            <a:ext cx="397764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Perspectives &amp; Déploiement</a:t>
            </a:r>
            <a:endParaRPr lang="en-US" sz="1200" dirty="0"/>
          </a:p>
        </p:txBody>
      </p:sp>
      <p:sp>
        <p:nvSpPr>
          <p:cNvPr id="30" name="Text 28"/>
          <p:cNvSpPr/>
          <p:nvPr/>
        </p:nvSpPr>
        <p:spPr>
          <a:xfrm>
            <a:off x="4754880" y="2423160"/>
            <a:ext cx="3931920" cy="219456"/>
          </a:xfrm>
          <a:prstGeom prst="rect">
            <a:avLst/>
          </a:prstGeom>
          <a:noFill/>
          <a:ln/>
        </p:spPr>
        <p:txBody>
          <a:bodyPr wrap="square" rtlCol="0" anchor="ctr"/>
          <a:lstStyle/>
          <a:p>
            <a:pPr marL="0" indent="0">
              <a:buNone/>
            </a:pPr>
            <a:r>
              <a:rPr lang="en-US" sz="950" dirty="0">
                <a:solidFill>
                  <a:srgbClr val="E2E8F0"/>
                </a:solidFill>
                <a:latin typeface="Calibri" pitchFamily="34" charset="0"/>
                <a:ea typeface="Calibri" pitchFamily="34" charset="-122"/>
                <a:cs typeface="Calibri" pitchFamily="34" charset="-120"/>
              </a:rPr>
              <a:t>🚀 Déploiement Streamlit (interface web)</a:t>
            </a:r>
            <a:endParaRPr lang="en-US" sz="950" dirty="0"/>
          </a:p>
        </p:txBody>
      </p:sp>
      <p:sp>
        <p:nvSpPr>
          <p:cNvPr id="31" name="Text 29"/>
          <p:cNvSpPr/>
          <p:nvPr/>
        </p:nvSpPr>
        <p:spPr>
          <a:xfrm>
            <a:off x="4754880" y="2651760"/>
            <a:ext cx="3931920" cy="219456"/>
          </a:xfrm>
          <a:prstGeom prst="rect">
            <a:avLst/>
          </a:prstGeom>
          <a:noFill/>
          <a:ln/>
        </p:spPr>
        <p:txBody>
          <a:bodyPr wrap="square" rtlCol="0" anchor="ctr"/>
          <a:lstStyle/>
          <a:p>
            <a:pPr marL="0" indent="0">
              <a:buNone/>
            </a:pPr>
            <a:r>
              <a:rPr lang="en-US" sz="950" dirty="0">
                <a:solidFill>
                  <a:srgbClr val="E2E8F0"/>
                </a:solidFill>
                <a:latin typeface="Calibri" pitchFamily="34" charset="0"/>
                <a:ea typeface="Calibri" pitchFamily="34" charset="-122"/>
                <a:cs typeface="Calibri" pitchFamily="34" charset="-120"/>
              </a:rPr>
              <a:t>🤖 Essai de modèles Deep Learning (LSTM, BERT)</a:t>
            </a:r>
            <a:endParaRPr lang="en-US" sz="950" dirty="0"/>
          </a:p>
        </p:txBody>
      </p:sp>
      <p:sp>
        <p:nvSpPr>
          <p:cNvPr id="32" name="Text 30"/>
          <p:cNvSpPr/>
          <p:nvPr/>
        </p:nvSpPr>
        <p:spPr>
          <a:xfrm>
            <a:off x="4754880" y="2880360"/>
            <a:ext cx="3931920" cy="219456"/>
          </a:xfrm>
          <a:prstGeom prst="rect">
            <a:avLst/>
          </a:prstGeom>
          <a:noFill/>
          <a:ln/>
        </p:spPr>
        <p:txBody>
          <a:bodyPr wrap="square" rtlCol="0" anchor="ctr"/>
          <a:lstStyle/>
          <a:p>
            <a:pPr marL="0" indent="0">
              <a:buNone/>
            </a:pPr>
            <a:r>
              <a:rPr lang="en-US" sz="950" dirty="0">
                <a:solidFill>
                  <a:srgbClr val="E2E8F0"/>
                </a:solidFill>
                <a:latin typeface="Calibri" pitchFamily="34" charset="0"/>
                <a:ea typeface="Calibri" pitchFamily="34" charset="-122"/>
                <a:cs typeface="Calibri" pitchFamily="34" charset="-120"/>
              </a:rPr>
              <a:t>🌍 Extension aux avis en arabe / français</a:t>
            </a:r>
            <a:endParaRPr lang="en-US" sz="950" dirty="0"/>
          </a:p>
        </p:txBody>
      </p:sp>
      <p:sp>
        <p:nvSpPr>
          <p:cNvPr id="33" name="Text 31"/>
          <p:cNvSpPr/>
          <p:nvPr/>
        </p:nvSpPr>
        <p:spPr>
          <a:xfrm>
            <a:off x="4754880" y="3108960"/>
            <a:ext cx="3931920" cy="219456"/>
          </a:xfrm>
          <a:prstGeom prst="rect">
            <a:avLst/>
          </a:prstGeom>
          <a:noFill/>
          <a:ln/>
        </p:spPr>
        <p:txBody>
          <a:bodyPr wrap="square" rtlCol="0" anchor="ctr"/>
          <a:lstStyle/>
          <a:p>
            <a:pPr marL="0" indent="0">
              <a:buNone/>
            </a:pPr>
            <a:r>
              <a:rPr lang="en-US" sz="950" dirty="0">
                <a:solidFill>
                  <a:srgbClr val="E2E8F0"/>
                </a:solidFill>
                <a:latin typeface="Calibri" pitchFamily="34" charset="0"/>
                <a:ea typeface="Calibri" pitchFamily="34" charset="-122"/>
                <a:cs typeface="Calibri" pitchFamily="34" charset="-120"/>
              </a:rPr>
              <a:t>📊 Analyse multi-classes (1 à 5 étoiles)</a:t>
            </a:r>
            <a:endParaRPr lang="en-US" sz="950" dirty="0"/>
          </a:p>
        </p:txBody>
      </p:sp>
      <p:sp>
        <p:nvSpPr>
          <p:cNvPr id="34" name="Text 32"/>
          <p:cNvSpPr/>
          <p:nvPr/>
        </p:nvSpPr>
        <p:spPr>
          <a:xfrm>
            <a:off x="4754880" y="3337560"/>
            <a:ext cx="3931920" cy="219456"/>
          </a:xfrm>
          <a:prstGeom prst="rect">
            <a:avLst/>
          </a:prstGeom>
          <a:noFill/>
          <a:ln/>
        </p:spPr>
        <p:txBody>
          <a:bodyPr wrap="square" rtlCol="0" anchor="ctr"/>
          <a:lstStyle/>
          <a:p>
            <a:pPr marL="0" indent="0">
              <a:buNone/>
            </a:pPr>
            <a:r>
              <a:rPr lang="en-US" sz="950" dirty="0">
                <a:solidFill>
                  <a:srgbClr val="E2E8F0"/>
                </a:solidFill>
                <a:latin typeface="Calibri" pitchFamily="34" charset="0"/>
                <a:ea typeface="Calibri" pitchFamily="34" charset="-122"/>
                <a:cs typeface="Calibri" pitchFamily="34" charset="-120"/>
              </a:rPr>
              <a:t>⚡ Optimisation hyperparamètres (Grid Search)</a:t>
            </a:r>
            <a:endParaRPr lang="en-US" sz="950" dirty="0"/>
          </a:p>
        </p:txBody>
      </p:sp>
      <p:sp>
        <p:nvSpPr>
          <p:cNvPr id="35" name="Text 33"/>
          <p:cNvSpPr/>
          <p:nvPr/>
        </p:nvSpPr>
        <p:spPr>
          <a:xfrm>
            <a:off x="4754880" y="3566160"/>
            <a:ext cx="3931920" cy="219456"/>
          </a:xfrm>
          <a:prstGeom prst="rect">
            <a:avLst/>
          </a:prstGeom>
          <a:noFill/>
          <a:ln/>
        </p:spPr>
        <p:txBody>
          <a:bodyPr wrap="square" rtlCol="0" anchor="ctr"/>
          <a:lstStyle/>
          <a:p>
            <a:pPr marL="0" indent="0">
              <a:buNone/>
            </a:pPr>
            <a:r>
              <a:rPr lang="en-US" sz="950" dirty="0">
                <a:solidFill>
                  <a:srgbClr val="E2E8F0"/>
                </a:solidFill>
                <a:latin typeface="Calibri" pitchFamily="34" charset="0"/>
                <a:ea typeface="Calibri" pitchFamily="34" charset="-122"/>
                <a:cs typeface="Calibri" pitchFamily="34" charset="-120"/>
              </a:rPr>
              <a:t>🌐 API FastAPI pour intégration e-commerce</a:t>
            </a:r>
            <a:endParaRPr lang="en-US" sz="950" dirty="0"/>
          </a:p>
        </p:txBody>
      </p:sp>
      <p:sp>
        <p:nvSpPr>
          <p:cNvPr id="36" name="Shape 34"/>
          <p:cNvSpPr/>
          <p:nvPr/>
        </p:nvSpPr>
        <p:spPr>
          <a:xfrm>
            <a:off x="365760" y="3913632"/>
            <a:ext cx="8412480" cy="640080"/>
          </a:xfrm>
          <a:prstGeom prst="rect">
            <a:avLst/>
          </a:prstGeom>
          <a:solidFill>
            <a:srgbClr val="0D9488">
              <a:alpha val="85000"/>
            </a:srgbClr>
          </a:solidFill>
          <a:ln/>
        </p:spPr>
        <p:txBody>
          <a:bodyPr/>
          <a:lstStyle/>
          <a:p>
            <a:endParaRPr lang="en-US"/>
          </a:p>
        </p:txBody>
      </p:sp>
      <p:sp>
        <p:nvSpPr>
          <p:cNvPr id="37" name="Text 35"/>
          <p:cNvSpPr/>
          <p:nvPr/>
        </p:nvSpPr>
        <p:spPr>
          <a:xfrm>
            <a:off x="365760" y="3913632"/>
            <a:ext cx="8412480" cy="64008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Merci pour votre attention  —  Des questions ?</a:t>
            </a:r>
            <a:endParaRPr lang="en-US" sz="1800" dirty="0"/>
          </a:p>
        </p:txBody>
      </p:sp>
      <p:sp>
        <p:nvSpPr>
          <p:cNvPr id="38" name="Text 36"/>
          <p:cNvSpPr/>
          <p:nvPr/>
        </p:nvSpPr>
        <p:spPr>
          <a:xfrm>
            <a:off x="365760" y="4663440"/>
            <a:ext cx="8412480" cy="256032"/>
          </a:xfrm>
          <a:prstGeom prst="rect">
            <a:avLst/>
          </a:prstGeom>
          <a:noFill/>
          <a:ln/>
        </p:spPr>
        <p:txBody>
          <a:bodyPr wrap="square" rtlCol="0" anchor="ctr"/>
          <a:lstStyle/>
          <a:p>
            <a:pPr marL="0" indent="0" algn="ctr">
              <a:buNone/>
            </a:pPr>
            <a:r>
              <a:rPr lang="en-US" sz="850" dirty="0">
                <a:latin typeface="Calibri" pitchFamily="34" charset="0"/>
                <a:ea typeface="Calibri" pitchFamily="34" charset="-122"/>
                <a:cs typeface="Calibri" pitchFamily="34" charset="-120"/>
              </a:rPr>
              <a:t>Groupe 8  ·  Abderrahmane Khbabez  ·  Riad Sabti  ·  Abderrahmane Chiguer  ·  Zakaria Ennaqui  |  Pr. Wijdane Kaiss  |  2025–2026</a:t>
            </a:r>
            <a:endParaRPr lang="en-US" sz="850" dirty="0"/>
          </a:p>
        </p:txBody>
      </p:sp>
      <p:sp>
        <p:nvSpPr>
          <p:cNvPr id="39" name="TextBox 38">
            <a:extLst>
              <a:ext uri="{FF2B5EF4-FFF2-40B4-BE49-F238E27FC236}">
                <a16:creationId xmlns:a16="http://schemas.microsoft.com/office/drawing/2014/main" id="{7595E763-A400-D158-77F0-551030362A09}"/>
              </a:ext>
            </a:extLst>
          </p:cNvPr>
          <p:cNvSpPr txBox="1"/>
          <p:nvPr/>
        </p:nvSpPr>
        <p:spPr>
          <a:xfrm>
            <a:off x="8842314" y="4774168"/>
            <a:ext cx="418704" cy="369332"/>
          </a:xfrm>
          <a:prstGeom prst="rect">
            <a:avLst/>
          </a:prstGeom>
          <a:noFill/>
        </p:spPr>
        <p:txBody>
          <a:bodyPr wrap="none" rtlCol="0">
            <a:spAutoFit/>
          </a:bodyPr>
          <a:lstStyle/>
          <a:p>
            <a:r>
              <a:rPr lang="en-US" dirty="0"/>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88D4A-54A7-6478-598D-E0720F45855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89C2FEE-B33D-07D1-58BB-6A0AE387A9E9}"/>
              </a:ext>
            </a:extLst>
          </p:cNvPr>
          <p:cNvSpPr/>
          <p:nvPr/>
        </p:nvSpPr>
        <p:spPr>
          <a:xfrm>
            <a:off x="0" y="0"/>
            <a:ext cx="164592" cy="5143500"/>
          </a:xfrm>
          <a:prstGeom prst="rect">
            <a:avLst/>
          </a:prstGeom>
          <a:solidFill>
            <a:srgbClr val="0D9488"/>
          </a:solidFill>
          <a:ln/>
        </p:spPr>
        <p:txBody>
          <a:bodyPr/>
          <a:lstStyle/>
          <a:p>
            <a:endParaRPr lang="en-US"/>
          </a:p>
        </p:txBody>
      </p:sp>
      <p:pic>
        <p:nvPicPr>
          <p:cNvPr id="3" name="Image 0">
            <a:extLst>
              <a:ext uri="{FF2B5EF4-FFF2-40B4-BE49-F238E27FC236}">
                <a16:creationId xmlns:a16="http://schemas.microsoft.com/office/drawing/2014/main" id="{A3ADE6C7-4688-5D5F-3326-1FC883591434}"/>
              </a:ext>
            </a:extLst>
          </p:cNvPr>
          <p:cNvPicPr>
            <a:picLocks noChangeAspect="1"/>
          </p:cNvPicPr>
          <p:nvPr/>
        </p:nvPicPr>
        <p:blipFill>
          <a:blip r:embed="rId3"/>
          <a:srcRect/>
          <a:stretch/>
        </p:blipFill>
        <p:spPr>
          <a:xfrm>
            <a:off x="365759" y="414904"/>
            <a:ext cx="1590363" cy="581498"/>
          </a:xfrm>
          <a:prstGeom prst="rect">
            <a:avLst/>
          </a:prstGeom>
        </p:spPr>
      </p:pic>
      <p:pic>
        <p:nvPicPr>
          <p:cNvPr id="4" name="Image 1">
            <a:extLst>
              <a:ext uri="{FF2B5EF4-FFF2-40B4-BE49-F238E27FC236}">
                <a16:creationId xmlns:a16="http://schemas.microsoft.com/office/drawing/2014/main" id="{78AC39F9-74D4-443B-5A52-B82641F83D62}"/>
              </a:ext>
            </a:extLst>
          </p:cNvPr>
          <p:cNvPicPr>
            <a:picLocks noChangeAspect="1"/>
          </p:cNvPicPr>
          <p:nvPr/>
        </p:nvPicPr>
        <p:blipFill>
          <a:blip r:embed="rId4"/>
          <a:srcRect/>
          <a:stretch/>
        </p:blipFill>
        <p:spPr>
          <a:xfrm>
            <a:off x="7039734" y="387994"/>
            <a:ext cx="1921386" cy="526406"/>
          </a:xfrm>
          <a:prstGeom prst="rect">
            <a:avLst/>
          </a:prstGeom>
        </p:spPr>
      </p:pic>
      <p:sp>
        <p:nvSpPr>
          <p:cNvPr id="5" name="Text 3">
            <a:extLst>
              <a:ext uri="{FF2B5EF4-FFF2-40B4-BE49-F238E27FC236}">
                <a16:creationId xmlns:a16="http://schemas.microsoft.com/office/drawing/2014/main" id="{4BD50384-BEE8-4E56-EFDE-69E06F5ADB48}"/>
              </a:ext>
            </a:extLst>
          </p:cNvPr>
          <p:cNvSpPr/>
          <p:nvPr/>
        </p:nvSpPr>
        <p:spPr>
          <a:xfrm>
            <a:off x="1280160" y="274320"/>
            <a:ext cx="6583680" cy="320040"/>
          </a:xfrm>
          <a:prstGeom prst="rect">
            <a:avLst/>
          </a:prstGeom>
          <a:noFill/>
          <a:ln/>
        </p:spPr>
        <p:txBody>
          <a:bodyPr wrap="square" rtlCol="0" anchor="ctr"/>
          <a:lstStyle/>
          <a:p>
            <a:pPr marL="0" indent="0" algn="ctr">
              <a:buNone/>
            </a:pPr>
            <a:r>
              <a:rPr lang="en-US" sz="1000" dirty="0">
                <a:solidFill>
                  <a:srgbClr val="A5B4FC"/>
                </a:solidFill>
                <a:latin typeface="Calibri" pitchFamily="34" charset="0"/>
                <a:ea typeface="Calibri" pitchFamily="34" charset="-122"/>
                <a:cs typeface="Calibri" pitchFamily="34" charset="-120"/>
              </a:rPr>
              <a:t>Université Hassan 1er  |  ENSA Berrechid</a:t>
            </a:r>
            <a:endParaRPr lang="en-US" sz="1000" dirty="0"/>
          </a:p>
        </p:txBody>
      </p:sp>
      <p:sp>
        <p:nvSpPr>
          <p:cNvPr id="6" name="Text 4">
            <a:extLst>
              <a:ext uri="{FF2B5EF4-FFF2-40B4-BE49-F238E27FC236}">
                <a16:creationId xmlns:a16="http://schemas.microsoft.com/office/drawing/2014/main" id="{4CB907CA-6F6E-D4E0-65C7-422F1E02A337}"/>
              </a:ext>
            </a:extLst>
          </p:cNvPr>
          <p:cNvSpPr/>
          <p:nvPr/>
        </p:nvSpPr>
        <p:spPr>
          <a:xfrm>
            <a:off x="1280160" y="566928"/>
            <a:ext cx="6583680" cy="256032"/>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Filière Génie Informatique  —  Fouille de Données  —  S8</a:t>
            </a:r>
            <a:endParaRPr lang="en-US" sz="900" dirty="0"/>
          </a:p>
        </p:txBody>
      </p:sp>
      <p:sp>
        <p:nvSpPr>
          <p:cNvPr id="7" name="Text 5">
            <a:extLst>
              <a:ext uri="{FF2B5EF4-FFF2-40B4-BE49-F238E27FC236}">
                <a16:creationId xmlns:a16="http://schemas.microsoft.com/office/drawing/2014/main" id="{2EDB7219-924B-D199-081C-807204F7E8AA}"/>
              </a:ext>
            </a:extLst>
          </p:cNvPr>
          <p:cNvSpPr/>
          <p:nvPr/>
        </p:nvSpPr>
        <p:spPr>
          <a:xfrm>
            <a:off x="457200" y="1143000"/>
            <a:ext cx="8229600" cy="822960"/>
          </a:xfrm>
          <a:prstGeom prst="rect">
            <a:avLst/>
          </a:prstGeom>
          <a:noFill/>
          <a:ln/>
        </p:spPr>
        <p:txBody>
          <a:bodyPr wrap="square" rtlCol="0" anchor="ctr"/>
          <a:lstStyle/>
          <a:p>
            <a:pPr marL="0" indent="0" algn="ctr">
              <a:buNone/>
            </a:pPr>
            <a:r>
              <a:rPr lang="en-US" sz="4200" b="1" dirty="0">
                <a:latin typeface="Calibri" pitchFamily="34" charset="0"/>
                <a:ea typeface="Calibri" pitchFamily="34" charset="-122"/>
                <a:cs typeface="Calibri" pitchFamily="34" charset="-120"/>
              </a:rPr>
              <a:t>Analyse de Sentiments</a:t>
            </a:r>
            <a:endParaRPr lang="en-US" sz="4200" dirty="0"/>
          </a:p>
        </p:txBody>
      </p:sp>
      <p:sp>
        <p:nvSpPr>
          <p:cNvPr id="8" name="Text 6">
            <a:extLst>
              <a:ext uri="{FF2B5EF4-FFF2-40B4-BE49-F238E27FC236}">
                <a16:creationId xmlns:a16="http://schemas.microsoft.com/office/drawing/2014/main" id="{0CD11332-00D9-B6A1-DE1C-F4FE5EBC81AD}"/>
              </a:ext>
            </a:extLst>
          </p:cNvPr>
          <p:cNvSpPr/>
          <p:nvPr/>
        </p:nvSpPr>
        <p:spPr>
          <a:xfrm>
            <a:off x="457200" y="1920240"/>
            <a:ext cx="8229600" cy="685800"/>
          </a:xfrm>
          <a:prstGeom prst="rect">
            <a:avLst/>
          </a:prstGeom>
          <a:noFill/>
          <a:ln/>
        </p:spPr>
        <p:txBody>
          <a:bodyPr wrap="square" rtlCol="0" anchor="ctr"/>
          <a:lstStyle/>
          <a:p>
            <a:pPr marL="0" indent="0" algn="ctr">
              <a:buNone/>
            </a:pPr>
            <a:r>
              <a:rPr lang="en-US" sz="3600" b="1" dirty="0">
                <a:solidFill>
                  <a:srgbClr val="93C5FD"/>
                </a:solidFill>
                <a:latin typeface="Calibri" pitchFamily="34" charset="0"/>
                <a:ea typeface="Calibri" pitchFamily="34" charset="-122"/>
                <a:cs typeface="Calibri" pitchFamily="34" charset="-120"/>
              </a:rPr>
              <a:t>des Avis Clients</a:t>
            </a:r>
            <a:endParaRPr lang="en-US" sz="3600" dirty="0"/>
          </a:p>
        </p:txBody>
      </p:sp>
      <p:sp>
        <p:nvSpPr>
          <p:cNvPr id="9" name="Text 7">
            <a:extLst>
              <a:ext uri="{FF2B5EF4-FFF2-40B4-BE49-F238E27FC236}">
                <a16:creationId xmlns:a16="http://schemas.microsoft.com/office/drawing/2014/main" id="{B0047437-3C8E-2692-C20C-FCB59C6CDC93}"/>
              </a:ext>
            </a:extLst>
          </p:cNvPr>
          <p:cNvSpPr/>
          <p:nvPr/>
        </p:nvSpPr>
        <p:spPr>
          <a:xfrm>
            <a:off x="1371600" y="2651760"/>
            <a:ext cx="6400800" cy="365760"/>
          </a:xfrm>
          <a:prstGeom prst="rect">
            <a:avLst/>
          </a:prstGeom>
          <a:noFill/>
          <a:ln/>
        </p:spPr>
        <p:txBody>
          <a:bodyPr wrap="square" rtlCol="0" anchor="ctr"/>
          <a:lstStyle/>
          <a:p>
            <a:pPr marL="0" indent="0" algn="ctr">
              <a:buNone/>
            </a:pPr>
            <a:r>
              <a:rPr lang="en-US" sz="1400" i="1" dirty="0">
                <a:solidFill>
                  <a:srgbClr val="0D9488"/>
                </a:solidFill>
                <a:latin typeface="Calibri" pitchFamily="34" charset="0"/>
                <a:ea typeface="Calibri" pitchFamily="34" charset="-122"/>
                <a:cs typeface="Calibri" pitchFamily="34" charset="-120"/>
              </a:rPr>
              <a:t>E-commerce · Hôtels · Restaurants</a:t>
            </a:r>
            <a:endParaRPr lang="en-US" sz="1400" dirty="0"/>
          </a:p>
        </p:txBody>
      </p:sp>
      <p:sp>
        <p:nvSpPr>
          <p:cNvPr id="10" name="Shape 8">
            <a:extLst>
              <a:ext uri="{FF2B5EF4-FFF2-40B4-BE49-F238E27FC236}">
                <a16:creationId xmlns:a16="http://schemas.microsoft.com/office/drawing/2014/main" id="{09C365D9-D334-8FF9-783B-D68AE41E8F7D}"/>
              </a:ext>
            </a:extLst>
          </p:cNvPr>
          <p:cNvSpPr/>
          <p:nvPr/>
        </p:nvSpPr>
        <p:spPr>
          <a:xfrm>
            <a:off x="2286000" y="3090672"/>
            <a:ext cx="4572000" cy="36576"/>
          </a:xfrm>
          <a:prstGeom prst="rect">
            <a:avLst/>
          </a:prstGeom>
          <a:solidFill>
            <a:srgbClr val="0D9488"/>
          </a:solidFill>
          <a:ln/>
        </p:spPr>
        <p:txBody>
          <a:bodyPr/>
          <a:lstStyle/>
          <a:p>
            <a:endParaRPr lang="en-US"/>
          </a:p>
        </p:txBody>
      </p:sp>
      <p:sp>
        <p:nvSpPr>
          <p:cNvPr id="11" name="Shape 9">
            <a:extLst>
              <a:ext uri="{FF2B5EF4-FFF2-40B4-BE49-F238E27FC236}">
                <a16:creationId xmlns:a16="http://schemas.microsoft.com/office/drawing/2014/main" id="{51D56279-DC6F-182B-B37F-D5CC582FC209}"/>
              </a:ext>
            </a:extLst>
          </p:cNvPr>
          <p:cNvSpPr/>
          <p:nvPr/>
        </p:nvSpPr>
        <p:spPr>
          <a:xfrm>
            <a:off x="3017520" y="3246120"/>
            <a:ext cx="3108960" cy="384048"/>
          </a:xfrm>
          <a:prstGeom prst="roundRect">
            <a:avLst>
              <a:gd name="adj" fmla="val 19048"/>
            </a:avLst>
          </a:prstGeom>
          <a:solidFill>
            <a:srgbClr val="1565C0"/>
          </a:solidFill>
          <a:ln/>
        </p:spPr>
        <p:txBody>
          <a:bodyPr/>
          <a:lstStyle/>
          <a:p>
            <a:endParaRPr lang="en-US"/>
          </a:p>
        </p:txBody>
      </p:sp>
      <p:sp>
        <p:nvSpPr>
          <p:cNvPr id="12" name="Text 10">
            <a:extLst>
              <a:ext uri="{FF2B5EF4-FFF2-40B4-BE49-F238E27FC236}">
                <a16:creationId xmlns:a16="http://schemas.microsoft.com/office/drawing/2014/main" id="{B62FD192-4175-6630-1FEE-3856E20ADF02}"/>
              </a:ext>
            </a:extLst>
          </p:cNvPr>
          <p:cNvSpPr/>
          <p:nvPr/>
        </p:nvSpPr>
        <p:spPr>
          <a:xfrm>
            <a:off x="3017520" y="3246120"/>
            <a:ext cx="3108960" cy="38404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Dataset  Amazon Reviews  —  4 000 000 avis</a:t>
            </a:r>
            <a:endParaRPr lang="en-US" sz="900" dirty="0"/>
          </a:p>
        </p:txBody>
      </p:sp>
      <p:sp>
        <p:nvSpPr>
          <p:cNvPr id="13" name="Text 11">
            <a:extLst>
              <a:ext uri="{FF2B5EF4-FFF2-40B4-BE49-F238E27FC236}">
                <a16:creationId xmlns:a16="http://schemas.microsoft.com/office/drawing/2014/main" id="{D80A1177-B561-C379-3C5D-DB32BE9C67A1}"/>
              </a:ext>
            </a:extLst>
          </p:cNvPr>
          <p:cNvSpPr/>
          <p:nvPr/>
        </p:nvSpPr>
        <p:spPr>
          <a:xfrm>
            <a:off x="457200" y="3886200"/>
            <a:ext cx="8229600" cy="292608"/>
          </a:xfrm>
          <a:prstGeom prst="rect">
            <a:avLst/>
          </a:prstGeom>
          <a:noFill/>
          <a:ln/>
        </p:spPr>
        <p:txBody>
          <a:bodyPr wrap="square" rtlCol="0" anchor="ctr"/>
          <a:lstStyle/>
          <a:p>
            <a:pPr marL="0" indent="0" algn="ctr">
              <a:buNone/>
            </a:pPr>
            <a:r>
              <a:rPr lang="en-US" sz="1000" dirty="0">
                <a:solidFill>
                  <a:schemeClr val="bg1">
                    <a:lumMod val="50000"/>
                  </a:schemeClr>
                </a:solidFill>
                <a:latin typeface="Calibri" pitchFamily="34" charset="0"/>
                <a:ea typeface="Calibri" pitchFamily="34" charset="-122"/>
                <a:cs typeface="Calibri" pitchFamily="34" charset="-120"/>
              </a:rPr>
              <a:t>Réalisé par  :  Abderrahmane Khbabez  ·  Riad Sabti  ·  Abderrahmane Chiguer  ·  Zakaria Ennaqui</a:t>
            </a:r>
            <a:endParaRPr lang="en-US" sz="1000" dirty="0">
              <a:solidFill>
                <a:schemeClr val="bg1">
                  <a:lumMod val="50000"/>
                </a:schemeClr>
              </a:solidFill>
            </a:endParaRPr>
          </a:p>
        </p:txBody>
      </p:sp>
      <p:sp>
        <p:nvSpPr>
          <p:cNvPr id="14" name="Text 12">
            <a:extLst>
              <a:ext uri="{FF2B5EF4-FFF2-40B4-BE49-F238E27FC236}">
                <a16:creationId xmlns:a16="http://schemas.microsoft.com/office/drawing/2014/main" id="{33C6177F-8B8C-A352-C4FE-B3C1B1E6DAE8}"/>
              </a:ext>
            </a:extLst>
          </p:cNvPr>
          <p:cNvSpPr/>
          <p:nvPr/>
        </p:nvSpPr>
        <p:spPr>
          <a:xfrm>
            <a:off x="457200" y="4206240"/>
            <a:ext cx="8229600" cy="256032"/>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Encadrant  :  Pr. Wijdane Kaiss          Année Universitaire 2025–2026          Groupe 8</a:t>
            </a:r>
            <a:endParaRPr lang="en-US" sz="900" dirty="0"/>
          </a:p>
        </p:txBody>
      </p:sp>
    </p:spTree>
    <p:extLst>
      <p:ext uri="{BB962C8B-B14F-4D97-AF65-F5344CB8AC3E}">
        <p14:creationId xmlns:p14="http://schemas.microsoft.com/office/powerpoint/2010/main" val="27939898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210</TotalTime>
  <Words>3375</Words>
  <Application>Microsoft Office PowerPoint</Application>
  <PresentationFormat>On-screen Show (16:9)</PresentationFormat>
  <Paragraphs>407</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de Sentiments des Avis Clients</dc:title>
  <dc:subject>PptxGenJS Presentation</dc:subject>
  <dc:creator>Groupe 8</dc:creator>
  <cp:lastModifiedBy>zakaria ennaqui</cp:lastModifiedBy>
  <cp:revision>5</cp:revision>
  <dcterms:created xsi:type="dcterms:W3CDTF">2026-05-08T20:03:22Z</dcterms:created>
  <dcterms:modified xsi:type="dcterms:W3CDTF">2026-05-11T14:10:15Z</dcterms:modified>
</cp:coreProperties>
</file>